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7556500" cy="10693400"/>
  <p:notesSz cx="6858000" cy="9144000"/>
  <p:embeddedFontLst>
    <p:embeddedFont>
      <p:font typeface="Montserrat" charset="1" panose="00000500000000000000"/>
      <p:regular r:id="rId20"/>
    </p:embeddedFont>
    <p:embeddedFont>
      <p:font typeface="Montserrat Bold"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0.pn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0.pn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30.pn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jpeg" Type="http://schemas.openxmlformats.org/officeDocument/2006/relationships/image"/><Relationship Id="rId5" Target="../media/image10.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2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2" Target="../media/image31.png" Type="http://schemas.openxmlformats.org/officeDocument/2006/relationships/image"/><Relationship Id="rId3" Target="../media/image32.svg" Type="http://schemas.openxmlformats.org/officeDocument/2006/relationships/image"/><Relationship Id="rId4" Target="../media/image33.jpeg" Type="http://schemas.openxmlformats.org/officeDocument/2006/relationships/image"/><Relationship Id="rId5" Target="../media/image10.pn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40.png" Type="http://schemas.openxmlformats.org/officeDocument/2006/relationships/image"/><Relationship Id="rId14" Target="../media/image41.svg" Type="http://schemas.openxmlformats.org/officeDocument/2006/relationships/image"/><Relationship Id="rId15" Target="../media/image29.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3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0.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3.png" Type="http://schemas.openxmlformats.org/officeDocument/2006/relationships/image"/><Relationship Id="rId11" Target="../media/image54.svg" Type="http://schemas.openxmlformats.org/officeDocument/2006/relationships/image"/><Relationship Id="rId12" Target="../media/image55.png" Type="http://schemas.openxmlformats.org/officeDocument/2006/relationships/image"/><Relationship Id="rId13" Target="../media/image56.svg" Type="http://schemas.openxmlformats.org/officeDocument/2006/relationships/image"/><Relationship Id="rId14" Target="../media/image57.png" Type="http://schemas.openxmlformats.org/officeDocument/2006/relationships/image"/><Relationship Id="rId15" Target="../media/image58.svg" Type="http://schemas.openxmlformats.org/officeDocument/2006/relationships/image"/><Relationship Id="rId16" Target="../media/image59.png" Type="http://schemas.openxmlformats.org/officeDocument/2006/relationships/image"/><Relationship Id="rId17" Target="../media/image60.svg" Type="http://schemas.openxmlformats.org/officeDocument/2006/relationships/image"/><Relationship Id="rId18" Target="../media/image61.png" Type="http://schemas.openxmlformats.org/officeDocument/2006/relationships/image"/><Relationship Id="rId19" Target="../media/image62.png" Type="http://schemas.openxmlformats.org/officeDocument/2006/relationships/image"/><Relationship Id="rId2" Target="../media/image45.jpeg" Type="http://schemas.openxmlformats.org/officeDocument/2006/relationships/image"/><Relationship Id="rId20" Target="../media/image63.png" Type="http://schemas.openxmlformats.org/officeDocument/2006/relationships/image"/><Relationship Id="rId21" Target="../media/image11.pn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54003" y="347091"/>
            <a:ext cx="7048500" cy="9982200"/>
            <a:chOff x="0" y="0"/>
            <a:chExt cx="7048500" cy="9982200"/>
          </a:xfrm>
        </p:grpSpPr>
        <p:sp>
          <p:nvSpPr>
            <p:cNvPr name="Freeform 3" id="3"/>
            <p:cNvSpPr/>
            <p:nvPr/>
          </p:nvSpPr>
          <p:spPr>
            <a:xfrm flipH="false" flipV="false" rot="0">
              <a:off x="0" y="0"/>
              <a:ext cx="7048500" cy="9982200"/>
            </a:xfrm>
            <a:custGeom>
              <a:avLst/>
              <a:gdLst/>
              <a:ahLst/>
              <a:cxnLst/>
              <a:rect r="r" b="b" t="t" l="l"/>
              <a:pathLst>
                <a:path h="9982200" w="7048500">
                  <a:moveTo>
                    <a:pt x="0" y="0"/>
                  </a:moveTo>
                  <a:lnTo>
                    <a:pt x="0" y="9982200"/>
                  </a:lnTo>
                  <a:lnTo>
                    <a:pt x="7048500" y="9982200"/>
                  </a:lnTo>
                  <a:lnTo>
                    <a:pt x="7048500" y="0"/>
                  </a:lnTo>
                  <a:close/>
                </a:path>
              </a:pathLst>
            </a:custGeom>
            <a:solidFill>
              <a:srgbClr val="FFFFFF"/>
            </a:solidFill>
          </p:spPr>
        </p:sp>
      </p:grpSp>
      <p:grpSp>
        <p:nvGrpSpPr>
          <p:cNvPr name="Group 4" id="4"/>
          <p:cNvGrpSpPr>
            <a:grpSpLocks noChangeAspect="true"/>
          </p:cNvGrpSpPr>
          <p:nvPr/>
        </p:nvGrpSpPr>
        <p:grpSpPr>
          <a:xfrm rot="0">
            <a:off x="254003" y="3911317"/>
            <a:ext cx="7048500" cy="4320226"/>
            <a:chOff x="0" y="0"/>
            <a:chExt cx="9398000" cy="5760301"/>
          </a:xfrm>
        </p:grpSpPr>
        <p:sp>
          <p:nvSpPr>
            <p:cNvPr name="Freeform 5" id="5"/>
            <p:cNvSpPr/>
            <p:nvPr/>
          </p:nvSpPr>
          <p:spPr>
            <a:xfrm flipH="false" flipV="false" rot="0">
              <a:off x="0" y="0"/>
              <a:ext cx="9398000" cy="5760212"/>
            </a:xfrm>
            <a:custGeom>
              <a:avLst/>
              <a:gdLst/>
              <a:ahLst/>
              <a:cxnLst/>
              <a:rect r="r" b="b" t="t" l="l"/>
              <a:pathLst>
                <a:path h="5760212" w="9398000">
                  <a:moveTo>
                    <a:pt x="286004" y="0"/>
                  </a:moveTo>
                  <a:cubicBezTo>
                    <a:pt x="178562" y="0"/>
                    <a:pt x="79629" y="35306"/>
                    <a:pt x="0" y="95123"/>
                  </a:cubicBezTo>
                  <a:lnTo>
                    <a:pt x="0" y="5665724"/>
                  </a:lnTo>
                  <a:lnTo>
                    <a:pt x="0" y="5665724"/>
                  </a:lnTo>
                  <a:cubicBezTo>
                    <a:pt x="79248" y="5725160"/>
                    <a:pt x="177546" y="5760212"/>
                    <a:pt x="283845" y="5760212"/>
                  </a:cubicBezTo>
                  <a:cubicBezTo>
                    <a:pt x="284607" y="5760212"/>
                    <a:pt x="285242" y="5760212"/>
                    <a:pt x="286004" y="5760212"/>
                  </a:cubicBezTo>
                  <a:lnTo>
                    <a:pt x="9398000" y="5760212"/>
                  </a:lnTo>
                  <a:lnTo>
                    <a:pt x="9398000" y="0"/>
                  </a:lnTo>
                  <a:close/>
                </a:path>
              </a:pathLst>
            </a:custGeom>
            <a:blipFill>
              <a:blip r:embed="rId2"/>
              <a:stretch>
                <a:fillRect l="-2029" t="-9228" r="-6862" b="-9229"/>
              </a:stretch>
            </a:blipFill>
          </p:spPr>
        </p:sp>
      </p:grpSp>
      <p:sp>
        <p:nvSpPr>
          <p:cNvPr name="Freeform 6" id="6"/>
          <p:cNvSpPr/>
          <p:nvPr/>
        </p:nvSpPr>
        <p:spPr>
          <a:xfrm flipH="false" flipV="false" rot="0">
            <a:off x="3240062" y="1338901"/>
            <a:ext cx="71104" cy="1545222"/>
          </a:xfrm>
          <a:custGeom>
            <a:avLst/>
            <a:gdLst/>
            <a:ahLst/>
            <a:cxnLst/>
            <a:rect r="r" b="b" t="t" l="l"/>
            <a:pathLst>
              <a:path h="1545222" w="71104">
                <a:moveTo>
                  <a:pt x="0" y="0"/>
                </a:moveTo>
                <a:lnTo>
                  <a:pt x="71104" y="0"/>
                </a:lnTo>
                <a:lnTo>
                  <a:pt x="71104" y="1545221"/>
                </a:lnTo>
                <a:lnTo>
                  <a:pt x="0" y="15452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74854" y="8425053"/>
            <a:ext cx="4202678" cy="1536725"/>
          </a:xfrm>
          <a:custGeom>
            <a:avLst/>
            <a:gdLst/>
            <a:ahLst/>
            <a:cxnLst/>
            <a:rect r="r" b="b" t="t" l="l"/>
            <a:pathLst>
              <a:path h="1536725" w="4202678">
                <a:moveTo>
                  <a:pt x="0" y="0"/>
                </a:moveTo>
                <a:lnTo>
                  <a:pt x="4202678" y="0"/>
                </a:lnTo>
                <a:lnTo>
                  <a:pt x="4202678" y="1536725"/>
                </a:lnTo>
                <a:lnTo>
                  <a:pt x="0" y="15367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90500" y="3465738"/>
            <a:ext cx="4701197" cy="3723237"/>
          </a:xfrm>
          <a:custGeom>
            <a:avLst/>
            <a:gdLst/>
            <a:ahLst/>
            <a:cxnLst/>
            <a:rect r="r" b="b" t="t" l="l"/>
            <a:pathLst>
              <a:path h="3723237" w="4701197">
                <a:moveTo>
                  <a:pt x="0" y="0"/>
                </a:moveTo>
                <a:lnTo>
                  <a:pt x="4701197" y="0"/>
                </a:lnTo>
                <a:lnTo>
                  <a:pt x="4701197" y="3723237"/>
                </a:lnTo>
                <a:lnTo>
                  <a:pt x="0" y="37232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6932571" y="1739484"/>
            <a:ext cx="369932" cy="669646"/>
          </a:xfrm>
          <a:custGeom>
            <a:avLst/>
            <a:gdLst/>
            <a:ahLst/>
            <a:cxnLst/>
            <a:rect r="r" b="b" t="t" l="l"/>
            <a:pathLst>
              <a:path h="669646" w="369932">
                <a:moveTo>
                  <a:pt x="0" y="0"/>
                </a:moveTo>
                <a:lnTo>
                  <a:pt x="369932" y="0"/>
                </a:lnTo>
                <a:lnTo>
                  <a:pt x="369932" y="669646"/>
                </a:lnTo>
                <a:lnTo>
                  <a:pt x="0" y="6696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254003" y="694039"/>
            <a:ext cx="709155" cy="689991"/>
          </a:xfrm>
          <a:custGeom>
            <a:avLst/>
            <a:gdLst/>
            <a:ahLst/>
            <a:cxnLst/>
            <a:rect r="r" b="b" t="t" l="l"/>
            <a:pathLst>
              <a:path h="689991" w="709155">
                <a:moveTo>
                  <a:pt x="0" y="0"/>
                </a:moveTo>
                <a:lnTo>
                  <a:pt x="709155" y="0"/>
                </a:lnTo>
                <a:lnTo>
                  <a:pt x="709155" y="689991"/>
                </a:lnTo>
                <a:lnTo>
                  <a:pt x="0" y="689991"/>
                </a:lnTo>
                <a:lnTo>
                  <a:pt x="0" y="0"/>
                </a:lnTo>
                <a:close/>
              </a:path>
            </a:pathLst>
          </a:custGeom>
          <a:blipFill>
            <a:blip r:embed="rId11"/>
            <a:stretch>
              <a:fillRect l="-77648" t="0" r="-1" b="0"/>
            </a:stretch>
          </a:blipFill>
        </p:spPr>
      </p:sp>
      <p:sp>
        <p:nvSpPr>
          <p:cNvPr name="Freeform 11" id="11"/>
          <p:cNvSpPr/>
          <p:nvPr/>
        </p:nvSpPr>
        <p:spPr>
          <a:xfrm flipH="false" flipV="false" rot="0">
            <a:off x="6600587" y="9294962"/>
            <a:ext cx="701907" cy="689991"/>
          </a:xfrm>
          <a:custGeom>
            <a:avLst/>
            <a:gdLst/>
            <a:ahLst/>
            <a:cxnLst/>
            <a:rect r="r" b="b" t="t" l="l"/>
            <a:pathLst>
              <a:path h="689991" w="701907">
                <a:moveTo>
                  <a:pt x="0" y="0"/>
                </a:moveTo>
                <a:lnTo>
                  <a:pt x="701907" y="0"/>
                </a:lnTo>
                <a:lnTo>
                  <a:pt x="701907" y="689991"/>
                </a:lnTo>
                <a:lnTo>
                  <a:pt x="0" y="689991"/>
                </a:lnTo>
                <a:lnTo>
                  <a:pt x="0" y="0"/>
                </a:lnTo>
                <a:close/>
              </a:path>
            </a:pathLst>
          </a:custGeom>
          <a:blipFill>
            <a:blip r:embed="rId11"/>
            <a:stretch>
              <a:fillRect l="0" t="0" r="-79484" b="0"/>
            </a:stretch>
          </a:blipFill>
        </p:spPr>
      </p:sp>
      <p:sp>
        <p:nvSpPr>
          <p:cNvPr name="Freeform 12" id="12"/>
          <p:cNvSpPr/>
          <p:nvPr/>
        </p:nvSpPr>
        <p:spPr>
          <a:xfrm flipH="false" flipV="false" rot="0">
            <a:off x="562080" y="1167355"/>
            <a:ext cx="2647559" cy="1801720"/>
          </a:xfrm>
          <a:custGeom>
            <a:avLst/>
            <a:gdLst/>
            <a:ahLst/>
            <a:cxnLst/>
            <a:rect r="r" b="b" t="t" l="l"/>
            <a:pathLst>
              <a:path h="1801720" w="2647559">
                <a:moveTo>
                  <a:pt x="0" y="0"/>
                </a:moveTo>
                <a:lnTo>
                  <a:pt x="2647559" y="0"/>
                </a:lnTo>
                <a:lnTo>
                  <a:pt x="2647559" y="1801721"/>
                </a:lnTo>
                <a:lnTo>
                  <a:pt x="0" y="1801721"/>
                </a:lnTo>
                <a:lnTo>
                  <a:pt x="0" y="0"/>
                </a:lnTo>
                <a:close/>
              </a:path>
            </a:pathLst>
          </a:custGeom>
          <a:blipFill>
            <a:blip r:embed="rId12"/>
            <a:stretch>
              <a:fillRect l="0" t="0" r="0" b="0"/>
            </a:stretch>
          </a:blipFill>
        </p:spPr>
      </p:sp>
      <p:sp>
        <p:nvSpPr>
          <p:cNvPr name="TextBox 13" id="13"/>
          <p:cNvSpPr txBox="true"/>
          <p:nvPr/>
        </p:nvSpPr>
        <p:spPr>
          <a:xfrm rot="0">
            <a:off x="959177" y="5887174"/>
            <a:ext cx="1945224" cy="946880"/>
          </a:xfrm>
          <a:prstGeom prst="rect">
            <a:avLst/>
          </a:prstGeom>
        </p:spPr>
        <p:txBody>
          <a:bodyPr anchor="t" rtlCol="false" tIns="0" lIns="0" bIns="0" rIns="0">
            <a:spAutoFit/>
          </a:bodyPr>
          <a:lstStyle/>
          <a:p>
            <a:pPr algn="l">
              <a:lnSpc>
                <a:spcPts val="7659"/>
              </a:lnSpc>
            </a:pPr>
            <a:r>
              <a:rPr lang="en-US" sz="5470" spc="366">
                <a:solidFill>
                  <a:srgbClr val="FFFFFF"/>
                </a:solidFill>
                <a:latin typeface="Montserrat"/>
                <a:ea typeface="Montserrat"/>
                <a:cs typeface="Montserrat"/>
                <a:sym typeface="Montserrat"/>
              </a:rPr>
              <a:t>2025</a:t>
            </a:r>
          </a:p>
        </p:txBody>
      </p:sp>
      <p:sp>
        <p:nvSpPr>
          <p:cNvPr name="TextBox 14" id="14"/>
          <p:cNvSpPr txBox="true"/>
          <p:nvPr/>
        </p:nvSpPr>
        <p:spPr>
          <a:xfrm rot="0">
            <a:off x="900874" y="4361002"/>
            <a:ext cx="2840707" cy="1498549"/>
          </a:xfrm>
          <a:prstGeom prst="rect">
            <a:avLst/>
          </a:prstGeom>
        </p:spPr>
        <p:txBody>
          <a:bodyPr anchor="t" rtlCol="false" tIns="0" lIns="0" bIns="0" rIns="0">
            <a:spAutoFit/>
          </a:bodyPr>
          <a:lstStyle/>
          <a:p>
            <a:pPr algn="l">
              <a:lnSpc>
                <a:spcPts val="2902"/>
              </a:lnSpc>
            </a:pPr>
            <a:r>
              <a:rPr lang="en-US" sz="2902" spc="-17">
                <a:solidFill>
                  <a:srgbClr val="FFFFFF"/>
                </a:solidFill>
                <a:latin typeface="Montserrat"/>
                <a:ea typeface="Montserrat"/>
                <a:cs typeface="Montserrat"/>
                <a:sym typeface="Montserrat"/>
              </a:rPr>
              <a:t>ENGINEERING SUCCESS THROUGH INNOVATION</a:t>
            </a:r>
          </a:p>
        </p:txBody>
      </p:sp>
      <p:sp>
        <p:nvSpPr>
          <p:cNvPr name="TextBox 15" id="15"/>
          <p:cNvSpPr txBox="true"/>
          <p:nvPr/>
        </p:nvSpPr>
        <p:spPr>
          <a:xfrm rot="0">
            <a:off x="3565017" y="1760591"/>
            <a:ext cx="3199419" cy="965197"/>
          </a:xfrm>
          <a:prstGeom prst="rect">
            <a:avLst/>
          </a:prstGeom>
        </p:spPr>
        <p:txBody>
          <a:bodyPr anchor="t" rtlCol="false" tIns="0" lIns="0" bIns="0" rIns="0">
            <a:spAutoFit/>
          </a:bodyPr>
          <a:lstStyle/>
          <a:p>
            <a:pPr algn="l">
              <a:lnSpc>
                <a:spcPts val="3668"/>
              </a:lnSpc>
            </a:pPr>
            <a:r>
              <a:rPr lang="en-US" b="true" sz="3636" spc="14">
                <a:solidFill>
                  <a:srgbClr val="070707"/>
                </a:solidFill>
                <a:latin typeface="Montserrat Bold"/>
                <a:ea typeface="Montserrat Bold"/>
                <a:cs typeface="Montserrat Bold"/>
                <a:sym typeface="Montserrat Bold"/>
              </a:rPr>
              <a:t>CORPORATE PROFILE</a:t>
            </a:r>
          </a:p>
        </p:txBody>
      </p:sp>
      <p:sp>
        <p:nvSpPr>
          <p:cNvPr name="TextBox 16" id="16"/>
          <p:cNvSpPr txBox="true"/>
          <p:nvPr/>
        </p:nvSpPr>
        <p:spPr>
          <a:xfrm rot="0">
            <a:off x="1782232" y="8620258"/>
            <a:ext cx="3138964" cy="604114"/>
          </a:xfrm>
          <a:prstGeom prst="rect">
            <a:avLst/>
          </a:prstGeom>
        </p:spPr>
        <p:txBody>
          <a:bodyPr anchor="t" rtlCol="false" tIns="0" lIns="0" bIns="0" rIns="0">
            <a:spAutoFit/>
          </a:bodyPr>
          <a:lstStyle/>
          <a:p>
            <a:pPr algn="l">
              <a:lnSpc>
                <a:spcPts val="1567"/>
              </a:lnSpc>
            </a:pPr>
            <a:r>
              <a:rPr lang="en-US" b="true" sz="1301" spc="5">
                <a:solidFill>
                  <a:srgbClr val="FFFFFF"/>
                </a:solidFill>
                <a:latin typeface="Montserrat Bold"/>
                <a:ea typeface="Montserrat Bold"/>
                <a:cs typeface="Montserrat Bold"/>
                <a:sym typeface="Montserrat Bold"/>
              </a:rPr>
              <a:t>NO. 42A, JALAN BADMINTON 13/29 SECTION 13, 40100 SHAH ALAM, SELANGOR</a:t>
            </a:r>
          </a:p>
        </p:txBody>
      </p:sp>
      <p:sp>
        <p:nvSpPr>
          <p:cNvPr name="TextBox 17" id="17"/>
          <p:cNvSpPr txBox="true"/>
          <p:nvPr/>
        </p:nvSpPr>
        <p:spPr>
          <a:xfrm rot="0">
            <a:off x="1782232" y="9217619"/>
            <a:ext cx="1826314" cy="205873"/>
          </a:xfrm>
          <a:prstGeom prst="rect">
            <a:avLst/>
          </a:prstGeom>
        </p:spPr>
        <p:txBody>
          <a:bodyPr anchor="t" rtlCol="false" tIns="0" lIns="0" bIns="0" rIns="0">
            <a:spAutoFit/>
          </a:bodyPr>
          <a:lstStyle/>
          <a:p>
            <a:pPr algn="l">
              <a:lnSpc>
                <a:spcPts val="1567"/>
              </a:lnSpc>
            </a:pPr>
            <a:r>
              <a:rPr lang="en-US" b="true" sz="1301" spc="5">
                <a:solidFill>
                  <a:srgbClr val="FFFFFF"/>
                </a:solidFill>
                <a:latin typeface="Montserrat Bold"/>
                <a:ea typeface="Montserrat Bold"/>
                <a:cs typeface="Montserrat Bold"/>
                <a:sym typeface="Montserrat Bold"/>
              </a:rPr>
              <a:t>TEL : 603-5518 4870 </a:t>
            </a:r>
          </a:p>
        </p:txBody>
      </p:sp>
      <p:sp>
        <p:nvSpPr>
          <p:cNvPr name="TextBox 18" id="18"/>
          <p:cNvSpPr txBox="true"/>
          <p:nvPr/>
        </p:nvSpPr>
        <p:spPr>
          <a:xfrm rot="0">
            <a:off x="3824573" y="9217619"/>
            <a:ext cx="1799139" cy="205873"/>
          </a:xfrm>
          <a:prstGeom prst="rect">
            <a:avLst/>
          </a:prstGeom>
        </p:spPr>
        <p:txBody>
          <a:bodyPr anchor="t" rtlCol="false" tIns="0" lIns="0" bIns="0" rIns="0">
            <a:spAutoFit/>
          </a:bodyPr>
          <a:lstStyle/>
          <a:p>
            <a:pPr algn="l">
              <a:lnSpc>
                <a:spcPts val="1567"/>
              </a:lnSpc>
            </a:pPr>
            <a:r>
              <a:rPr lang="en-US" b="true" sz="1301" spc="5">
                <a:solidFill>
                  <a:srgbClr val="FFFFFF"/>
                </a:solidFill>
                <a:latin typeface="Montserrat Bold"/>
                <a:ea typeface="Montserrat Bold"/>
                <a:cs typeface="Montserrat Bold"/>
                <a:sym typeface="Montserrat Bold"/>
              </a:rPr>
              <a:t>FAX : 603-5518 4871 </a:t>
            </a:r>
          </a:p>
        </p:txBody>
      </p:sp>
      <p:sp>
        <p:nvSpPr>
          <p:cNvPr name="TextBox 19" id="19"/>
          <p:cNvSpPr txBox="true"/>
          <p:nvPr/>
        </p:nvSpPr>
        <p:spPr>
          <a:xfrm rot="0">
            <a:off x="1782232" y="9416758"/>
            <a:ext cx="2350103" cy="205873"/>
          </a:xfrm>
          <a:prstGeom prst="rect">
            <a:avLst/>
          </a:prstGeom>
        </p:spPr>
        <p:txBody>
          <a:bodyPr anchor="t" rtlCol="false" tIns="0" lIns="0" bIns="0" rIns="0">
            <a:spAutoFit/>
          </a:bodyPr>
          <a:lstStyle/>
          <a:p>
            <a:pPr algn="l">
              <a:lnSpc>
                <a:spcPts val="1567"/>
              </a:lnSpc>
            </a:pPr>
            <a:r>
              <a:rPr lang="en-US" b="true" sz="1301" spc="5">
                <a:solidFill>
                  <a:srgbClr val="FFFFFF"/>
                </a:solidFill>
                <a:latin typeface="Montserrat Bold"/>
                <a:ea typeface="Montserrat Bold"/>
                <a:cs typeface="Montserrat Bold"/>
                <a:sym typeface="Montserrat Bold"/>
              </a:rPr>
              <a:t>E-mail : utgsb@utg.com.my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4003" y="9277274"/>
            <a:ext cx="1259805" cy="689991"/>
          </a:xfrm>
          <a:custGeom>
            <a:avLst/>
            <a:gdLst/>
            <a:ahLst/>
            <a:cxnLst/>
            <a:rect r="r" b="b" t="t" l="l"/>
            <a:pathLst>
              <a:path h="689991" w="1259805">
                <a:moveTo>
                  <a:pt x="0" y="0"/>
                </a:moveTo>
                <a:lnTo>
                  <a:pt x="1259805" y="0"/>
                </a:lnTo>
                <a:lnTo>
                  <a:pt x="1259805" y="689991"/>
                </a:lnTo>
                <a:lnTo>
                  <a:pt x="0" y="689991"/>
                </a:lnTo>
                <a:lnTo>
                  <a:pt x="0" y="0"/>
                </a:lnTo>
                <a:close/>
              </a:path>
            </a:pathLst>
          </a:custGeom>
          <a:blipFill>
            <a:blip r:embed="rId4"/>
            <a:stretch>
              <a:fillRect l="0" t="0" r="0" b="0"/>
            </a:stretch>
          </a:blipFill>
        </p:spPr>
      </p:sp>
      <p:sp>
        <p:nvSpPr>
          <p:cNvPr name="Freeform 4" id="4"/>
          <p:cNvSpPr/>
          <p:nvPr/>
        </p:nvSpPr>
        <p:spPr>
          <a:xfrm flipH="false" flipV="false" rot="0">
            <a:off x="5724906" y="1453334"/>
            <a:ext cx="1259815" cy="689991"/>
          </a:xfrm>
          <a:custGeom>
            <a:avLst/>
            <a:gdLst/>
            <a:ahLst/>
            <a:cxnLst/>
            <a:rect r="r" b="b" t="t" l="l"/>
            <a:pathLst>
              <a:path h="689991" w="1259815">
                <a:moveTo>
                  <a:pt x="0" y="0"/>
                </a:moveTo>
                <a:lnTo>
                  <a:pt x="1259815" y="0"/>
                </a:lnTo>
                <a:lnTo>
                  <a:pt x="1259815" y="689991"/>
                </a:lnTo>
                <a:lnTo>
                  <a:pt x="0" y="689991"/>
                </a:lnTo>
                <a:lnTo>
                  <a:pt x="0" y="0"/>
                </a:lnTo>
                <a:close/>
              </a:path>
            </a:pathLst>
          </a:custGeom>
          <a:blipFill>
            <a:blip r:embed="rId4"/>
            <a:stretch>
              <a:fillRect l="0" t="0" r="0" b="0"/>
            </a:stretch>
          </a:blipFill>
        </p:spPr>
      </p:sp>
      <p:sp>
        <p:nvSpPr>
          <p:cNvPr name="TextBox 5" id="5"/>
          <p:cNvSpPr txBox="true"/>
          <p:nvPr/>
        </p:nvSpPr>
        <p:spPr>
          <a:xfrm rot="0">
            <a:off x="959177" y="1835429"/>
            <a:ext cx="1921907" cy="506882"/>
          </a:xfrm>
          <a:prstGeom prst="rect">
            <a:avLst/>
          </a:prstGeom>
        </p:spPr>
        <p:txBody>
          <a:bodyPr anchor="t" rtlCol="false" tIns="0" lIns="0" bIns="0" rIns="0">
            <a:spAutoFit/>
          </a:bodyPr>
          <a:lstStyle/>
          <a:p>
            <a:pPr algn="l">
              <a:lnSpc>
                <a:spcPts val="4063"/>
              </a:lnSpc>
            </a:pPr>
            <a:r>
              <a:rPr lang="en-US" b="true" sz="2902" spc="11">
                <a:solidFill>
                  <a:srgbClr val="FFFFFF"/>
                </a:solidFill>
                <a:latin typeface="Montserrat Bold"/>
                <a:ea typeface="Montserrat Bold"/>
                <a:cs typeface="Montserrat Bold"/>
                <a:sym typeface="Montserrat Bold"/>
              </a:rPr>
              <a:t>CONTENT</a:t>
            </a:r>
          </a:p>
        </p:txBody>
      </p:sp>
      <p:sp>
        <p:nvSpPr>
          <p:cNvPr name="TextBox 6" id="6"/>
          <p:cNvSpPr txBox="true"/>
          <p:nvPr/>
        </p:nvSpPr>
        <p:spPr>
          <a:xfrm rot="0">
            <a:off x="959177" y="2470175"/>
            <a:ext cx="757685" cy="6665338"/>
          </a:xfrm>
          <a:prstGeom prst="rect">
            <a:avLst/>
          </a:prstGeom>
        </p:spPr>
        <p:txBody>
          <a:bodyPr anchor="t" rtlCol="false" tIns="0" lIns="0" bIns="0" rIns="0">
            <a:spAutoFit/>
          </a:bodyPr>
          <a:lstStyle/>
          <a:p>
            <a:pPr algn="l">
              <a:lnSpc>
                <a:spcPts val="6709"/>
              </a:lnSpc>
            </a:pPr>
            <a:r>
              <a:rPr lang="en-US" b="true" sz="4136" spc="16">
                <a:solidFill>
                  <a:srgbClr val="26398E"/>
                </a:solidFill>
                <a:latin typeface="Montserrat Bold"/>
                <a:ea typeface="Montserrat Bold"/>
                <a:cs typeface="Montserrat Bold"/>
                <a:sym typeface="Montserrat Bold"/>
              </a:rPr>
              <a:t>01 02 03 04 05 06 07</a:t>
            </a:r>
          </a:p>
          <a:p>
            <a:pPr algn="l">
              <a:lnSpc>
                <a:spcPts val="4947"/>
              </a:lnSpc>
            </a:pPr>
            <a:r>
              <a:rPr lang="en-US" b="true" sz="4136" spc="16">
                <a:solidFill>
                  <a:srgbClr val="26398E"/>
                </a:solidFill>
                <a:latin typeface="Montserrat Bold"/>
                <a:ea typeface="Montserrat Bold"/>
                <a:cs typeface="Montserrat Bold"/>
                <a:sym typeface="Montserrat Bold"/>
              </a:rPr>
              <a:t>08</a:t>
            </a:r>
          </a:p>
        </p:txBody>
      </p:sp>
      <p:sp>
        <p:nvSpPr>
          <p:cNvPr name="TextBox 7" id="7"/>
          <p:cNvSpPr txBox="true"/>
          <p:nvPr/>
        </p:nvSpPr>
        <p:spPr>
          <a:xfrm rot="0">
            <a:off x="2006613" y="5361432"/>
            <a:ext cx="3097168" cy="349548"/>
          </a:xfrm>
          <a:prstGeom prst="rect">
            <a:avLst/>
          </a:prstGeom>
        </p:spPr>
        <p:txBody>
          <a:bodyPr anchor="t" rtlCol="false" tIns="0" lIns="0" bIns="0" rIns="0">
            <a:spAutoFit/>
          </a:bodyPr>
          <a:lstStyle/>
          <a:p>
            <a:pPr algn="l">
              <a:lnSpc>
                <a:spcPts val="2755"/>
              </a:lnSpc>
            </a:pPr>
            <a:r>
              <a:rPr lang="en-US" b="true" sz="1968" spc="116">
                <a:solidFill>
                  <a:srgbClr val="000000"/>
                </a:solidFill>
                <a:latin typeface="Montserrat Bold"/>
                <a:ea typeface="Montserrat Bold"/>
                <a:cs typeface="Montserrat Bold"/>
                <a:sym typeface="Montserrat Bold"/>
              </a:rPr>
              <a:t>DIRECTORS’ PROFILE</a:t>
            </a:r>
          </a:p>
        </p:txBody>
      </p:sp>
      <p:sp>
        <p:nvSpPr>
          <p:cNvPr name="TextBox 8" id="8"/>
          <p:cNvSpPr txBox="true"/>
          <p:nvPr/>
        </p:nvSpPr>
        <p:spPr>
          <a:xfrm rot="0">
            <a:off x="2006613" y="4501791"/>
            <a:ext cx="3110427" cy="349548"/>
          </a:xfrm>
          <a:prstGeom prst="rect">
            <a:avLst/>
          </a:prstGeom>
        </p:spPr>
        <p:txBody>
          <a:bodyPr anchor="t" rtlCol="false" tIns="0" lIns="0" bIns="0" rIns="0">
            <a:spAutoFit/>
          </a:bodyPr>
          <a:lstStyle/>
          <a:p>
            <a:pPr algn="l">
              <a:lnSpc>
                <a:spcPts val="2755"/>
              </a:lnSpc>
            </a:pPr>
            <a:r>
              <a:rPr lang="en-US" b="true" sz="1968" spc="104">
                <a:solidFill>
                  <a:srgbClr val="000000"/>
                </a:solidFill>
                <a:latin typeface="Montserrat Bold"/>
                <a:ea typeface="Montserrat Bold"/>
                <a:cs typeface="Montserrat Bold"/>
                <a:sym typeface="Montserrat Bold"/>
              </a:rPr>
              <a:t>COMPANY OVERVIEW</a:t>
            </a:r>
          </a:p>
        </p:txBody>
      </p:sp>
      <p:sp>
        <p:nvSpPr>
          <p:cNvPr name="TextBox 9" id="9"/>
          <p:cNvSpPr txBox="true"/>
          <p:nvPr/>
        </p:nvSpPr>
        <p:spPr>
          <a:xfrm rot="0">
            <a:off x="2006613" y="3642150"/>
            <a:ext cx="3595888" cy="349548"/>
          </a:xfrm>
          <a:prstGeom prst="rect">
            <a:avLst/>
          </a:prstGeom>
        </p:spPr>
        <p:txBody>
          <a:bodyPr anchor="t" rtlCol="false" tIns="0" lIns="0" bIns="0" rIns="0">
            <a:spAutoFit/>
          </a:bodyPr>
          <a:lstStyle/>
          <a:p>
            <a:pPr algn="l">
              <a:lnSpc>
                <a:spcPts val="2755"/>
              </a:lnSpc>
            </a:pPr>
            <a:r>
              <a:rPr lang="en-US" b="true" sz="1968" spc="102">
                <a:solidFill>
                  <a:srgbClr val="000000"/>
                </a:solidFill>
                <a:latin typeface="Montserrat Bold"/>
                <a:ea typeface="Montserrat Bold"/>
                <a:cs typeface="Montserrat Bold"/>
                <a:sym typeface="Montserrat Bold"/>
              </a:rPr>
              <a:t>COMPANY BACKGROUND</a:t>
            </a:r>
          </a:p>
        </p:txBody>
      </p:sp>
      <p:sp>
        <p:nvSpPr>
          <p:cNvPr name="TextBox 10" id="10"/>
          <p:cNvSpPr txBox="true"/>
          <p:nvPr/>
        </p:nvSpPr>
        <p:spPr>
          <a:xfrm rot="0">
            <a:off x="2006613" y="6221073"/>
            <a:ext cx="3924433" cy="349548"/>
          </a:xfrm>
          <a:prstGeom prst="rect">
            <a:avLst/>
          </a:prstGeom>
        </p:spPr>
        <p:txBody>
          <a:bodyPr anchor="t" rtlCol="false" tIns="0" lIns="0" bIns="0" rIns="0">
            <a:spAutoFit/>
          </a:bodyPr>
          <a:lstStyle/>
          <a:p>
            <a:pPr algn="l">
              <a:lnSpc>
                <a:spcPts val="2755"/>
              </a:lnSpc>
            </a:pPr>
            <a:r>
              <a:rPr lang="en-US" b="true" sz="1968" spc="110">
                <a:solidFill>
                  <a:srgbClr val="000000"/>
                </a:solidFill>
                <a:latin typeface="Montserrat Bold"/>
                <a:ea typeface="Montserrat Bold"/>
                <a:cs typeface="Montserrat Bold"/>
                <a:sym typeface="Montserrat Bold"/>
              </a:rPr>
              <a:t>DIRECTORS’ INFORMATION</a:t>
            </a:r>
          </a:p>
        </p:txBody>
      </p:sp>
      <p:sp>
        <p:nvSpPr>
          <p:cNvPr name="TextBox 11" id="11"/>
          <p:cNvSpPr txBox="true"/>
          <p:nvPr/>
        </p:nvSpPr>
        <p:spPr>
          <a:xfrm rot="0">
            <a:off x="1983105" y="2783205"/>
            <a:ext cx="3951361" cy="349548"/>
          </a:xfrm>
          <a:prstGeom prst="rect">
            <a:avLst/>
          </a:prstGeom>
        </p:spPr>
        <p:txBody>
          <a:bodyPr anchor="t" rtlCol="false" tIns="0" lIns="0" bIns="0" rIns="0">
            <a:spAutoFit/>
          </a:bodyPr>
          <a:lstStyle/>
          <a:p>
            <a:pPr algn="l">
              <a:lnSpc>
                <a:spcPts val="2755"/>
              </a:lnSpc>
            </a:pPr>
            <a:r>
              <a:rPr lang="en-US" b="true" sz="1968" spc="102">
                <a:solidFill>
                  <a:srgbClr val="000000"/>
                </a:solidFill>
                <a:latin typeface="Montserrat Bold"/>
                <a:ea typeface="Montserrat Bold"/>
                <a:cs typeface="Montserrat Bold"/>
                <a:sym typeface="Montserrat Bold"/>
              </a:rPr>
              <a:t>CORPORATE INFORMATION</a:t>
            </a:r>
          </a:p>
        </p:txBody>
      </p:sp>
      <p:sp>
        <p:nvSpPr>
          <p:cNvPr name="TextBox 12" id="12"/>
          <p:cNvSpPr txBox="true"/>
          <p:nvPr/>
        </p:nvSpPr>
        <p:spPr>
          <a:xfrm rot="0">
            <a:off x="2006613" y="7091134"/>
            <a:ext cx="4583554" cy="1164412"/>
          </a:xfrm>
          <a:prstGeom prst="rect">
            <a:avLst/>
          </a:prstGeom>
        </p:spPr>
        <p:txBody>
          <a:bodyPr anchor="t" rtlCol="false" tIns="0" lIns="0" bIns="0" rIns="0">
            <a:spAutoFit/>
          </a:bodyPr>
          <a:lstStyle/>
          <a:p>
            <a:pPr algn="l">
              <a:lnSpc>
                <a:spcPts val="1968"/>
              </a:lnSpc>
            </a:pPr>
            <a:r>
              <a:rPr lang="en-US" b="true" sz="1968" spc="120">
                <a:solidFill>
                  <a:srgbClr val="000000"/>
                </a:solidFill>
                <a:latin typeface="Montserrat Bold"/>
                <a:ea typeface="Montserrat Bold"/>
                <a:cs typeface="Montserrat Bold"/>
                <a:sym typeface="Montserrat Bold"/>
              </a:rPr>
              <a:t>KEY TECHNICAL &amp; ADMINISTRATION TEAM</a:t>
            </a:r>
          </a:p>
          <a:p>
            <a:pPr algn="l">
              <a:lnSpc>
                <a:spcPts val="4920"/>
              </a:lnSpc>
            </a:pPr>
            <a:r>
              <a:rPr lang="en-US" b="true" sz="1968" spc="112">
                <a:solidFill>
                  <a:srgbClr val="000000"/>
                </a:solidFill>
                <a:latin typeface="Montserrat Bold"/>
                <a:ea typeface="Montserrat Bold"/>
                <a:cs typeface="Montserrat Bold"/>
                <a:sym typeface="Montserrat Bold"/>
              </a:rPr>
              <a:t>LIST OF COMPLETED PROJECTS</a:t>
            </a:r>
          </a:p>
        </p:txBody>
      </p:sp>
      <p:sp>
        <p:nvSpPr>
          <p:cNvPr name="TextBox 13" id="13"/>
          <p:cNvSpPr txBox="true"/>
          <p:nvPr/>
        </p:nvSpPr>
        <p:spPr>
          <a:xfrm rot="0">
            <a:off x="2006613" y="8409175"/>
            <a:ext cx="3544195" cy="559098"/>
          </a:xfrm>
          <a:prstGeom prst="rect">
            <a:avLst/>
          </a:prstGeom>
        </p:spPr>
        <p:txBody>
          <a:bodyPr anchor="t" rtlCol="false" tIns="0" lIns="0" bIns="0" rIns="0">
            <a:spAutoFit/>
          </a:bodyPr>
          <a:lstStyle/>
          <a:p>
            <a:pPr algn="l">
              <a:lnSpc>
                <a:spcPts val="4920"/>
              </a:lnSpc>
            </a:pPr>
            <a:r>
              <a:rPr lang="en-US" b="true" sz="1968" spc="98">
                <a:solidFill>
                  <a:srgbClr val="000000"/>
                </a:solidFill>
                <a:latin typeface="Montserrat Bold"/>
                <a:ea typeface="Montserrat Bold"/>
                <a:cs typeface="Montserrat Bold"/>
                <a:sym typeface="Montserrat Bold"/>
              </a:rPr>
              <a:t>CONTACT INFORMATION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4003" y="9277274"/>
            <a:ext cx="1259805" cy="689991"/>
          </a:xfrm>
          <a:custGeom>
            <a:avLst/>
            <a:gdLst/>
            <a:ahLst/>
            <a:cxnLst/>
            <a:rect r="r" b="b" t="t" l="l"/>
            <a:pathLst>
              <a:path h="689991" w="1259805">
                <a:moveTo>
                  <a:pt x="0" y="0"/>
                </a:moveTo>
                <a:lnTo>
                  <a:pt x="1259805" y="0"/>
                </a:lnTo>
                <a:lnTo>
                  <a:pt x="1259805" y="689991"/>
                </a:lnTo>
                <a:lnTo>
                  <a:pt x="0" y="689991"/>
                </a:lnTo>
                <a:lnTo>
                  <a:pt x="0" y="0"/>
                </a:lnTo>
                <a:close/>
              </a:path>
            </a:pathLst>
          </a:custGeom>
          <a:blipFill>
            <a:blip r:embed="rId4"/>
            <a:stretch>
              <a:fillRect l="0" t="0" r="0" b="0"/>
            </a:stretch>
          </a:blipFill>
        </p:spPr>
      </p:sp>
      <p:sp>
        <p:nvSpPr>
          <p:cNvPr name="Freeform 4" id="4"/>
          <p:cNvSpPr/>
          <p:nvPr/>
        </p:nvSpPr>
        <p:spPr>
          <a:xfrm flipH="false" flipV="false" rot="0">
            <a:off x="6766579" y="6855209"/>
            <a:ext cx="535924" cy="2905916"/>
          </a:xfrm>
          <a:custGeom>
            <a:avLst/>
            <a:gdLst/>
            <a:ahLst/>
            <a:cxnLst/>
            <a:rect r="r" b="b" t="t" l="l"/>
            <a:pathLst>
              <a:path h="2905916" w="535924">
                <a:moveTo>
                  <a:pt x="0" y="0"/>
                </a:moveTo>
                <a:lnTo>
                  <a:pt x="535924" y="0"/>
                </a:lnTo>
                <a:lnTo>
                  <a:pt x="535924" y="2905916"/>
                </a:lnTo>
                <a:lnTo>
                  <a:pt x="0" y="29059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5696807" y="572338"/>
            <a:ext cx="1259815" cy="689991"/>
          </a:xfrm>
          <a:custGeom>
            <a:avLst/>
            <a:gdLst/>
            <a:ahLst/>
            <a:cxnLst/>
            <a:rect r="r" b="b" t="t" l="l"/>
            <a:pathLst>
              <a:path h="689991" w="1259815">
                <a:moveTo>
                  <a:pt x="0" y="0"/>
                </a:moveTo>
                <a:lnTo>
                  <a:pt x="1259815" y="0"/>
                </a:lnTo>
                <a:lnTo>
                  <a:pt x="1259815" y="689991"/>
                </a:lnTo>
                <a:lnTo>
                  <a:pt x="0" y="689991"/>
                </a:lnTo>
                <a:lnTo>
                  <a:pt x="0" y="0"/>
                </a:lnTo>
                <a:close/>
              </a:path>
            </a:pathLst>
          </a:custGeom>
          <a:blipFill>
            <a:blip r:embed="rId4"/>
            <a:stretch>
              <a:fillRect l="0" t="0" r="0" b="0"/>
            </a:stretch>
          </a:blipFill>
        </p:spPr>
      </p:sp>
      <p:grpSp>
        <p:nvGrpSpPr>
          <p:cNvPr name="Group 6" id="6"/>
          <p:cNvGrpSpPr>
            <a:grpSpLocks noChangeAspect="true"/>
          </p:cNvGrpSpPr>
          <p:nvPr/>
        </p:nvGrpSpPr>
        <p:grpSpPr>
          <a:xfrm rot="0">
            <a:off x="3463909" y="5610463"/>
            <a:ext cx="1380068" cy="4239"/>
            <a:chOff x="0" y="0"/>
            <a:chExt cx="1380071" cy="4242"/>
          </a:xfrm>
        </p:grpSpPr>
        <p:sp>
          <p:nvSpPr>
            <p:cNvPr name="Freeform 7" id="7"/>
            <p:cNvSpPr/>
            <p:nvPr/>
          </p:nvSpPr>
          <p:spPr>
            <a:xfrm flipH="false" flipV="false" rot="0">
              <a:off x="0" y="0"/>
              <a:ext cx="1379982" cy="4191"/>
            </a:xfrm>
            <a:custGeom>
              <a:avLst/>
              <a:gdLst/>
              <a:ahLst/>
              <a:cxnLst/>
              <a:rect r="r" b="b" t="t" l="l"/>
              <a:pathLst>
                <a:path h="4191" w="1379982">
                  <a:moveTo>
                    <a:pt x="0" y="0"/>
                  </a:moveTo>
                  <a:lnTo>
                    <a:pt x="689991" y="0"/>
                  </a:lnTo>
                  <a:lnTo>
                    <a:pt x="1379982" y="0"/>
                  </a:lnTo>
                  <a:lnTo>
                    <a:pt x="1379982" y="4191"/>
                  </a:lnTo>
                  <a:lnTo>
                    <a:pt x="689991" y="4191"/>
                  </a:lnTo>
                  <a:lnTo>
                    <a:pt x="0" y="4191"/>
                  </a:lnTo>
                  <a:close/>
                </a:path>
              </a:pathLst>
            </a:custGeom>
            <a:solidFill>
              <a:srgbClr val="0563C1"/>
            </a:solidFill>
          </p:spPr>
        </p:sp>
      </p:grpSp>
      <p:sp>
        <p:nvSpPr>
          <p:cNvPr name="TextBox 8" id="8"/>
          <p:cNvSpPr txBox="true"/>
          <p:nvPr/>
        </p:nvSpPr>
        <p:spPr>
          <a:xfrm rot="0">
            <a:off x="864079" y="1786080"/>
            <a:ext cx="2819752" cy="766820"/>
          </a:xfrm>
          <a:prstGeom prst="rect">
            <a:avLst/>
          </a:prstGeom>
        </p:spPr>
        <p:txBody>
          <a:bodyPr anchor="t" rtlCol="false" tIns="0" lIns="0" bIns="0" rIns="0">
            <a:spAutoFit/>
          </a:bodyPr>
          <a:lstStyle/>
          <a:p>
            <a:pPr algn="l">
              <a:lnSpc>
                <a:spcPts val="2902"/>
              </a:lnSpc>
            </a:pPr>
            <a:r>
              <a:rPr lang="en-US" sz="2902" spc="11">
                <a:solidFill>
                  <a:srgbClr val="FFFFFF"/>
                </a:solidFill>
                <a:latin typeface="Montserrat"/>
                <a:ea typeface="Montserrat"/>
                <a:cs typeface="Montserrat"/>
                <a:sym typeface="Montserrat"/>
              </a:rPr>
              <a:t>CORPORATE INFORMATION</a:t>
            </a:r>
          </a:p>
        </p:txBody>
      </p:sp>
      <p:sp>
        <p:nvSpPr>
          <p:cNvPr name="TextBox 9" id="9"/>
          <p:cNvSpPr txBox="true"/>
          <p:nvPr/>
        </p:nvSpPr>
        <p:spPr>
          <a:xfrm rot="0">
            <a:off x="933107" y="3082938"/>
            <a:ext cx="1160536" cy="664007"/>
          </a:xfrm>
          <a:prstGeom prst="rect">
            <a:avLst/>
          </a:prstGeom>
        </p:spPr>
        <p:txBody>
          <a:bodyPr anchor="t" rtlCol="false" tIns="0" lIns="0" bIns="0" rIns="0">
            <a:spAutoFit/>
          </a:bodyPr>
          <a:lstStyle/>
          <a:p>
            <a:pPr algn="l">
              <a:lnSpc>
                <a:spcPts val="2701"/>
              </a:lnSpc>
            </a:pPr>
            <a:r>
              <a:rPr lang="en-US" sz="1134" spc="4">
                <a:solidFill>
                  <a:srgbClr val="000000"/>
                </a:solidFill>
                <a:latin typeface="Montserrat"/>
                <a:ea typeface="Montserrat"/>
                <a:cs typeface="Montserrat"/>
                <a:sym typeface="Montserrat"/>
              </a:rPr>
              <a:t>Company Name Office Address</a:t>
            </a:r>
          </a:p>
        </p:txBody>
      </p:sp>
      <p:sp>
        <p:nvSpPr>
          <p:cNvPr name="TextBox 10" id="10"/>
          <p:cNvSpPr txBox="true"/>
          <p:nvPr/>
        </p:nvSpPr>
        <p:spPr>
          <a:xfrm rot="0">
            <a:off x="933107" y="3948255"/>
            <a:ext cx="1474918" cy="3395539"/>
          </a:xfrm>
          <a:prstGeom prst="rect">
            <a:avLst/>
          </a:prstGeom>
        </p:spPr>
        <p:txBody>
          <a:bodyPr anchor="t" rtlCol="false" tIns="0" lIns="0" bIns="0" rIns="0">
            <a:spAutoFit/>
          </a:bodyPr>
          <a:lstStyle/>
          <a:p>
            <a:pPr algn="l">
              <a:lnSpc>
                <a:spcPts val="2694"/>
              </a:lnSpc>
            </a:pPr>
            <a:r>
              <a:rPr lang="en-US" sz="1134" spc="4">
                <a:solidFill>
                  <a:srgbClr val="000000"/>
                </a:solidFill>
                <a:latin typeface="Montserrat"/>
                <a:ea typeface="Montserrat"/>
                <a:cs typeface="Montserrat"/>
                <a:sym typeface="Montserrat"/>
              </a:rPr>
              <a:t>Registration No. Date Incorporation Telephone No. Facsimile No. E-Mail Address AuthorisedCapital Paid-Up Capital Company Secretary Auditor Nature of Business </a:t>
            </a:r>
          </a:p>
        </p:txBody>
      </p:sp>
      <p:sp>
        <p:nvSpPr>
          <p:cNvPr name="TextBox 11" id="11"/>
          <p:cNvSpPr txBox="true"/>
          <p:nvPr/>
        </p:nvSpPr>
        <p:spPr>
          <a:xfrm rot="0">
            <a:off x="2613012" y="3082509"/>
            <a:ext cx="84725" cy="664007"/>
          </a:xfrm>
          <a:prstGeom prst="rect">
            <a:avLst/>
          </a:prstGeom>
        </p:spPr>
        <p:txBody>
          <a:bodyPr anchor="t" rtlCol="false" tIns="0" lIns="0" bIns="0" rIns="0">
            <a:spAutoFit/>
          </a:bodyPr>
          <a:lstStyle/>
          <a:p>
            <a:pPr algn="just">
              <a:lnSpc>
                <a:spcPts val="2701"/>
              </a:lnSpc>
            </a:pPr>
            <a:r>
              <a:rPr lang="en-US" sz="1134" spc="4">
                <a:solidFill>
                  <a:srgbClr val="000000"/>
                </a:solidFill>
                <a:latin typeface="Montserrat"/>
                <a:ea typeface="Montserrat"/>
                <a:cs typeface="Montserrat"/>
                <a:sym typeface="Montserrat"/>
              </a:rPr>
              <a:t>: : </a:t>
            </a:r>
          </a:p>
        </p:txBody>
      </p:sp>
      <p:sp>
        <p:nvSpPr>
          <p:cNvPr name="TextBox 12" id="12"/>
          <p:cNvSpPr txBox="true"/>
          <p:nvPr/>
        </p:nvSpPr>
        <p:spPr>
          <a:xfrm rot="0">
            <a:off x="2613012" y="3947827"/>
            <a:ext cx="84725" cy="3395539"/>
          </a:xfrm>
          <a:prstGeom prst="rect">
            <a:avLst/>
          </a:prstGeom>
        </p:spPr>
        <p:txBody>
          <a:bodyPr anchor="t" rtlCol="false" tIns="0" lIns="0" bIns="0" rIns="0">
            <a:spAutoFit/>
          </a:bodyPr>
          <a:lstStyle/>
          <a:p>
            <a:pPr algn="just">
              <a:lnSpc>
                <a:spcPts val="2694"/>
              </a:lnSpc>
            </a:pPr>
            <a:r>
              <a:rPr lang="en-US" sz="1134" spc="4">
                <a:solidFill>
                  <a:srgbClr val="000000"/>
                </a:solidFill>
                <a:latin typeface="Montserrat"/>
                <a:ea typeface="Montserrat"/>
                <a:cs typeface="Montserrat"/>
                <a:sym typeface="Montserrat"/>
              </a:rPr>
              <a:t>: : : : : : : : : : </a:t>
            </a:r>
          </a:p>
        </p:txBody>
      </p:sp>
      <p:sp>
        <p:nvSpPr>
          <p:cNvPr name="TextBox 13" id="13"/>
          <p:cNvSpPr txBox="true"/>
          <p:nvPr/>
        </p:nvSpPr>
        <p:spPr>
          <a:xfrm rot="0">
            <a:off x="3463909" y="3082509"/>
            <a:ext cx="3159528" cy="5455596"/>
          </a:xfrm>
          <a:prstGeom prst="rect">
            <a:avLst/>
          </a:prstGeom>
        </p:spPr>
        <p:txBody>
          <a:bodyPr anchor="t" rtlCol="false" tIns="0" lIns="0" bIns="0" rIns="0">
            <a:spAutoFit/>
          </a:bodyPr>
          <a:lstStyle/>
          <a:p>
            <a:pPr algn="just">
              <a:lnSpc>
                <a:spcPts val="2701"/>
              </a:lnSpc>
            </a:pPr>
            <a:r>
              <a:rPr lang="en-US" sz="1134" spc="4">
                <a:solidFill>
                  <a:srgbClr val="000000"/>
                </a:solidFill>
                <a:latin typeface="Montserrat"/>
                <a:ea typeface="Montserrat"/>
                <a:cs typeface="Montserrat"/>
                <a:sym typeface="Montserrat"/>
              </a:rPr>
              <a:t>UT Generation Sdn. Bhd. (364791-M) No. 42A JalanBadminton 13/29 Section 13, </a:t>
            </a:r>
          </a:p>
          <a:p>
            <a:pPr algn="just">
              <a:lnSpc>
                <a:spcPts val="567"/>
              </a:lnSpc>
            </a:pPr>
            <a:r>
              <a:rPr lang="en-US" sz="1134" spc="4">
                <a:solidFill>
                  <a:srgbClr val="000000"/>
                </a:solidFill>
                <a:latin typeface="Montserrat"/>
                <a:ea typeface="Montserrat"/>
                <a:cs typeface="Montserrat"/>
                <a:sym typeface="Montserrat"/>
              </a:rPr>
              <a:t>40100 Shah Alam, Selangor DarulEhsan </a:t>
            </a:r>
          </a:p>
          <a:p>
            <a:pPr algn="just">
              <a:lnSpc>
                <a:spcPts val="2835"/>
              </a:lnSpc>
            </a:pPr>
            <a:r>
              <a:rPr lang="en-US" sz="1134" spc="4">
                <a:solidFill>
                  <a:srgbClr val="000000"/>
                </a:solidFill>
                <a:latin typeface="Montserrat"/>
                <a:ea typeface="Montserrat"/>
                <a:cs typeface="Montserrat"/>
                <a:sym typeface="Montserrat"/>
              </a:rPr>
              <a:t>364791-M</a:t>
            </a:r>
          </a:p>
          <a:p>
            <a:pPr algn="just">
              <a:lnSpc>
                <a:spcPts val="2568"/>
              </a:lnSpc>
            </a:pPr>
            <a:r>
              <a:rPr lang="en-US" sz="1134" spc="4">
                <a:solidFill>
                  <a:srgbClr val="000000"/>
                </a:solidFill>
                <a:latin typeface="Montserrat"/>
                <a:ea typeface="Montserrat"/>
                <a:cs typeface="Montserrat"/>
                <a:sym typeface="Montserrat"/>
              </a:rPr>
              <a:t>25th October 1995</a:t>
            </a:r>
          </a:p>
          <a:p>
            <a:pPr algn="just">
              <a:lnSpc>
                <a:spcPts val="2835"/>
              </a:lnSpc>
            </a:pPr>
            <a:r>
              <a:rPr lang="en-US" sz="1134" spc="4">
                <a:solidFill>
                  <a:srgbClr val="000000"/>
                </a:solidFill>
                <a:latin typeface="Montserrat"/>
                <a:ea typeface="Montserrat"/>
                <a:cs typeface="Montserrat"/>
                <a:sym typeface="Montserrat"/>
              </a:rPr>
              <a:t>603-5518 4870</a:t>
            </a:r>
          </a:p>
          <a:p>
            <a:pPr algn="just">
              <a:lnSpc>
                <a:spcPts val="2568"/>
              </a:lnSpc>
            </a:pPr>
            <a:r>
              <a:rPr lang="en-US" sz="1134" spc="4">
                <a:solidFill>
                  <a:srgbClr val="000000"/>
                </a:solidFill>
                <a:latin typeface="Montserrat"/>
                <a:ea typeface="Montserrat"/>
                <a:cs typeface="Montserrat"/>
                <a:sym typeface="Montserrat"/>
              </a:rPr>
              <a:t>603-5518 4871</a:t>
            </a:r>
          </a:p>
          <a:p>
            <a:pPr algn="just">
              <a:lnSpc>
                <a:spcPts val="2834"/>
              </a:lnSpc>
            </a:pPr>
            <a:r>
              <a:rPr lang="en-US" sz="1134" spc="4">
                <a:solidFill>
                  <a:srgbClr val="0563C1"/>
                </a:solidFill>
                <a:latin typeface="Montserrat"/>
                <a:ea typeface="Montserrat"/>
                <a:cs typeface="Montserrat"/>
                <a:sym typeface="Montserrat"/>
              </a:rPr>
              <a:t>utgsb@utg.com.my</a:t>
            </a:r>
          </a:p>
          <a:p>
            <a:pPr algn="just">
              <a:lnSpc>
                <a:spcPts val="2503"/>
              </a:lnSpc>
            </a:pPr>
            <a:r>
              <a:rPr lang="en-US" sz="1134" spc="4">
                <a:solidFill>
                  <a:srgbClr val="000000"/>
                </a:solidFill>
                <a:latin typeface="Montserrat"/>
                <a:ea typeface="Montserrat"/>
                <a:cs typeface="Montserrat"/>
                <a:sym typeface="Montserrat"/>
              </a:rPr>
              <a:t>RM1,000,000.00</a:t>
            </a:r>
          </a:p>
          <a:p>
            <a:pPr algn="just">
              <a:lnSpc>
                <a:spcPts val="2835"/>
              </a:lnSpc>
            </a:pPr>
            <a:r>
              <a:rPr lang="en-US" sz="1134" spc="4">
                <a:solidFill>
                  <a:srgbClr val="000000"/>
                </a:solidFill>
                <a:latin typeface="Montserrat"/>
                <a:ea typeface="Montserrat"/>
                <a:cs typeface="Montserrat"/>
                <a:sym typeface="Montserrat"/>
              </a:rPr>
              <a:t>RM1,000,000.00</a:t>
            </a:r>
          </a:p>
          <a:p>
            <a:pPr algn="just">
              <a:lnSpc>
                <a:spcPts val="2568"/>
              </a:lnSpc>
            </a:pPr>
            <a:r>
              <a:rPr lang="en-US" sz="1134" spc="4">
                <a:solidFill>
                  <a:srgbClr val="000000"/>
                </a:solidFill>
                <a:latin typeface="Montserrat"/>
                <a:ea typeface="Montserrat"/>
                <a:cs typeface="Montserrat"/>
                <a:sym typeface="Montserrat"/>
              </a:rPr>
              <a:t>Integrity Mgmt&amp; Services (MIA No. 15754)</a:t>
            </a:r>
          </a:p>
          <a:p>
            <a:pPr algn="just">
              <a:lnSpc>
                <a:spcPts val="2835"/>
              </a:lnSpc>
            </a:pPr>
            <a:r>
              <a:rPr lang="en-US" sz="1134" spc="4">
                <a:solidFill>
                  <a:srgbClr val="000000"/>
                </a:solidFill>
                <a:latin typeface="Montserrat"/>
                <a:ea typeface="Montserrat"/>
                <a:cs typeface="Montserrat"/>
                <a:sym typeface="Montserrat"/>
              </a:rPr>
              <a:t>AzwatiHanim&amp; Co (AF 1962) </a:t>
            </a:r>
          </a:p>
          <a:p>
            <a:pPr algn="just">
              <a:lnSpc>
                <a:spcPts val="2567"/>
              </a:lnSpc>
            </a:pPr>
            <a:r>
              <a:rPr lang="en-US" sz="1134" spc="4">
                <a:solidFill>
                  <a:srgbClr val="000000"/>
                </a:solidFill>
                <a:latin typeface="Montserrat"/>
                <a:ea typeface="Montserrat"/>
                <a:cs typeface="Montserrat"/>
                <a:sym typeface="Montserrat"/>
              </a:rPr>
              <a:t>Construction: </a:t>
            </a:r>
          </a:p>
          <a:p>
            <a:pPr algn="just">
              <a:lnSpc>
                <a:spcPts val="567"/>
              </a:lnSpc>
            </a:pPr>
            <a:r>
              <a:rPr lang="en-US" sz="1134" spc="4">
                <a:solidFill>
                  <a:srgbClr val="000000"/>
                </a:solidFill>
                <a:latin typeface="Montserrat"/>
                <a:ea typeface="Montserrat"/>
                <a:cs typeface="Montserrat"/>
                <a:sym typeface="Montserrat"/>
              </a:rPr>
              <a:t>(i) Civil &amp; Structural</a:t>
            </a:r>
          </a:p>
          <a:p>
            <a:pPr algn="just">
              <a:lnSpc>
                <a:spcPts val="2101"/>
              </a:lnSpc>
            </a:pPr>
            <a:r>
              <a:rPr lang="en-US" sz="1134" spc="4">
                <a:solidFill>
                  <a:srgbClr val="000000"/>
                </a:solidFill>
                <a:latin typeface="Montserrat"/>
                <a:ea typeface="Montserrat"/>
                <a:cs typeface="Montserrat"/>
                <a:sym typeface="Montserrat"/>
              </a:rPr>
              <a:t>-Building, Roadwork &amp; Infrastructural, </a:t>
            </a:r>
          </a:p>
          <a:p>
            <a:pPr algn="just">
              <a:lnSpc>
                <a:spcPts val="634"/>
              </a:lnSpc>
            </a:pPr>
            <a:r>
              <a:rPr lang="en-US" sz="1134" spc="4">
                <a:solidFill>
                  <a:srgbClr val="000000"/>
                </a:solidFill>
                <a:latin typeface="Montserrat"/>
                <a:ea typeface="Montserrat"/>
                <a:cs typeface="Montserrat"/>
                <a:sym typeface="Montserrat"/>
              </a:rPr>
              <a:t>Bridges &amp; Designing </a:t>
            </a:r>
          </a:p>
          <a:p>
            <a:pPr algn="just">
              <a:lnSpc>
                <a:spcPts val="2033"/>
              </a:lnSpc>
            </a:pPr>
            <a:r>
              <a:rPr lang="en-US" sz="1134" spc="4">
                <a:solidFill>
                  <a:srgbClr val="000000"/>
                </a:solidFill>
                <a:latin typeface="Montserrat"/>
                <a:ea typeface="Montserrat"/>
                <a:cs typeface="Montserrat"/>
                <a:sym typeface="Montserrat"/>
              </a:rPr>
              <a:t>(ii) Electrical &amp; Mechanical</a:t>
            </a:r>
          </a:p>
          <a:p>
            <a:pPr algn="just">
              <a:lnSpc>
                <a:spcPts val="702"/>
              </a:lnSpc>
            </a:pPr>
            <a:r>
              <a:rPr lang="en-US" sz="1134" spc="4">
                <a:solidFill>
                  <a:srgbClr val="000000"/>
                </a:solidFill>
                <a:latin typeface="Montserrat"/>
                <a:ea typeface="Montserrat"/>
                <a:cs typeface="Montserrat"/>
                <a:sym typeface="Montserrat"/>
              </a:rPr>
              <a:t>-Building Services, Domestic Wiring, </a:t>
            </a:r>
          </a:p>
          <a:p>
            <a:pPr algn="just">
              <a:lnSpc>
                <a:spcPts val="1967"/>
              </a:lnSpc>
            </a:pPr>
            <a:r>
              <a:rPr lang="en-US" sz="1134" spc="4">
                <a:solidFill>
                  <a:srgbClr val="000000"/>
                </a:solidFill>
                <a:latin typeface="Montserrat"/>
                <a:ea typeface="Montserrat"/>
                <a:cs typeface="Montserrat"/>
                <a:sym typeface="Montserrat"/>
              </a:rPr>
              <a:t>Overhead Transmission, Fire Fighting, </a:t>
            </a:r>
          </a:p>
          <a:p>
            <a:pPr algn="just">
              <a:lnSpc>
                <a:spcPts val="700"/>
              </a:lnSpc>
            </a:pPr>
            <a:r>
              <a:rPr lang="en-US" sz="1134" spc="4">
                <a:solidFill>
                  <a:srgbClr val="000000"/>
                </a:solidFill>
                <a:latin typeface="Montserrat"/>
                <a:ea typeface="Montserrat"/>
                <a:cs typeface="Montserrat"/>
                <a:sym typeface="Montserrat"/>
              </a:rPr>
              <a:t>Air Conditioning &amp; Designing </a:t>
            </a:r>
          </a:p>
        </p:txBody>
      </p:sp>
      <p:sp>
        <p:nvSpPr>
          <p:cNvPr name="TextBox 14" id="14"/>
          <p:cNvSpPr txBox="true"/>
          <p:nvPr/>
        </p:nvSpPr>
        <p:spPr>
          <a:xfrm rot="0">
            <a:off x="5696807" y="1452382"/>
            <a:ext cx="79613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1126865" y="3061964"/>
            <a:ext cx="5327523" cy="6813566"/>
          </a:xfrm>
          <a:custGeom>
            <a:avLst/>
            <a:gdLst/>
            <a:ahLst/>
            <a:cxnLst/>
            <a:rect r="r" b="b" t="t" l="l"/>
            <a:pathLst>
              <a:path h="6813566" w="5327523">
                <a:moveTo>
                  <a:pt x="0" y="0"/>
                </a:moveTo>
                <a:lnTo>
                  <a:pt x="5327523" y="0"/>
                </a:lnTo>
                <a:lnTo>
                  <a:pt x="5327523" y="6813566"/>
                </a:lnTo>
                <a:lnTo>
                  <a:pt x="0" y="6813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TextBox 7" id="7"/>
          <p:cNvSpPr txBox="true"/>
          <p:nvPr/>
        </p:nvSpPr>
        <p:spPr>
          <a:xfrm rot="0">
            <a:off x="1291352" y="1730150"/>
            <a:ext cx="3909412" cy="1060323"/>
          </a:xfrm>
          <a:prstGeom prst="rect">
            <a:avLst/>
          </a:prstGeom>
        </p:spPr>
        <p:txBody>
          <a:bodyPr anchor="t" rtlCol="false" tIns="0" lIns="0" bIns="0" rIns="0">
            <a:spAutoFit/>
          </a:bodyPr>
          <a:lstStyle/>
          <a:p>
            <a:pPr algn="l">
              <a:lnSpc>
                <a:spcPts val="4003"/>
              </a:lnSpc>
            </a:pPr>
            <a:r>
              <a:rPr lang="en-US" sz="4003" spc="16">
                <a:solidFill>
                  <a:srgbClr val="070707"/>
                </a:solidFill>
                <a:latin typeface="Montserrat"/>
                <a:ea typeface="Montserrat"/>
                <a:cs typeface="Montserrat"/>
                <a:sym typeface="Montserrat"/>
              </a:rPr>
              <a:t>COMPANY BACKGROUND</a:t>
            </a:r>
          </a:p>
        </p:txBody>
      </p:sp>
      <p:sp>
        <p:nvSpPr>
          <p:cNvPr name="TextBox 8" id="8"/>
          <p:cNvSpPr txBox="true"/>
          <p:nvPr/>
        </p:nvSpPr>
        <p:spPr>
          <a:xfrm rot="0">
            <a:off x="1489958" y="3255188"/>
            <a:ext cx="4674184" cy="2353418"/>
          </a:xfrm>
          <a:prstGeom prst="rect">
            <a:avLst/>
          </a:prstGeom>
        </p:spPr>
        <p:txBody>
          <a:bodyPr anchor="t" rtlCol="false" tIns="0" lIns="0" bIns="0" rIns="0">
            <a:spAutoFit/>
          </a:bodyPr>
          <a:lstStyle/>
          <a:p>
            <a:pPr algn="l">
              <a:lnSpc>
                <a:spcPts val="1694"/>
              </a:lnSpc>
            </a:pPr>
            <a:r>
              <a:rPr lang="en-US" sz="1134" spc="-7">
                <a:solidFill>
                  <a:srgbClr val="000000"/>
                </a:solidFill>
                <a:latin typeface="Montserrat"/>
                <a:ea typeface="Montserrat"/>
                <a:cs typeface="Montserrat"/>
                <a:sym typeface="Montserrat"/>
              </a:rPr>
              <a:t>UT Generation Sdn. Bhd. (UTGSB) was formerly known as Iringan KhidmatSdn. Bhd. and was incorporated on 25th October 1995. Its current official operational address is at No. 42A, Jalan Badminton 13/29, Section 13, 40100 Shah Alam, Selangor Darul Ehsan. The Company’s core business activities are mainly in the </a:t>
            </a:r>
          </a:p>
          <a:p>
            <a:pPr algn="l">
              <a:lnSpc>
                <a:spcPts val="1531"/>
              </a:lnSpc>
            </a:pPr>
            <a:r>
              <a:rPr lang="en-US" sz="1134" spc="-7">
                <a:solidFill>
                  <a:srgbClr val="000000"/>
                </a:solidFill>
                <a:latin typeface="Montserrat"/>
                <a:ea typeface="Montserrat"/>
                <a:cs typeface="Montserrat"/>
                <a:sym typeface="Montserrat"/>
              </a:rPr>
              <a:t>areas of Civil &amp; Structural and Mechanical &amp; Electrical </a:t>
            </a:r>
          </a:p>
          <a:p>
            <a:pPr algn="l">
              <a:lnSpc>
                <a:spcPts val="1871"/>
              </a:lnSpc>
            </a:pPr>
            <a:r>
              <a:rPr lang="en-US" sz="1134" spc="-7">
                <a:solidFill>
                  <a:srgbClr val="000000"/>
                </a:solidFill>
                <a:latin typeface="Montserrat"/>
                <a:ea typeface="Montserrat"/>
                <a:cs typeface="Montserrat"/>
                <a:sym typeface="Montserrat"/>
              </a:rPr>
              <a:t>Engineering works. The Company is managed by a team of </a:t>
            </a:r>
          </a:p>
          <a:p>
            <a:pPr algn="l">
              <a:lnSpc>
                <a:spcPts val="1463"/>
              </a:lnSpc>
            </a:pPr>
            <a:r>
              <a:rPr lang="en-US" sz="1134" spc="-7">
                <a:solidFill>
                  <a:srgbClr val="000000"/>
                </a:solidFill>
                <a:latin typeface="Montserrat"/>
                <a:ea typeface="Montserrat"/>
                <a:cs typeface="Montserrat"/>
                <a:sym typeface="Montserrat"/>
              </a:rPr>
              <a:t>result-oriented, energetic and visionary professionals entrusted </a:t>
            </a:r>
          </a:p>
          <a:p>
            <a:pPr algn="l">
              <a:lnSpc>
                <a:spcPts val="1939"/>
              </a:lnSpc>
            </a:pPr>
            <a:r>
              <a:rPr lang="en-US" sz="1134" spc="-7">
                <a:solidFill>
                  <a:srgbClr val="000000"/>
                </a:solidFill>
                <a:latin typeface="Montserrat"/>
                <a:ea typeface="Montserrat"/>
                <a:cs typeface="Montserrat"/>
                <a:sym typeface="Montserrat"/>
              </a:rPr>
              <a:t>to carry out tasks in the Construction Industry in particular, </a:t>
            </a:r>
          </a:p>
          <a:p>
            <a:pPr algn="l">
              <a:lnSpc>
                <a:spcPts val="1395"/>
              </a:lnSpc>
            </a:pPr>
            <a:r>
              <a:rPr lang="en-US" sz="1134" spc="-7">
                <a:solidFill>
                  <a:srgbClr val="000000"/>
                </a:solidFill>
                <a:latin typeface="Montserrat"/>
                <a:ea typeface="Montserrat"/>
                <a:cs typeface="Montserrat"/>
                <a:sym typeface="Montserrat"/>
              </a:rPr>
              <a:t>Design &amp; Implementation of Overhead Transmission Systems, </a:t>
            </a:r>
          </a:p>
          <a:p>
            <a:pPr algn="l">
              <a:lnSpc>
                <a:spcPts val="2007"/>
              </a:lnSpc>
            </a:pPr>
            <a:r>
              <a:rPr lang="en-US" sz="1134" spc="-7">
                <a:solidFill>
                  <a:srgbClr val="000000"/>
                </a:solidFill>
                <a:latin typeface="Montserrat"/>
                <a:ea typeface="Montserrat"/>
                <a:cs typeface="Montserrat"/>
                <a:sym typeface="Montserrat"/>
              </a:rPr>
              <a:t>Domestic &amp; Industrial Wirings and Infrastructure Works. </a:t>
            </a:r>
          </a:p>
        </p:txBody>
      </p:sp>
      <p:sp>
        <p:nvSpPr>
          <p:cNvPr name="TextBox 9" id="9"/>
          <p:cNvSpPr txBox="true"/>
          <p:nvPr/>
        </p:nvSpPr>
        <p:spPr>
          <a:xfrm rot="0">
            <a:off x="1489958" y="5708266"/>
            <a:ext cx="4631360" cy="1611935"/>
          </a:xfrm>
          <a:prstGeom prst="rect">
            <a:avLst/>
          </a:prstGeom>
        </p:spPr>
        <p:txBody>
          <a:bodyPr anchor="t" rtlCol="false" tIns="0" lIns="0" bIns="0" rIns="0">
            <a:spAutoFit/>
          </a:bodyPr>
          <a:lstStyle/>
          <a:p>
            <a:pPr algn="l">
              <a:lnSpc>
                <a:spcPts val="2835"/>
              </a:lnSpc>
            </a:pPr>
            <a:r>
              <a:rPr lang="en-US" sz="1134" spc="-7">
                <a:solidFill>
                  <a:srgbClr val="000000"/>
                </a:solidFill>
                <a:latin typeface="Montserrat"/>
                <a:ea typeface="Montserrat"/>
                <a:cs typeface="Montserrat"/>
                <a:sym typeface="Montserrat"/>
              </a:rPr>
              <a:t>With vast experiences of over 28 years in Consulting and </a:t>
            </a:r>
          </a:p>
          <a:p>
            <a:pPr algn="l">
              <a:lnSpc>
                <a:spcPts val="567"/>
              </a:lnSpc>
            </a:pPr>
            <a:r>
              <a:rPr lang="en-US" sz="1134" spc="-7">
                <a:solidFill>
                  <a:srgbClr val="000000"/>
                </a:solidFill>
                <a:latin typeface="Montserrat"/>
                <a:ea typeface="Montserrat"/>
                <a:cs typeface="Montserrat"/>
                <a:sym typeface="Montserrat"/>
              </a:rPr>
              <a:t>Construction sectors, the founders of UTGSB, Ir. ZainudinMohd</a:t>
            </a:r>
          </a:p>
          <a:p>
            <a:pPr algn="l">
              <a:lnSpc>
                <a:spcPts val="2835"/>
              </a:lnSpc>
            </a:pPr>
            <a:r>
              <a:rPr lang="en-US" sz="1134" spc="-7">
                <a:solidFill>
                  <a:srgbClr val="000000"/>
                </a:solidFill>
                <a:latin typeface="Montserrat"/>
                <a:ea typeface="Montserrat"/>
                <a:cs typeface="Montserrat"/>
                <a:sym typeface="Montserrat"/>
              </a:rPr>
              <a:t>Sallehand SulzailyA. Hamid had today embarked more </a:t>
            </a:r>
          </a:p>
          <a:p>
            <a:pPr algn="l">
              <a:lnSpc>
                <a:spcPts val="567"/>
              </a:lnSpc>
            </a:pPr>
            <a:r>
              <a:rPr lang="en-US" sz="1134" spc="-7">
                <a:solidFill>
                  <a:srgbClr val="000000"/>
                </a:solidFill>
                <a:latin typeface="Montserrat"/>
                <a:ea typeface="Montserrat"/>
                <a:cs typeface="Montserrat"/>
                <a:sym typeface="Montserrat"/>
              </a:rPr>
              <a:t>aggressively into realizing the Company’s goal to be a Leader in </a:t>
            </a:r>
          </a:p>
          <a:p>
            <a:pPr algn="l">
              <a:lnSpc>
                <a:spcPts val="2835"/>
              </a:lnSpc>
            </a:pPr>
            <a:r>
              <a:rPr lang="en-US" sz="1134" spc="-7">
                <a:solidFill>
                  <a:srgbClr val="000000"/>
                </a:solidFill>
                <a:latin typeface="Montserrat"/>
                <a:ea typeface="Montserrat"/>
                <a:cs typeface="Montserrat"/>
                <a:sym typeface="Montserrat"/>
              </a:rPr>
              <a:t>the Construction Industry by delivering the Highest level of </a:t>
            </a:r>
          </a:p>
          <a:p>
            <a:pPr algn="l">
              <a:lnSpc>
                <a:spcPts val="567"/>
              </a:lnSpc>
            </a:pPr>
            <a:r>
              <a:rPr lang="en-US" sz="1134" spc="-7">
                <a:solidFill>
                  <a:srgbClr val="000000"/>
                </a:solidFill>
                <a:latin typeface="Montserrat"/>
                <a:ea typeface="Montserrat"/>
                <a:cs typeface="Montserrat"/>
                <a:sym typeface="Montserrat"/>
              </a:rPr>
              <a:t>Service Excellence through Consistency in Quality, </a:t>
            </a:r>
          </a:p>
          <a:p>
            <a:pPr algn="l">
              <a:lnSpc>
                <a:spcPts val="2835"/>
              </a:lnSpc>
            </a:pPr>
            <a:r>
              <a:rPr lang="en-US" sz="1134" spc="-7">
                <a:solidFill>
                  <a:srgbClr val="000000"/>
                </a:solidFill>
                <a:latin typeface="Montserrat"/>
                <a:ea typeface="Montserrat"/>
                <a:cs typeface="Montserrat"/>
                <a:sym typeface="Montserrat"/>
              </a:rPr>
              <a:t>Professionalism, Honesty, Trust and Integrity. </a:t>
            </a:r>
          </a:p>
        </p:txBody>
      </p:sp>
      <p:sp>
        <p:nvSpPr>
          <p:cNvPr name="TextBox 10" id="10"/>
          <p:cNvSpPr txBox="true"/>
          <p:nvPr/>
        </p:nvSpPr>
        <p:spPr>
          <a:xfrm rot="0">
            <a:off x="1489958" y="7419851"/>
            <a:ext cx="4681099" cy="2039826"/>
          </a:xfrm>
          <a:prstGeom prst="rect">
            <a:avLst/>
          </a:prstGeom>
        </p:spPr>
        <p:txBody>
          <a:bodyPr anchor="t" rtlCol="false" tIns="0" lIns="0" bIns="0" rIns="0">
            <a:spAutoFit/>
          </a:bodyPr>
          <a:lstStyle/>
          <a:p>
            <a:pPr algn="l">
              <a:lnSpc>
                <a:spcPts val="2835"/>
              </a:lnSpc>
            </a:pPr>
            <a:r>
              <a:rPr lang="en-US" sz="1134" spc="-7">
                <a:solidFill>
                  <a:srgbClr val="000000"/>
                </a:solidFill>
                <a:latin typeface="Montserrat"/>
                <a:ea typeface="Montserrat"/>
                <a:cs typeface="Montserrat"/>
                <a:sym typeface="Montserrat"/>
              </a:rPr>
              <a:t>UTGSB is a 100% Bumiputra-owned Company. The Company has </a:t>
            </a:r>
          </a:p>
          <a:p>
            <a:pPr algn="l">
              <a:lnSpc>
                <a:spcPts val="567"/>
              </a:lnSpc>
            </a:pPr>
            <a:r>
              <a:rPr lang="en-US" sz="1134" spc="-7">
                <a:solidFill>
                  <a:srgbClr val="000000"/>
                </a:solidFill>
                <a:latin typeface="Montserrat"/>
                <a:ea typeface="Montserrat"/>
                <a:cs typeface="Montserrat"/>
                <a:sym typeface="Montserrat"/>
              </a:rPr>
              <a:t>registered with PKK as Class ‘A’ &amp; Class ‘I’ Contractor with </a:t>
            </a:r>
          </a:p>
          <a:p>
            <a:pPr algn="l">
              <a:lnSpc>
                <a:spcPts val="2835"/>
              </a:lnSpc>
            </a:pPr>
            <a:r>
              <a:rPr lang="en-US" sz="1134" spc="-7">
                <a:solidFill>
                  <a:srgbClr val="000000"/>
                </a:solidFill>
                <a:latin typeface="Montserrat"/>
                <a:ea typeface="Montserrat"/>
                <a:cs typeface="Montserrat"/>
                <a:sym typeface="Montserrat"/>
              </a:rPr>
              <a:t>Bumiputrastatus, CIDB under Grade ‘7’, TNB as Class ‘A’ and </a:t>
            </a:r>
          </a:p>
          <a:p>
            <a:pPr algn="l">
              <a:lnSpc>
                <a:spcPts val="567"/>
              </a:lnSpc>
            </a:pPr>
            <a:r>
              <a:rPr lang="en-US" sz="1134" spc="-7">
                <a:solidFill>
                  <a:srgbClr val="000000"/>
                </a:solidFill>
                <a:latin typeface="Montserrat"/>
                <a:ea typeface="Montserrat"/>
                <a:cs typeface="Montserrat"/>
                <a:sym typeface="Montserrat"/>
              </a:rPr>
              <a:t>Class ‘I’ Contractor, SuruhanjayaTenaga as Class ‘A’ Contractor, </a:t>
            </a:r>
          </a:p>
          <a:p>
            <a:pPr algn="l">
              <a:lnSpc>
                <a:spcPts val="2835"/>
              </a:lnSpc>
            </a:pPr>
            <a:r>
              <a:rPr lang="en-US" sz="1134" spc="-7">
                <a:solidFill>
                  <a:srgbClr val="000000"/>
                </a:solidFill>
                <a:latin typeface="Montserrat"/>
                <a:ea typeface="Montserrat"/>
                <a:cs typeface="Montserrat"/>
                <a:sym typeface="Montserrat"/>
              </a:rPr>
              <a:t>Ministry of Finance with Bumiputrastatus, FELDA Holdings </a:t>
            </a:r>
          </a:p>
          <a:p>
            <a:pPr algn="l">
              <a:lnSpc>
                <a:spcPts val="567"/>
              </a:lnSpc>
            </a:pPr>
            <a:r>
              <a:rPr lang="en-US" sz="1134" spc="-7">
                <a:solidFill>
                  <a:srgbClr val="000000"/>
                </a:solidFill>
                <a:latin typeface="Montserrat"/>
                <a:ea typeface="Montserrat"/>
                <a:cs typeface="Montserrat"/>
                <a:sym typeface="Montserrat"/>
              </a:rPr>
              <a:t>Berhadand various private sectors. UTGSB is professionally-</a:t>
            </a:r>
          </a:p>
          <a:p>
            <a:pPr algn="l">
              <a:lnSpc>
                <a:spcPts val="2835"/>
              </a:lnSpc>
            </a:pPr>
            <a:r>
              <a:rPr lang="en-US" sz="1134" spc="-7">
                <a:solidFill>
                  <a:srgbClr val="000000"/>
                </a:solidFill>
                <a:latin typeface="Montserrat"/>
                <a:ea typeface="Montserrat"/>
                <a:cs typeface="Montserrat"/>
                <a:sym typeface="Montserrat"/>
              </a:rPr>
              <a:t>positioned, well recognized and accepted in the business circles </a:t>
            </a:r>
          </a:p>
          <a:p>
            <a:pPr algn="l">
              <a:lnSpc>
                <a:spcPts val="567"/>
              </a:lnSpc>
            </a:pPr>
            <a:r>
              <a:rPr lang="en-US" sz="1134" spc="-7">
                <a:solidFill>
                  <a:srgbClr val="000000"/>
                </a:solidFill>
                <a:latin typeface="Montserrat"/>
                <a:ea typeface="Montserrat"/>
                <a:cs typeface="Montserrat"/>
                <a:sym typeface="Montserrat"/>
              </a:rPr>
              <a:t>and enjoys good reputation and accreditation from clients and </a:t>
            </a:r>
          </a:p>
          <a:p>
            <a:pPr algn="l">
              <a:lnSpc>
                <a:spcPts val="2835"/>
              </a:lnSpc>
            </a:pPr>
            <a:r>
              <a:rPr lang="en-US" sz="1134" spc="-7">
                <a:solidFill>
                  <a:srgbClr val="000000"/>
                </a:solidFill>
                <a:latin typeface="Montserrat"/>
                <a:ea typeface="Montserrat"/>
                <a:cs typeface="Montserrat"/>
                <a:sym typeface="Montserrat"/>
              </a:rPr>
              <a:t>consultants alike. </a:t>
            </a:r>
          </a:p>
        </p:txBody>
      </p:sp>
      <p:sp>
        <p:nvSpPr>
          <p:cNvPr name="TextBox 11" id="11"/>
          <p:cNvSpPr txBox="true"/>
          <p:nvPr/>
        </p:nvSpPr>
        <p:spPr>
          <a:xfrm rot="0">
            <a:off x="5696807" y="1452382"/>
            <a:ext cx="932469"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434732" y="3768585"/>
            <a:ext cx="4665145" cy="2449220"/>
            <a:chOff x="0" y="0"/>
            <a:chExt cx="6220193" cy="3265627"/>
          </a:xfrm>
        </p:grpSpPr>
        <p:sp>
          <p:nvSpPr>
            <p:cNvPr name="Freeform 4" id="4"/>
            <p:cNvSpPr/>
            <p:nvPr/>
          </p:nvSpPr>
          <p:spPr>
            <a:xfrm flipH="false" flipV="false" rot="0">
              <a:off x="0" y="0"/>
              <a:ext cx="6220206" cy="3265678"/>
            </a:xfrm>
            <a:custGeom>
              <a:avLst/>
              <a:gdLst/>
              <a:ahLst/>
              <a:cxnLst/>
              <a:rect r="r" b="b" t="t" l="l"/>
              <a:pathLst>
                <a:path h="3265678" w="6220206">
                  <a:moveTo>
                    <a:pt x="138049" y="0"/>
                  </a:moveTo>
                  <a:cubicBezTo>
                    <a:pt x="62230" y="0"/>
                    <a:pt x="0" y="60960"/>
                    <a:pt x="0" y="135763"/>
                  </a:cubicBezTo>
                  <a:lnTo>
                    <a:pt x="0" y="3129915"/>
                  </a:lnTo>
                  <a:cubicBezTo>
                    <a:pt x="0" y="3204591"/>
                    <a:pt x="62230" y="3265678"/>
                    <a:pt x="138049" y="3265678"/>
                  </a:cubicBezTo>
                  <a:lnTo>
                    <a:pt x="6082157" y="3265678"/>
                  </a:lnTo>
                  <a:cubicBezTo>
                    <a:pt x="6158103" y="3265678"/>
                    <a:pt x="6220206" y="3204718"/>
                    <a:pt x="6220206" y="3129915"/>
                  </a:cubicBezTo>
                  <a:lnTo>
                    <a:pt x="6220206" y="135763"/>
                  </a:lnTo>
                  <a:cubicBezTo>
                    <a:pt x="6220206" y="60960"/>
                    <a:pt x="6157976" y="0"/>
                    <a:pt x="6082157" y="0"/>
                  </a:cubicBezTo>
                  <a:close/>
                </a:path>
              </a:pathLst>
            </a:custGeom>
            <a:blipFill>
              <a:blip r:embed="rId4"/>
              <a:stretch>
                <a:fillRect l="-6713" t="0" r="-6712" b="1"/>
              </a:stretch>
            </a:blipFill>
          </p:spPr>
        </p:sp>
      </p:grpSp>
      <p:sp>
        <p:nvSpPr>
          <p:cNvPr name="Freeform 5" id="5"/>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5"/>
            <a:stretch>
              <a:fillRect l="0" t="0" r="-101042" b="0"/>
            </a:stretch>
          </a:blipFill>
        </p:spPr>
      </p:sp>
      <p:sp>
        <p:nvSpPr>
          <p:cNvPr name="Freeform 6" id="6"/>
          <p:cNvSpPr/>
          <p:nvPr/>
        </p:nvSpPr>
        <p:spPr>
          <a:xfrm flipH="false" flipV="false" rot="0">
            <a:off x="254003" y="9146972"/>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5"/>
            <a:stretch>
              <a:fillRect l="-78651" t="0" r="-1" b="0"/>
            </a:stretch>
          </a:blipFill>
        </p:spPr>
      </p:sp>
      <p:sp>
        <p:nvSpPr>
          <p:cNvPr name="Freeform 7" id="7"/>
          <p:cNvSpPr/>
          <p:nvPr/>
        </p:nvSpPr>
        <p:spPr>
          <a:xfrm flipH="false" flipV="false" rot="0">
            <a:off x="1371229" y="6036774"/>
            <a:ext cx="4792142" cy="975331"/>
          </a:xfrm>
          <a:custGeom>
            <a:avLst/>
            <a:gdLst/>
            <a:ahLst/>
            <a:cxnLst/>
            <a:rect r="r" b="b" t="t" l="l"/>
            <a:pathLst>
              <a:path h="975331" w="4792142">
                <a:moveTo>
                  <a:pt x="0" y="0"/>
                </a:moveTo>
                <a:lnTo>
                  <a:pt x="4792141" y="0"/>
                </a:lnTo>
                <a:lnTo>
                  <a:pt x="4792141" y="975331"/>
                </a:lnTo>
                <a:lnTo>
                  <a:pt x="0" y="9753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520928" y="6368967"/>
            <a:ext cx="206759" cy="310944"/>
          </a:xfrm>
          <a:custGeom>
            <a:avLst/>
            <a:gdLst/>
            <a:ahLst/>
            <a:cxnLst/>
            <a:rect r="r" b="b" t="t" l="l"/>
            <a:pathLst>
              <a:path h="310944" w="206759">
                <a:moveTo>
                  <a:pt x="0" y="0"/>
                </a:moveTo>
                <a:lnTo>
                  <a:pt x="206759" y="0"/>
                </a:lnTo>
                <a:lnTo>
                  <a:pt x="206759" y="310944"/>
                </a:lnTo>
                <a:lnTo>
                  <a:pt x="0" y="310944"/>
                </a:lnTo>
                <a:lnTo>
                  <a:pt x="0" y="0"/>
                </a:lnTo>
                <a:close/>
              </a:path>
            </a:pathLst>
          </a:custGeom>
          <a:blipFill>
            <a:blip r:embed="rId8"/>
            <a:stretch>
              <a:fillRect l="0" t="0" r="0" b="0"/>
            </a:stretch>
          </a:blipFill>
        </p:spPr>
      </p:sp>
      <p:sp>
        <p:nvSpPr>
          <p:cNvPr name="Freeform 9" id="9"/>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434732" y="7723737"/>
            <a:ext cx="4665135" cy="2024644"/>
          </a:xfrm>
          <a:custGeom>
            <a:avLst/>
            <a:gdLst/>
            <a:ahLst/>
            <a:cxnLst/>
            <a:rect r="r" b="b" t="t" l="l"/>
            <a:pathLst>
              <a:path h="2024644" w="4665135">
                <a:moveTo>
                  <a:pt x="0" y="0"/>
                </a:moveTo>
                <a:lnTo>
                  <a:pt x="4665135" y="0"/>
                </a:lnTo>
                <a:lnTo>
                  <a:pt x="4665135" y="2024643"/>
                </a:lnTo>
                <a:lnTo>
                  <a:pt x="0" y="2024643"/>
                </a:lnTo>
                <a:lnTo>
                  <a:pt x="0" y="0"/>
                </a:lnTo>
                <a:close/>
              </a:path>
            </a:pathLst>
          </a:custGeom>
          <a:blipFill>
            <a:blip r:embed="rId11"/>
            <a:stretch>
              <a:fillRect l="0" t="0" r="0" b="0"/>
            </a:stretch>
          </a:blipFill>
        </p:spPr>
      </p:sp>
      <p:sp>
        <p:nvSpPr>
          <p:cNvPr name="TextBox 11" id="11"/>
          <p:cNvSpPr txBox="true"/>
          <p:nvPr/>
        </p:nvSpPr>
        <p:spPr>
          <a:xfrm rot="0">
            <a:off x="1291352" y="1730150"/>
            <a:ext cx="2973200" cy="1060323"/>
          </a:xfrm>
          <a:prstGeom prst="rect">
            <a:avLst/>
          </a:prstGeom>
        </p:spPr>
        <p:txBody>
          <a:bodyPr anchor="t" rtlCol="false" tIns="0" lIns="0" bIns="0" rIns="0">
            <a:spAutoFit/>
          </a:bodyPr>
          <a:lstStyle/>
          <a:p>
            <a:pPr algn="l">
              <a:lnSpc>
                <a:spcPts val="4003"/>
              </a:lnSpc>
            </a:pPr>
            <a:r>
              <a:rPr lang="en-US" sz="4003" spc="16">
                <a:solidFill>
                  <a:srgbClr val="070707"/>
                </a:solidFill>
                <a:latin typeface="Montserrat"/>
                <a:ea typeface="Montserrat"/>
                <a:cs typeface="Montserrat"/>
                <a:sym typeface="Montserrat"/>
              </a:rPr>
              <a:t>COMPANY OVERVIEW</a:t>
            </a:r>
          </a:p>
        </p:txBody>
      </p:sp>
      <p:sp>
        <p:nvSpPr>
          <p:cNvPr name="TextBox 12" id="12"/>
          <p:cNvSpPr txBox="true"/>
          <p:nvPr/>
        </p:nvSpPr>
        <p:spPr>
          <a:xfrm rot="0">
            <a:off x="1434732" y="6914197"/>
            <a:ext cx="4773111" cy="768887"/>
          </a:xfrm>
          <a:prstGeom prst="rect">
            <a:avLst/>
          </a:prstGeom>
        </p:spPr>
        <p:txBody>
          <a:bodyPr anchor="t" rtlCol="false" tIns="0" lIns="0" bIns="0" rIns="0">
            <a:spAutoFit/>
          </a:bodyPr>
          <a:lstStyle/>
          <a:p>
            <a:pPr algn="l">
              <a:lnSpc>
                <a:spcPts val="2034"/>
              </a:lnSpc>
            </a:pPr>
            <a:r>
              <a:rPr lang="en-US" sz="1134" spc="-7">
                <a:solidFill>
                  <a:srgbClr val="000000"/>
                </a:solidFill>
                <a:latin typeface="Montserrat"/>
                <a:ea typeface="Montserrat"/>
                <a:cs typeface="Montserrat"/>
                <a:sym typeface="Montserrat"/>
              </a:rPr>
              <a:t>To be the leader in construction industry by delivering the highest level of service excellence through consistency in quality, honesty and integrity. </a:t>
            </a:r>
          </a:p>
        </p:txBody>
      </p:sp>
      <p:sp>
        <p:nvSpPr>
          <p:cNvPr name="TextBox 13" id="13"/>
          <p:cNvSpPr txBox="true"/>
          <p:nvPr/>
        </p:nvSpPr>
        <p:spPr>
          <a:xfrm rot="0">
            <a:off x="1582093" y="6191660"/>
            <a:ext cx="1764182" cy="611048"/>
          </a:xfrm>
          <a:prstGeom prst="rect">
            <a:avLst/>
          </a:prstGeom>
        </p:spPr>
        <p:txBody>
          <a:bodyPr anchor="t" rtlCol="false" tIns="0" lIns="0" bIns="0" rIns="0">
            <a:spAutoFit/>
          </a:bodyPr>
          <a:lstStyle/>
          <a:p>
            <a:pPr algn="l">
              <a:lnSpc>
                <a:spcPts val="4857"/>
              </a:lnSpc>
            </a:pPr>
            <a:r>
              <a:rPr lang="en-US" sz="3469" spc="208">
                <a:solidFill>
                  <a:srgbClr val="FFFFFF"/>
                </a:solidFill>
                <a:latin typeface="Montserrat"/>
                <a:ea typeface="Montserrat"/>
                <a:cs typeface="Montserrat"/>
                <a:sym typeface="Montserrat"/>
              </a:rPr>
              <a:t>VISION</a:t>
            </a:r>
          </a:p>
        </p:txBody>
      </p:sp>
      <p:sp>
        <p:nvSpPr>
          <p:cNvPr name="TextBox 14" id="14"/>
          <p:cNvSpPr txBox="true"/>
          <p:nvPr/>
        </p:nvSpPr>
        <p:spPr>
          <a:xfrm rot="0">
            <a:off x="5696807" y="1452382"/>
            <a:ext cx="93107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1434732" y="3768585"/>
            <a:ext cx="4665145" cy="2449220"/>
            <a:chOff x="0" y="0"/>
            <a:chExt cx="6220193" cy="3265627"/>
          </a:xfrm>
        </p:grpSpPr>
        <p:sp>
          <p:nvSpPr>
            <p:cNvPr name="Freeform 4" id="4"/>
            <p:cNvSpPr/>
            <p:nvPr/>
          </p:nvSpPr>
          <p:spPr>
            <a:xfrm flipH="false" flipV="false" rot="0">
              <a:off x="0" y="0"/>
              <a:ext cx="6220206" cy="3265678"/>
            </a:xfrm>
            <a:custGeom>
              <a:avLst/>
              <a:gdLst/>
              <a:ahLst/>
              <a:cxnLst/>
              <a:rect r="r" b="b" t="t" l="l"/>
              <a:pathLst>
                <a:path h="3265678" w="6220206">
                  <a:moveTo>
                    <a:pt x="138049" y="0"/>
                  </a:moveTo>
                  <a:cubicBezTo>
                    <a:pt x="62230" y="0"/>
                    <a:pt x="0" y="60960"/>
                    <a:pt x="0" y="135763"/>
                  </a:cubicBezTo>
                  <a:lnTo>
                    <a:pt x="0" y="3129915"/>
                  </a:lnTo>
                  <a:cubicBezTo>
                    <a:pt x="0" y="3204591"/>
                    <a:pt x="62230" y="3265678"/>
                    <a:pt x="138049" y="3265678"/>
                  </a:cubicBezTo>
                  <a:lnTo>
                    <a:pt x="6082157" y="3265678"/>
                  </a:lnTo>
                  <a:cubicBezTo>
                    <a:pt x="6158103" y="3265678"/>
                    <a:pt x="6220206" y="3204718"/>
                    <a:pt x="6220206" y="3129915"/>
                  </a:cubicBezTo>
                  <a:lnTo>
                    <a:pt x="6220206" y="135763"/>
                  </a:lnTo>
                  <a:cubicBezTo>
                    <a:pt x="6220206" y="60960"/>
                    <a:pt x="6157976" y="0"/>
                    <a:pt x="6082157" y="0"/>
                  </a:cubicBezTo>
                  <a:close/>
                </a:path>
              </a:pathLst>
            </a:custGeom>
            <a:blipFill>
              <a:blip r:embed="rId4"/>
              <a:stretch>
                <a:fillRect l="-11176" t="0" r="-11176" b="1"/>
              </a:stretch>
            </a:blipFill>
          </p:spPr>
        </p:sp>
      </p:grpSp>
      <p:sp>
        <p:nvSpPr>
          <p:cNvPr name="Freeform 5" id="5"/>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5"/>
            <a:stretch>
              <a:fillRect l="0" t="0" r="-101042" b="0"/>
            </a:stretch>
          </a:blipFill>
        </p:spPr>
      </p:sp>
      <p:sp>
        <p:nvSpPr>
          <p:cNvPr name="Freeform 6" id="6"/>
          <p:cNvSpPr/>
          <p:nvPr/>
        </p:nvSpPr>
        <p:spPr>
          <a:xfrm flipH="false" flipV="false" rot="0">
            <a:off x="254003" y="9146972"/>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5"/>
            <a:stretch>
              <a:fillRect l="-78651" t="0" r="-1" b="0"/>
            </a:stretch>
          </a:blipFill>
        </p:spPr>
      </p:sp>
      <p:sp>
        <p:nvSpPr>
          <p:cNvPr name="Freeform 7" id="7"/>
          <p:cNvSpPr/>
          <p:nvPr/>
        </p:nvSpPr>
        <p:spPr>
          <a:xfrm flipH="false" flipV="false" rot="0">
            <a:off x="1371229" y="6036774"/>
            <a:ext cx="4792142" cy="975331"/>
          </a:xfrm>
          <a:custGeom>
            <a:avLst/>
            <a:gdLst/>
            <a:ahLst/>
            <a:cxnLst/>
            <a:rect r="r" b="b" t="t" l="l"/>
            <a:pathLst>
              <a:path h="975331" w="4792142">
                <a:moveTo>
                  <a:pt x="0" y="0"/>
                </a:moveTo>
                <a:lnTo>
                  <a:pt x="4792141" y="0"/>
                </a:lnTo>
                <a:lnTo>
                  <a:pt x="4792141" y="975331"/>
                </a:lnTo>
                <a:lnTo>
                  <a:pt x="0" y="9753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520928" y="6368967"/>
            <a:ext cx="206759" cy="310944"/>
          </a:xfrm>
          <a:custGeom>
            <a:avLst/>
            <a:gdLst/>
            <a:ahLst/>
            <a:cxnLst/>
            <a:rect r="r" b="b" t="t" l="l"/>
            <a:pathLst>
              <a:path h="310944" w="206759">
                <a:moveTo>
                  <a:pt x="0" y="0"/>
                </a:moveTo>
                <a:lnTo>
                  <a:pt x="206759" y="0"/>
                </a:lnTo>
                <a:lnTo>
                  <a:pt x="206759" y="310944"/>
                </a:lnTo>
                <a:lnTo>
                  <a:pt x="0" y="310944"/>
                </a:lnTo>
                <a:lnTo>
                  <a:pt x="0" y="0"/>
                </a:lnTo>
                <a:close/>
              </a:path>
            </a:pathLst>
          </a:custGeom>
          <a:blipFill>
            <a:blip r:embed="rId8"/>
            <a:stretch>
              <a:fillRect l="0" t="0" r="0" b="0"/>
            </a:stretch>
          </a:blipFill>
        </p:spPr>
      </p:sp>
      <p:sp>
        <p:nvSpPr>
          <p:cNvPr name="Freeform 9" id="9"/>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1291352" y="1730150"/>
            <a:ext cx="2973200" cy="1060323"/>
          </a:xfrm>
          <a:prstGeom prst="rect">
            <a:avLst/>
          </a:prstGeom>
        </p:spPr>
        <p:txBody>
          <a:bodyPr anchor="t" rtlCol="false" tIns="0" lIns="0" bIns="0" rIns="0">
            <a:spAutoFit/>
          </a:bodyPr>
          <a:lstStyle/>
          <a:p>
            <a:pPr algn="l">
              <a:lnSpc>
                <a:spcPts val="4003"/>
              </a:lnSpc>
            </a:pPr>
            <a:r>
              <a:rPr lang="en-US" sz="4003" spc="16">
                <a:solidFill>
                  <a:srgbClr val="070707"/>
                </a:solidFill>
                <a:latin typeface="Montserrat"/>
                <a:ea typeface="Montserrat"/>
                <a:cs typeface="Montserrat"/>
                <a:sym typeface="Montserrat"/>
              </a:rPr>
              <a:t>COMPANY OVERVIEW</a:t>
            </a:r>
          </a:p>
        </p:txBody>
      </p:sp>
      <p:sp>
        <p:nvSpPr>
          <p:cNvPr name="TextBox 11" id="11"/>
          <p:cNvSpPr txBox="true"/>
          <p:nvPr/>
        </p:nvSpPr>
        <p:spPr>
          <a:xfrm rot="0">
            <a:off x="1434732" y="7073475"/>
            <a:ext cx="87211" cy="252041"/>
          </a:xfrm>
          <a:prstGeom prst="rect">
            <a:avLst/>
          </a:prstGeom>
        </p:spPr>
        <p:txBody>
          <a:bodyPr anchor="t" rtlCol="false" tIns="0" lIns="0" bIns="0" rIns="0">
            <a:spAutoFit/>
          </a:bodyPr>
          <a:lstStyle/>
          <a:p>
            <a:pPr algn="l">
              <a:lnSpc>
                <a:spcPts val="2012"/>
              </a:lnSpc>
            </a:pPr>
            <a:r>
              <a:rPr lang="en-US" sz="1134" spc="-7">
                <a:solidFill>
                  <a:srgbClr val="000000"/>
                </a:solidFill>
                <a:latin typeface="Montserrat"/>
                <a:ea typeface="Montserrat"/>
                <a:cs typeface="Montserrat"/>
                <a:sym typeface="Montserrat"/>
              </a:rPr>
              <a:t>1.</a:t>
            </a:r>
          </a:p>
        </p:txBody>
      </p:sp>
      <p:sp>
        <p:nvSpPr>
          <p:cNvPr name="TextBox 12" id="12"/>
          <p:cNvSpPr txBox="true"/>
          <p:nvPr/>
        </p:nvSpPr>
        <p:spPr>
          <a:xfrm rot="0">
            <a:off x="1647454" y="7073475"/>
            <a:ext cx="4527442" cy="768887"/>
          </a:xfrm>
          <a:prstGeom prst="rect">
            <a:avLst/>
          </a:prstGeom>
        </p:spPr>
        <p:txBody>
          <a:bodyPr anchor="t" rtlCol="false" tIns="0" lIns="0" bIns="0" rIns="0">
            <a:spAutoFit/>
          </a:bodyPr>
          <a:lstStyle/>
          <a:p>
            <a:pPr algn="l">
              <a:lnSpc>
                <a:spcPts val="2012"/>
              </a:lnSpc>
            </a:pPr>
            <a:r>
              <a:rPr lang="en-US" sz="1134" spc="-7">
                <a:solidFill>
                  <a:srgbClr val="000000"/>
                </a:solidFill>
                <a:latin typeface="Montserrat"/>
                <a:ea typeface="Montserrat"/>
                <a:cs typeface="Montserrat"/>
                <a:sym typeface="Montserrat"/>
              </a:rPr>
              <a:t>Responsive and proactive in finding solutions for our clients to build a lasting relationship through our professionalism and accountability </a:t>
            </a:r>
          </a:p>
        </p:txBody>
      </p:sp>
      <p:sp>
        <p:nvSpPr>
          <p:cNvPr name="TextBox 13" id="13"/>
          <p:cNvSpPr txBox="true"/>
          <p:nvPr/>
        </p:nvSpPr>
        <p:spPr>
          <a:xfrm rot="0">
            <a:off x="1434732" y="7844533"/>
            <a:ext cx="4443317" cy="252041"/>
          </a:xfrm>
          <a:prstGeom prst="rect">
            <a:avLst/>
          </a:prstGeom>
        </p:spPr>
        <p:txBody>
          <a:bodyPr anchor="t" rtlCol="false" tIns="0" lIns="0" bIns="0" rIns="0">
            <a:spAutoFit/>
          </a:bodyPr>
          <a:lstStyle/>
          <a:p>
            <a:pPr algn="l">
              <a:lnSpc>
                <a:spcPts val="2012"/>
              </a:lnSpc>
            </a:pPr>
            <a:r>
              <a:rPr lang="en-US" sz="1134" spc="-7">
                <a:solidFill>
                  <a:srgbClr val="000000"/>
                </a:solidFill>
                <a:latin typeface="Montserrat"/>
                <a:ea typeface="Montserrat"/>
                <a:cs typeface="Montserrat"/>
                <a:sym typeface="Montserrat"/>
              </a:rPr>
              <a:t>2.Be the most innovative and technology driven company in </a:t>
            </a:r>
          </a:p>
        </p:txBody>
      </p:sp>
      <p:sp>
        <p:nvSpPr>
          <p:cNvPr name="TextBox 14" id="14"/>
          <p:cNvSpPr txBox="true"/>
          <p:nvPr/>
        </p:nvSpPr>
        <p:spPr>
          <a:xfrm rot="0">
            <a:off x="1647454" y="8103013"/>
            <a:ext cx="1645025" cy="252041"/>
          </a:xfrm>
          <a:prstGeom prst="rect">
            <a:avLst/>
          </a:prstGeom>
        </p:spPr>
        <p:txBody>
          <a:bodyPr anchor="t" rtlCol="false" tIns="0" lIns="0" bIns="0" rIns="0">
            <a:spAutoFit/>
          </a:bodyPr>
          <a:lstStyle/>
          <a:p>
            <a:pPr algn="l">
              <a:lnSpc>
                <a:spcPts val="2012"/>
              </a:lnSpc>
            </a:pPr>
            <a:r>
              <a:rPr lang="en-US" sz="1134" spc="-7">
                <a:solidFill>
                  <a:srgbClr val="000000"/>
                </a:solidFill>
                <a:latin typeface="Montserrat"/>
                <a:ea typeface="Montserrat"/>
                <a:cs typeface="Montserrat"/>
                <a:sym typeface="Montserrat"/>
              </a:rPr>
              <a:t>rendering our services </a:t>
            </a:r>
          </a:p>
        </p:txBody>
      </p:sp>
      <p:sp>
        <p:nvSpPr>
          <p:cNvPr name="TextBox 15" id="15"/>
          <p:cNvSpPr txBox="true"/>
          <p:nvPr/>
        </p:nvSpPr>
        <p:spPr>
          <a:xfrm rot="0">
            <a:off x="1434732" y="8357159"/>
            <a:ext cx="4783969" cy="252041"/>
          </a:xfrm>
          <a:prstGeom prst="rect">
            <a:avLst/>
          </a:prstGeom>
        </p:spPr>
        <p:txBody>
          <a:bodyPr anchor="t" rtlCol="false" tIns="0" lIns="0" bIns="0" rIns="0">
            <a:spAutoFit/>
          </a:bodyPr>
          <a:lstStyle/>
          <a:p>
            <a:pPr algn="l">
              <a:lnSpc>
                <a:spcPts val="2012"/>
              </a:lnSpc>
            </a:pPr>
            <a:r>
              <a:rPr lang="en-US" sz="1134" spc="-7">
                <a:solidFill>
                  <a:srgbClr val="000000"/>
                </a:solidFill>
                <a:latin typeface="Montserrat"/>
                <a:ea typeface="Montserrat"/>
                <a:cs typeface="Montserrat"/>
                <a:sym typeface="Montserrat"/>
              </a:rPr>
              <a:t>3.Staff takes pride in working together to complete complex and </a:t>
            </a:r>
          </a:p>
        </p:txBody>
      </p:sp>
      <p:sp>
        <p:nvSpPr>
          <p:cNvPr name="TextBox 16" id="16"/>
          <p:cNvSpPr txBox="true"/>
          <p:nvPr/>
        </p:nvSpPr>
        <p:spPr>
          <a:xfrm rot="0">
            <a:off x="1647454" y="8606009"/>
            <a:ext cx="3526774" cy="261566"/>
          </a:xfrm>
          <a:prstGeom prst="rect">
            <a:avLst/>
          </a:prstGeom>
        </p:spPr>
        <p:txBody>
          <a:bodyPr anchor="t" rtlCol="false" tIns="0" lIns="0" bIns="0" rIns="0">
            <a:spAutoFit/>
          </a:bodyPr>
          <a:lstStyle/>
          <a:p>
            <a:pPr algn="l">
              <a:lnSpc>
                <a:spcPts val="2169"/>
              </a:lnSpc>
            </a:pPr>
            <a:r>
              <a:rPr lang="en-US" sz="1134" spc="-7">
                <a:solidFill>
                  <a:srgbClr val="000000"/>
                </a:solidFill>
                <a:latin typeface="Montserrat"/>
                <a:ea typeface="Montserrat"/>
                <a:cs typeface="Montserrat"/>
                <a:sym typeface="Montserrat"/>
              </a:rPr>
              <a:t>large scale projects through innovative practices </a:t>
            </a:r>
          </a:p>
        </p:txBody>
      </p:sp>
      <p:sp>
        <p:nvSpPr>
          <p:cNvPr name="TextBox 17" id="17"/>
          <p:cNvSpPr txBox="true"/>
          <p:nvPr/>
        </p:nvSpPr>
        <p:spPr>
          <a:xfrm rot="0">
            <a:off x="1582093" y="6191660"/>
            <a:ext cx="2133267" cy="611048"/>
          </a:xfrm>
          <a:prstGeom prst="rect">
            <a:avLst/>
          </a:prstGeom>
        </p:spPr>
        <p:txBody>
          <a:bodyPr anchor="t" rtlCol="false" tIns="0" lIns="0" bIns="0" rIns="0">
            <a:spAutoFit/>
          </a:bodyPr>
          <a:lstStyle/>
          <a:p>
            <a:pPr algn="l">
              <a:lnSpc>
                <a:spcPts val="4857"/>
              </a:lnSpc>
            </a:pPr>
            <a:r>
              <a:rPr lang="en-US" sz="3469" spc="204">
                <a:solidFill>
                  <a:srgbClr val="FFFFFF"/>
                </a:solidFill>
                <a:latin typeface="Montserrat"/>
                <a:ea typeface="Montserrat"/>
                <a:cs typeface="Montserrat"/>
                <a:sym typeface="Montserrat"/>
              </a:rPr>
              <a:t>MISSION</a:t>
            </a:r>
          </a:p>
        </p:txBody>
      </p:sp>
      <p:sp>
        <p:nvSpPr>
          <p:cNvPr name="TextBox 18" id="18"/>
          <p:cNvSpPr txBox="true"/>
          <p:nvPr/>
        </p:nvSpPr>
        <p:spPr>
          <a:xfrm rot="0">
            <a:off x="5696807" y="1452382"/>
            <a:ext cx="93107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1126865" y="2882617"/>
            <a:ext cx="5327523" cy="7363682"/>
          </a:xfrm>
          <a:custGeom>
            <a:avLst/>
            <a:gdLst/>
            <a:ahLst/>
            <a:cxnLst/>
            <a:rect r="r" b="b" t="t" l="l"/>
            <a:pathLst>
              <a:path h="7363682" w="5327523">
                <a:moveTo>
                  <a:pt x="0" y="0"/>
                </a:moveTo>
                <a:lnTo>
                  <a:pt x="5327523" y="0"/>
                </a:lnTo>
                <a:lnTo>
                  <a:pt x="5327523" y="7363683"/>
                </a:lnTo>
                <a:lnTo>
                  <a:pt x="0" y="73636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7" id="7"/>
          <p:cNvSpPr/>
          <p:nvPr/>
        </p:nvSpPr>
        <p:spPr>
          <a:xfrm flipH="false" flipV="false" rot="0">
            <a:off x="1458058" y="3189818"/>
            <a:ext cx="4665135" cy="583463"/>
          </a:xfrm>
          <a:custGeom>
            <a:avLst/>
            <a:gdLst/>
            <a:ahLst/>
            <a:cxnLst/>
            <a:rect r="r" b="b" t="t" l="l"/>
            <a:pathLst>
              <a:path h="583463" w="4665135">
                <a:moveTo>
                  <a:pt x="0" y="0"/>
                </a:moveTo>
                <a:lnTo>
                  <a:pt x="4665136" y="0"/>
                </a:lnTo>
                <a:lnTo>
                  <a:pt x="4665136" y="583463"/>
                </a:lnTo>
                <a:lnTo>
                  <a:pt x="0" y="58346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426454" y="6626200"/>
            <a:ext cx="4792142" cy="710470"/>
          </a:xfrm>
          <a:custGeom>
            <a:avLst/>
            <a:gdLst/>
            <a:ahLst/>
            <a:cxnLst/>
            <a:rect r="r" b="b" t="t" l="l"/>
            <a:pathLst>
              <a:path h="710470" w="4792142">
                <a:moveTo>
                  <a:pt x="0" y="0"/>
                </a:moveTo>
                <a:lnTo>
                  <a:pt x="4792142" y="0"/>
                </a:lnTo>
                <a:lnTo>
                  <a:pt x="4792142" y="710469"/>
                </a:lnTo>
                <a:lnTo>
                  <a:pt x="0" y="7104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5566648" y="3275362"/>
            <a:ext cx="343919" cy="344186"/>
          </a:xfrm>
          <a:custGeom>
            <a:avLst/>
            <a:gdLst/>
            <a:ahLst/>
            <a:cxnLst/>
            <a:rect r="r" b="b" t="t" l="l"/>
            <a:pathLst>
              <a:path h="344186" w="343919">
                <a:moveTo>
                  <a:pt x="0" y="0"/>
                </a:moveTo>
                <a:lnTo>
                  <a:pt x="343919" y="0"/>
                </a:lnTo>
                <a:lnTo>
                  <a:pt x="343919" y="344186"/>
                </a:lnTo>
                <a:lnTo>
                  <a:pt x="0" y="3441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15"/>
            <a:stretch>
              <a:fillRect l="0" t="0" r="0" b="0"/>
            </a:stretch>
          </a:blipFill>
        </p:spPr>
      </p:sp>
      <p:sp>
        <p:nvSpPr>
          <p:cNvPr name="Freeform 11" id="11"/>
          <p:cNvSpPr/>
          <p:nvPr/>
        </p:nvSpPr>
        <p:spPr>
          <a:xfrm flipH="false" flipV="false" rot="0">
            <a:off x="5666489" y="3338989"/>
            <a:ext cx="144247" cy="216922"/>
          </a:xfrm>
          <a:custGeom>
            <a:avLst/>
            <a:gdLst/>
            <a:ahLst/>
            <a:cxnLst/>
            <a:rect r="r" b="b" t="t" l="l"/>
            <a:pathLst>
              <a:path h="216922" w="144247">
                <a:moveTo>
                  <a:pt x="0" y="0"/>
                </a:moveTo>
                <a:lnTo>
                  <a:pt x="144247" y="0"/>
                </a:lnTo>
                <a:lnTo>
                  <a:pt x="144247" y="216922"/>
                </a:lnTo>
                <a:lnTo>
                  <a:pt x="0" y="216922"/>
                </a:lnTo>
                <a:lnTo>
                  <a:pt x="0" y="0"/>
                </a:lnTo>
                <a:close/>
              </a:path>
            </a:pathLst>
          </a:custGeom>
          <a:blipFill>
            <a:blip r:embed="rId15"/>
            <a:stretch>
              <a:fillRect l="0" t="0" r="0" b="-4"/>
            </a:stretch>
          </a:blipFill>
        </p:spPr>
      </p:sp>
      <p:sp>
        <p:nvSpPr>
          <p:cNvPr name="TextBox 12" id="12"/>
          <p:cNvSpPr txBox="true"/>
          <p:nvPr/>
        </p:nvSpPr>
        <p:spPr>
          <a:xfrm rot="0">
            <a:off x="1291352" y="1730150"/>
            <a:ext cx="3265913" cy="1060323"/>
          </a:xfrm>
          <a:prstGeom prst="rect">
            <a:avLst/>
          </a:prstGeom>
        </p:spPr>
        <p:txBody>
          <a:bodyPr anchor="t" rtlCol="false" tIns="0" lIns="0" bIns="0" rIns="0">
            <a:spAutoFit/>
          </a:bodyPr>
          <a:lstStyle/>
          <a:p>
            <a:pPr algn="l">
              <a:lnSpc>
                <a:spcPts val="4003"/>
              </a:lnSpc>
            </a:pPr>
            <a:r>
              <a:rPr lang="en-US" sz="4003" spc="16">
                <a:solidFill>
                  <a:srgbClr val="070707"/>
                </a:solidFill>
                <a:latin typeface="Montserrat"/>
                <a:ea typeface="Montserrat"/>
                <a:cs typeface="Montserrat"/>
                <a:sym typeface="Montserrat"/>
              </a:rPr>
              <a:t>DIRECTORS’ PROFILE</a:t>
            </a:r>
          </a:p>
        </p:txBody>
      </p:sp>
      <p:sp>
        <p:nvSpPr>
          <p:cNvPr name="TextBox 13" id="13"/>
          <p:cNvSpPr txBox="true"/>
          <p:nvPr/>
        </p:nvSpPr>
        <p:spPr>
          <a:xfrm rot="0">
            <a:off x="1489958" y="3755612"/>
            <a:ext cx="4720361" cy="2855471"/>
          </a:xfrm>
          <a:prstGeom prst="rect">
            <a:avLst/>
          </a:prstGeom>
        </p:spPr>
        <p:txBody>
          <a:bodyPr anchor="t" rtlCol="false" tIns="0" lIns="0" bIns="0" rIns="0">
            <a:spAutoFit/>
          </a:bodyPr>
          <a:lstStyle/>
          <a:p>
            <a:pPr algn="just">
              <a:lnSpc>
                <a:spcPts val="1497"/>
              </a:lnSpc>
            </a:pPr>
            <a:r>
              <a:rPr lang="en-US" sz="1134" spc="-7">
                <a:solidFill>
                  <a:srgbClr val="000000"/>
                </a:solidFill>
                <a:latin typeface="Montserrat"/>
                <a:ea typeface="Montserrat"/>
                <a:cs typeface="Montserrat"/>
                <a:sym typeface="Montserrat"/>
              </a:rPr>
              <a:t>Ir. ZainudinMohdSalleh, age 50, is an engineer by profession graduated from University of Toledo, Ohio, USA in Electrical Engineering and Computer Science. His first post upon his graduation was an engineer with Tenaga Nasional Berhadfor seven (7) years before he involved himself as a consultant with SSM Associates Sdn. Bhd. as associate partner. In 1999, he quit from SSM Associates Sdn. Bhd. and formed UT Generation Sdn. Bhd. as Managing Director and aggressively involved himself in the actual construction industry. His completed works including “Supply and Erect of TNB’s Transmission Substation Project for 132kV Ulu Melaka &amp; Teluk Apau”, “275/132kv GrikRehabilitation -Civil &amp; Electrical Work” and “PergauPower Station Semi-Permanent 275/33/11kv Station Supply (Phase 2) –Transformer Handling and Accessories Work”. </a:t>
            </a:r>
          </a:p>
        </p:txBody>
      </p:sp>
      <p:sp>
        <p:nvSpPr>
          <p:cNvPr name="TextBox 14" id="14"/>
          <p:cNvSpPr txBox="true"/>
          <p:nvPr/>
        </p:nvSpPr>
        <p:spPr>
          <a:xfrm rot="0">
            <a:off x="1502397" y="7338003"/>
            <a:ext cx="4755928" cy="2855471"/>
          </a:xfrm>
          <a:prstGeom prst="rect">
            <a:avLst/>
          </a:prstGeom>
        </p:spPr>
        <p:txBody>
          <a:bodyPr anchor="t" rtlCol="false" tIns="0" lIns="0" bIns="0" rIns="0">
            <a:spAutoFit/>
          </a:bodyPr>
          <a:lstStyle/>
          <a:p>
            <a:pPr algn="l">
              <a:lnSpc>
                <a:spcPts val="1497"/>
              </a:lnSpc>
            </a:pPr>
            <a:r>
              <a:rPr lang="en-US" sz="1134" spc="-7">
                <a:solidFill>
                  <a:srgbClr val="000000"/>
                </a:solidFill>
                <a:latin typeface="Montserrat"/>
                <a:ea typeface="Montserrat"/>
                <a:cs typeface="Montserrat"/>
                <a:sym typeface="Montserrat"/>
              </a:rPr>
              <a:t>SulzailyA. Hamid, age 50, is also an engineer by profession graduated from University Technology Malaysia in Civil Engineering. This partner/founder of UTGSB was also an engineer with Tenaga Nasional Berhadfor eight (8) years before he was attached to SSM Associates Sdn. Bhd. as a consultant. He is the partner/founder of UTGSB as presently holding a position as Executive Director. His completed works including “Relocation of 275kV and 132kV Overhead Transmission Line at JalanKewajipanSubang”, Merekabentuk, MembinaDan MenyiapkanBangunanPencawang PembahagiUtama(PPU) 33/11kV Wilayah Utara –PPU Adtec MahangKulim Kedah”, “Civil Works For 132/275kv TuankuJaafar Power Station Substation” and “Civil Works For 132/11kV Substation at MEC City Gambang, Kuantan Pahang. </a:t>
            </a:r>
          </a:p>
        </p:txBody>
      </p:sp>
      <p:sp>
        <p:nvSpPr>
          <p:cNvPr name="TextBox 15" id="15"/>
          <p:cNvSpPr txBox="true"/>
          <p:nvPr/>
        </p:nvSpPr>
        <p:spPr>
          <a:xfrm rot="0">
            <a:off x="5696807" y="1452382"/>
            <a:ext cx="985304"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04</a:t>
            </a:r>
          </a:p>
        </p:txBody>
      </p:sp>
      <p:sp>
        <p:nvSpPr>
          <p:cNvPr name="TextBox 16" id="16"/>
          <p:cNvSpPr txBox="true"/>
          <p:nvPr/>
        </p:nvSpPr>
        <p:spPr>
          <a:xfrm rot="0">
            <a:off x="1637319" y="6841988"/>
            <a:ext cx="2283533" cy="232715"/>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p:txBody>
      </p:sp>
      <p:sp>
        <p:nvSpPr>
          <p:cNvPr name="TextBox 17" id="17"/>
          <p:cNvSpPr txBox="true"/>
          <p:nvPr/>
        </p:nvSpPr>
        <p:spPr>
          <a:xfrm rot="0">
            <a:off x="1634033" y="3349714"/>
            <a:ext cx="2669543" cy="232715"/>
          </a:xfrm>
          <a:prstGeom prst="rect">
            <a:avLst/>
          </a:prstGeom>
        </p:spPr>
        <p:txBody>
          <a:bodyPr anchor="t" rtlCol="false" tIns="0" lIns="0" bIns="0" rIns="0">
            <a:spAutoFit/>
          </a:bodyPr>
          <a:lstStyle/>
          <a:p>
            <a:pPr algn="l">
              <a:lnSpc>
                <a:spcPts val="1821"/>
              </a:lnSpc>
            </a:pPr>
            <a:r>
              <a:rPr lang="en-US" sz="1301" spc="83">
                <a:solidFill>
                  <a:srgbClr val="FFFFFF"/>
                </a:solidFill>
                <a:latin typeface="Montserrat"/>
                <a:ea typeface="Montserrat"/>
                <a:cs typeface="Montserrat"/>
                <a:sym typeface="Montserrat"/>
              </a:rPr>
              <a:t>Ir. ZAINUDIN MOHD SALLEH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226268" y="3102740"/>
            <a:ext cx="5673395" cy="5103847"/>
            <a:chOff x="0" y="0"/>
            <a:chExt cx="5673395" cy="5103851"/>
          </a:xfrm>
        </p:grpSpPr>
        <p:sp>
          <p:nvSpPr>
            <p:cNvPr name="Freeform 8" id="8"/>
            <p:cNvSpPr/>
            <p:nvPr/>
          </p:nvSpPr>
          <p:spPr>
            <a:xfrm flipH="false" flipV="false" rot="0">
              <a:off x="1139698"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9" id="9"/>
            <p:cNvSpPr/>
            <p:nvPr/>
          </p:nvSpPr>
          <p:spPr>
            <a:xfrm flipH="false" flipV="false" rot="0">
              <a:off x="2447544"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10" id="10"/>
            <p:cNvSpPr/>
            <p:nvPr/>
          </p:nvSpPr>
          <p:spPr>
            <a:xfrm flipH="false" flipV="false" rot="0">
              <a:off x="2909189"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11" id="11"/>
            <p:cNvSpPr/>
            <p:nvPr/>
          </p:nvSpPr>
          <p:spPr>
            <a:xfrm flipH="false" flipV="false" rot="0">
              <a:off x="4469511"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12" id="12"/>
            <p:cNvSpPr/>
            <p:nvPr/>
          </p:nvSpPr>
          <p:spPr>
            <a:xfrm flipH="false" flipV="false" rot="0">
              <a:off x="63627" y="466344"/>
              <a:ext cx="5546217" cy="3175"/>
            </a:xfrm>
            <a:custGeom>
              <a:avLst/>
              <a:gdLst/>
              <a:ahLst/>
              <a:cxnLst/>
              <a:rect r="r" b="b" t="t" l="l"/>
              <a:pathLst>
                <a:path h="3175" w="5546217">
                  <a:moveTo>
                    <a:pt x="0" y="0"/>
                  </a:moveTo>
                  <a:lnTo>
                    <a:pt x="5546217" y="0"/>
                  </a:lnTo>
                  <a:lnTo>
                    <a:pt x="5546217" y="3175"/>
                  </a:lnTo>
                  <a:lnTo>
                    <a:pt x="0" y="3175"/>
                  </a:lnTo>
                  <a:close/>
                </a:path>
              </a:pathLst>
            </a:custGeom>
            <a:solidFill>
              <a:srgbClr val="000000"/>
            </a:solidFill>
          </p:spPr>
        </p:sp>
        <p:sp>
          <p:nvSpPr>
            <p:cNvPr name="Freeform 13" id="13"/>
            <p:cNvSpPr/>
            <p:nvPr/>
          </p:nvSpPr>
          <p:spPr>
            <a:xfrm flipH="false" flipV="false" rot="0">
              <a:off x="2447671" y="1027938"/>
              <a:ext cx="3162173" cy="3175"/>
            </a:xfrm>
            <a:custGeom>
              <a:avLst/>
              <a:gdLst/>
              <a:ahLst/>
              <a:cxnLst/>
              <a:rect r="r" b="b" t="t" l="l"/>
              <a:pathLst>
                <a:path h="3175" w="3162173">
                  <a:moveTo>
                    <a:pt x="0" y="0"/>
                  </a:moveTo>
                  <a:lnTo>
                    <a:pt x="3162173" y="0"/>
                  </a:lnTo>
                  <a:lnTo>
                    <a:pt x="3162173" y="3175"/>
                  </a:lnTo>
                  <a:lnTo>
                    <a:pt x="0" y="3175"/>
                  </a:lnTo>
                  <a:close/>
                </a:path>
              </a:pathLst>
            </a:custGeom>
            <a:solidFill>
              <a:srgbClr val="000000"/>
            </a:solidFill>
          </p:spPr>
        </p:sp>
        <p:sp>
          <p:nvSpPr>
            <p:cNvPr name="Freeform 14" id="14"/>
            <p:cNvSpPr/>
            <p:nvPr/>
          </p:nvSpPr>
          <p:spPr>
            <a:xfrm flipH="false" flipV="false" rot="0">
              <a:off x="2447671" y="1589532"/>
              <a:ext cx="3162173" cy="3175"/>
            </a:xfrm>
            <a:custGeom>
              <a:avLst/>
              <a:gdLst/>
              <a:ahLst/>
              <a:cxnLst/>
              <a:rect r="r" b="b" t="t" l="l"/>
              <a:pathLst>
                <a:path h="3175" w="3162173">
                  <a:moveTo>
                    <a:pt x="0" y="0"/>
                  </a:moveTo>
                  <a:lnTo>
                    <a:pt x="3162173" y="0"/>
                  </a:lnTo>
                  <a:lnTo>
                    <a:pt x="3162173" y="3175"/>
                  </a:lnTo>
                  <a:lnTo>
                    <a:pt x="0" y="3175"/>
                  </a:lnTo>
                  <a:close/>
                </a:path>
              </a:pathLst>
            </a:custGeom>
            <a:solidFill>
              <a:srgbClr val="000000"/>
            </a:solidFill>
          </p:spPr>
        </p:sp>
        <p:sp>
          <p:nvSpPr>
            <p:cNvPr name="Freeform 15" id="15"/>
            <p:cNvSpPr/>
            <p:nvPr/>
          </p:nvSpPr>
          <p:spPr>
            <a:xfrm flipH="false" flipV="false" rot="0">
              <a:off x="2447671" y="2151126"/>
              <a:ext cx="3162173" cy="3175"/>
            </a:xfrm>
            <a:custGeom>
              <a:avLst/>
              <a:gdLst/>
              <a:ahLst/>
              <a:cxnLst/>
              <a:rect r="r" b="b" t="t" l="l"/>
              <a:pathLst>
                <a:path h="3175" w="3162173">
                  <a:moveTo>
                    <a:pt x="0" y="0"/>
                  </a:moveTo>
                  <a:lnTo>
                    <a:pt x="3162173" y="0"/>
                  </a:lnTo>
                  <a:lnTo>
                    <a:pt x="3162173" y="3175"/>
                  </a:lnTo>
                  <a:lnTo>
                    <a:pt x="0" y="3175"/>
                  </a:lnTo>
                  <a:close/>
                </a:path>
              </a:pathLst>
            </a:custGeom>
            <a:solidFill>
              <a:srgbClr val="000000"/>
            </a:solidFill>
          </p:spPr>
        </p:sp>
        <p:sp>
          <p:nvSpPr>
            <p:cNvPr name="Freeform 16" id="16"/>
            <p:cNvSpPr/>
            <p:nvPr/>
          </p:nvSpPr>
          <p:spPr>
            <a:xfrm flipH="false" flipV="false" rot="0">
              <a:off x="2447671" y="2712720"/>
              <a:ext cx="3162173" cy="3175"/>
            </a:xfrm>
            <a:custGeom>
              <a:avLst/>
              <a:gdLst/>
              <a:ahLst/>
              <a:cxnLst/>
              <a:rect r="r" b="b" t="t" l="l"/>
              <a:pathLst>
                <a:path h="3175" w="3162173">
                  <a:moveTo>
                    <a:pt x="0" y="0"/>
                  </a:moveTo>
                  <a:lnTo>
                    <a:pt x="3162173" y="0"/>
                  </a:lnTo>
                  <a:lnTo>
                    <a:pt x="3162173" y="3175"/>
                  </a:lnTo>
                  <a:lnTo>
                    <a:pt x="0" y="3175"/>
                  </a:lnTo>
                  <a:close/>
                </a:path>
              </a:pathLst>
            </a:custGeom>
            <a:solidFill>
              <a:srgbClr val="000000"/>
            </a:solidFill>
          </p:spPr>
        </p:sp>
        <p:sp>
          <p:nvSpPr>
            <p:cNvPr name="Freeform 17" id="17"/>
            <p:cNvSpPr/>
            <p:nvPr/>
          </p:nvSpPr>
          <p:spPr>
            <a:xfrm flipH="false" flipV="false" rot="0">
              <a:off x="63627" y="3591814"/>
              <a:ext cx="5546217" cy="3175"/>
            </a:xfrm>
            <a:custGeom>
              <a:avLst/>
              <a:gdLst/>
              <a:ahLst/>
              <a:cxnLst/>
              <a:rect r="r" b="b" t="t" l="l"/>
              <a:pathLst>
                <a:path h="3175" w="5546217">
                  <a:moveTo>
                    <a:pt x="0" y="0"/>
                  </a:moveTo>
                  <a:lnTo>
                    <a:pt x="5546217" y="0"/>
                  </a:lnTo>
                  <a:lnTo>
                    <a:pt x="5546217" y="3175"/>
                  </a:lnTo>
                  <a:lnTo>
                    <a:pt x="0" y="3175"/>
                  </a:lnTo>
                  <a:close/>
                </a:path>
              </a:pathLst>
            </a:custGeom>
            <a:solidFill>
              <a:srgbClr val="000000"/>
            </a:solidFill>
          </p:spPr>
        </p:sp>
        <p:sp>
          <p:nvSpPr>
            <p:cNvPr name="Freeform 18" id="18"/>
            <p:cNvSpPr/>
            <p:nvPr/>
          </p:nvSpPr>
          <p:spPr>
            <a:xfrm flipH="false" flipV="false" rot="0">
              <a:off x="63627" y="4314444"/>
              <a:ext cx="5546217" cy="3175"/>
            </a:xfrm>
            <a:custGeom>
              <a:avLst/>
              <a:gdLst/>
              <a:ahLst/>
              <a:cxnLst/>
              <a:rect r="r" b="b" t="t" l="l"/>
              <a:pathLst>
                <a:path h="3175" w="5546217">
                  <a:moveTo>
                    <a:pt x="0" y="0"/>
                  </a:moveTo>
                  <a:lnTo>
                    <a:pt x="5546217" y="0"/>
                  </a:lnTo>
                  <a:lnTo>
                    <a:pt x="5546217" y="3175"/>
                  </a:lnTo>
                  <a:lnTo>
                    <a:pt x="0" y="3175"/>
                  </a:lnTo>
                  <a:close/>
                </a:path>
              </a:pathLst>
            </a:custGeom>
            <a:solidFill>
              <a:srgbClr val="000000"/>
            </a:solidFill>
          </p:spPr>
        </p:sp>
        <p:sp>
          <p:nvSpPr>
            <p:cNvPr name="Freeform 19" id="19"/>
            <p:cNvSpPr/>
            <p:nvPr/>
          </p:nvSpPr>
          <p:spPr>
            <a:xfrm flipH="false" flipV="false" rot="0">
              <a:off x="63500"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20" id="20"/>
            <p:cNvSpPr/>
            <p:nvPr/>
          </p:nvSpPr>
          <p:spPr>
            <a:xfrm flipH="false" flipV="false" rot="0">
              <a:off x="5606669" y="63627"/>
              <a:ext cx="3175" cy="4976622"/>
            </a:xfrm>
            <a:custGeom>
              <a:avLst/>
              <a:gdLst/>
              <a:ahLst/>
              <a:cxnLst/>
              <a:rect r="r" b="b" t="t" l="l"/>
              <a:pathLst>
                <a:path h="4976622" w="3175">
                  <a:moveTo>
                    <a:pt x="3175" y="0"/>
                  </a:moveTo>
                  <a:lnTo>
                    <a:pt x="3175" y="4976622"/>
                  </a:lnTo>
                  <a:lnTo>
                    <a:pt x="0" y="4976622"/>
                  </a:lnTo>
                  <a:lnTo>
                    <a:pt x="0" y="0"/>
                  </a:lnTo>
                  <a:close/>
                </a:path>
              </a:pathLst>
            </a:custGeom>
            <a:solidFill>
              <a:srgbClr val="000000"/>
            </a:solidFill>
          </p:spPr>
        </p:sp>
        <p:sp>
          <p:nvSpPr>
            <p:cNvPr name="Freeform 21" id="21"/>
            <p:cNvSpPr/>
            <p:nvPr/>
          </p:nvSpPr>
          <p:spPr>
            <a:xfrm flipH="false" flipV="false" rot="0">
              <a:off x="63627" y="63500"/>
              <a:ext cx="5546217" cy="3175"/>
            </a:xfrm>
            <a:custGeom>
              <a:avLst/>
              <a:gdLst/>
              <a:ahLst/>
              <a:cxnLst/>
              <a:rect r="r" b="b" t="t" l="l"/>
              <a:pathLst>
                <a:path h="3175" w="5546217">
                  <a:moveTo>
                    <a:pt x="0" y="0"/>
                  </a:moveTo>
                  <a:lnTo>
                    <a:pt x="5546217" y="0"/>
                  </a:lnTo>
                  <a:lnTo>
                    <a:pt x="5546217" y="3175"/>
                  </a:lnTo>
                  <a:lnTo>
                    <a:pt x="0" y="3175"/>
                  </a:lnTo>
                  <a:close/>
                </a:path>
              </a:pathLst>
            </a:custGeom>
            <a:solidFill>
              <a:srgbClr val="000000"/>
            </a:solidFill>
          </p:spPr>
        </p:sp>
        <p:sp>
          <p:nvSpPr>
            <p:cNvPr name="Freeform 22" id="22"/>
            <p:cNvSpPr/>
            <p:nvPr/>
          </p:nvSpPr>
          <p:spPr>
            <a:xfrm flipH="false" flipV="false" rot="0">
              <a:off x="63627" y="5037201"/>
              <a:ext cx="5546217" cy="3175"/>
            </a:xfrm>
            <a:custGeom>
              <a:avLst/>
              <a:gdLst/>
              <a:ahLst/>
              <a:cxnLst/>
              <a:rect r="r" b="b" t="t" l="l"/>
              <a:pathLst>
                <a:path h="3175" w="5546217">
                  <a:moveTo>
                    <a:pt x="0" y="0"/>
                  </a:moveTo>
                  <a:lnTo>
                    <a:pt x="5546217" y="0"/>
                  </a:lnTo>
                  <a:lnTo>
                    <a:pt x="5546217" y="3175"/>
                  </a:lnTo>
                  <a:lnTo>
                    <a:pt x="0" y="3175"/>
                  </a:lnTo>
                  <a:close/>
                </a:path>
              </a:pathLst>
            </a:custGeom>
            <a:solidFill>
              <a:srgbClr val="000000"/>
            </a:solidFill>
          </p:spPr>
        </p:sp>
      </p:grpSp>
      <p:sp>
        <p:nvSpPr>
          <p:cNvPr name="Freeform 23" id="23"/>
          <p:cNvSpPr/>
          <p:nvPr/>
        </p:nvSpPr>
        <p:spPr>
          <a:xfrm flipH="false" flipV="false" rot="0">
            <a:off x="1291352" y="8225180"/>
            <a:ext cx="2019776" cy="1976914"/>
          </a:xfrm>
          <a:custGeom>
            <a:avLst/>
            <a:gdLst/>
            <a:ahLst/>
            <a:cxnLst/>
            <a:rect r="r" b="b" t="t" l="l"/>
            <a:pathLst>
              <a:path h="1976914" w="2019776">
                <a:moveTo>
                  <a:pt x="0" y="0"/>
                </a:moveTo>
                <a:lnTo>
                  <a:pt x="2019776" y="0"/>
                </a:lnTo>
                <a:lnTo>
                  <a:pt x="2019776" y="1976914"/>
                </a:lnTo>
                <a:lnTo>
                  <a:pt x="0" y="1976914"/>
                </a:lnTo>
                <a:lnTo>
                  <a:pt x="0" y="0"/>
                </a:lnTo>
                <a:close/>
              </a:path>
            </a:pathLst>
          </a:custGeom>
          <a:blipFill>
            <a:blip r:embed="rId8"/>
            <a:stretch>
              <a:fillRect l="0" t="0" r="0" b="0"/>
            </a:stretch>
          </a:blipFill>
        </p:spPr>
      </p:sp>
      <p:sp>
        <p:nvSpPr>
          <p:cNvPr name="Freeform 24" id="24"/>
          <p:cNvSpPr/>
          <p:nvPr/>
        </p:nvSpPr>
        <p:spPr>
          <a:xfrm flipH="false" flipV="false" rot="0">
            <a:off x="3422866" y="8225180"/>
            <a:ext cx="2019776" cy="1976914"/>
          </a:xfrm>
          <a:custGeom>
            <a:avLst/>
            <a:gdLst/>
            <a:ahLst/>
            <a:cxnLst/>
            <a:rect r="r" b="b" t="t" l="l"/>
            <a:pathLst>
              <a:path h="1976914" w="2019776">
                <a:moveTo>
                  <a:pt x="0" y="0"/>
                </a:moveTo>
                <a:lnTo>
                  <a:pt x="2019776" y="0"/>
                </a:lnTo>
                <a:lnTo>
                  <a:pt x="2019776" y="1976914"/>
                </a:lnTo>
                <a:lnTo>
                  <a:pt x="0" y="1976914"/>
                </a:lnTo>
                <a:lnTo>
                  <a:pt x="0" y="0"/>
                </a:lnTo>
                <a:close/>
              </a:path>
            </a:pathLst>
          </a:custGeom>
          <a:blipFill>
            <a:blip r:embed="rId9"/>
            <a:stretch>
              <a:fillRect l="0" t="0" r="0" b="-2816"/>
            </a:stretch>
          </a:blipFill>
        </p:spPr>
      </p:sp>
      <p:sp>
        <p:nvSpPr>
          <p:cNvPr name="Freeform 25" id="25"/>
          <p:cNvSpPr/>
          <p:nvPr/>
        </p:nvSpPr>
        <p:spPr>
          <a:xfrm flipH="false" flipV="false" rot="0">
            <a:off x="5784075" y="9252014"/>
            <a:ext cx="762371" cy="947242"/>
          </a:xfrm>
          <a:custGeom>
            <a:avLst/>
            <a:gdLst/>
            <a:ahLst/>
            <a:cxnLst/>
            <a:rect r="r" b="b" t="t" l="l"/>
            <a:pathLst>
              <a:path h="947242" w="762371">
                <a:moveTo>
                  <a:pt x="0" y="0"/>
                </a:moveTo>
                <a:lnTo>
                  <a:pt x="762372" y="0"/>
                </a:lnTo>
                <a:lnTo>
                  <a:pt x="762372" y="947242"/>
                </a:lnTo>
                <a:lnTo>
                  <a:pt x="0" y="947242"/>
                </a:lnTo>
                <a:lnTo>
                  <a:pt x="0" y="0"/>
                </a:lnTo>
                <a:close/>
              </a:path>
            </a:pathLst>
          </a:custGeom>
          <a:blipFill>
            <a:blip r:embed="rId10"/>
            <a:stretch>
              <a:fillRect l="0" t="0" r="0" b="0"/>
            </a:stretch>
          </a:blipFill>
        </p:spPr>
      </p:sp>
      <p:sp>
        <p:nvSpPr>
          <p:cNvPr name="TextBox 26" id="26"/>
          <p:cNvSpPr txBox="true"/>
          <p:nvPr/>
        </p:nvSpPr>
        <p:spPr>
          <a:xfrm rot="0">
            <a:off x="1291352" y="1730150"/>
            <a:ext cx="3874332" cy="1060323"/>
          </a:xfrm>
          <a:prstGeom prst="rect">
            <a:avLst/>
          </a:prstGeom>
        </p:spPr>
        <p:txBody>
          <a:bodyPr anchor="t" rtlCol="false" tIns="0" lIns="0" bIns="0" rIns="0">
            <a:spAutoFit/>
          </a:bodyPr>
          <a:lstStyle/>
          <a:p>
            <a:pPr algn="l">
              <a:lnSpc>
                <a:spcPts val="4003"/>
              </a:lnSpc>
            </a:pPr>
            <a:r>
              <a:rPr lang="en-US" sz="4003" spc="16">
                <a:solidFill>
                  <a:srgbClr val="070707"/>
                </a:solidFill>
                <a:latin typeface="Montserrat"/>
                <a:ea typeface="Montserrat"/>
                <a:cs typeface="Montserrat"/>
                <a:sym typeface="Montserrat"/>
              </a:rPr>
              <a:t>DIRECTORS’ INFORMATION</a:t>
            </a:r>
          </a:p>
        </p:txBody>
      </p:sp>
      <p:sp>
        <p:nvSpPr>
          <p:cNvPr name="TextBox 27" id="27"/>
          <p:cNvSpPr txBox="true"/>
          <p:nvPr/>
        </p:nvSpPr>
        <p:spPr>
          <a:xfrm rot="0">
            <a:off x="5696807" y="1452382"/>
            <a:ext cx="983266" cy="2275456"/>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05</a:t>
            </a:r>
          </a:p>
          <a:p>
            <a:pPr algn="l">
              <a:lnSpc>
                <a:spcPts val="1267"/>
              </a:lnSpc>
            </a:pPr>
            <a:r>
              <a:rPr lang="en-US" b="true" sz="1034" spc="8">
                <a:solidFill>
                  <a:srgbClr val="203864"/>
                </a:solidFill>
                <a:latin typeface="Montserrat Bold"/>
                <a:ea typeface="Montserrat Bold"/>
                <a:cs typeface="Montserrat Bold"/>
                <a:sym typeface="Montserrat Bold"/>
              </a:rPr>
              <a:t>YEARS OF EXPERIENCE</a:t>
            </a:r>
          </a:p>
          <a:p>
            <a:pPr algn="l">
              <a:lnSpc>
                <a:spcPts val="1447"/>
              </a:lnSpc>
            </a:pPr>
            <a:r>
              <a:rPr lang="en-US" sz="1034" spc="-7">
                <a:solidFill>
                  <a:srgbClr val="000000"/>
                </a:solidFill>
                <a:latin typeface="Montserrat"/>
                <a:ea typeface="Montserrat"/>
                <a:cs typeface="Montserrat"/>
                <a:sym typeface="Montserrat"/>
              </a:rPr>
              <a:t>28</a:t>
            </a:r>
            <a:r>
              <a:rPr lang="en-US" sz="1034" spc="-7">
                <a:solidFill>
                  <a:srgbClr val="FFFFFF"/>
                </a:solidFill>
                <a:latin typeface="Montserrat"/>
                <a:ea typeface="Montserrat"/>
                <a:cs typeface="Montserrat"/>
                <a:sym typeface="Montserrat"/>
              </a:rPr>
              <a:t> </a:t>
            </a:r>
            <a:r>
              <a:rPr lang="en-US" sz="1034" spc="-7">
                <a:solidFill>
                  <a:srgbClr val="000000"/>
                </a:solidFill>
                <a:latin typeface="Montserrat"/>
                <a:ea typeface="Montserrat"/>
                <a:cs typeface="Montserrat"/>
                <a:sym typeface="Montserrat"/>
              </a:rPr>
              <a:t>Yrs.</a:t>
            </a:r>
          </a:p>
        </p:txBody>
      </p:sp>
      <p:sp>
        <p:nvSpPr>
          <p:cNvPr name="TextBox 28" id="28"/>
          <p:cNvSpPr txBox="true"/>
          <p:nvPr/>
        </p:nvSpPr>
        <p:spPr>
          <a:xfrm rot="0">
            <a:off x="1637319" y="6946763"/>
            <a:ext cx="107775" cy="127940"/>
          </a:xfrm>
          <a:prstGeom prst="rect">
            <a:avLst/>
          </a:prstGeom>
        </p:spPr>
        <p:txBody>
          <a:bodyPr anchor="t" rtlCol="false" tIns="0" lIns="0" bIns="0" rIns="0">
            <a:spAutoFit/>
          </a:bodyPr>
          <a:lstStyle/>
          <a:p>
            <a:pPr algn="l">
              <a:lnSpc>
                <a:spcPts val="768"/>
              </a:lnSpc>
            </a:pPr>
            <a:r>
              <a:rPr lang="en-US" sz="1301" spc="80">
                <a:solidFill>
                  <a:srgbClr val="FFFFFF"/>
                </a:solidFill>
                <a:latin typeface="Montserrat"/>
                <a:ea typeface="Montserrat"/>
                <a:cs typeface="Montserrat"/>
                <a:sym typeface="Montserrat"/>
              </a:rPr>
              <a:t>S</a:t>
            </a:r>
          </a:p>
        </p:txBody>
      </p:sp>
      <p:sp>
        <p:nvSpPr>
          <p:cNvPr name="TextBox 29" id="29"/>
          <p:cNvSpPr txBox="true"/>
          <p:nvPr/>
        </p:nvSpPr>
        <p:spPr>
          <a:xfrm rot="0">
            <a:off x="1889065" y="6946763"/>
            <a:ext cx="2026749" cy="127940"/>
          </a:xfrm>
          <a:prstGeom prst="rect">
            <a:avLst/>
          </a:prstGeom>
        </p:spPr>
        <p:txBody>
          <a:bodyPr anchor="t" rtlCol="false" tIns="0" lIns="0" bIns="0" rIns="0">
            <a:spAutoFit/>
          </a:bodyPr>
          <a:lstStyle/>
          <a:p>
            <a:pPr algn="l">
              <a:lnSpc>
                <a:spcPts val="768"/>
              </a:lnSpc>
            </a:pPr>
            <a:r>
              <a:rPr lang="en-US" sz="1301" spc="80">
                <a:solidFill>
                  <a:srgbClr val="FFFFFF"/>
                </a:solidFill>
                <a:latin typeface="Montserrat"/>
                <a:ea typeface="Montserrat"/>
                <a:cs typeface="Montserrat"/>
                <a:sym typeface="Montserrat"/>
              </a:rPr>
              <a:t>LZAILY BIN A. HAMID</a:t>
            </a:r>
          </a:p>
        </p:txBody>
      </p:sp>
      <p:sp>
        <p:nvSpPr>
          <p:cNvPr name="TextBox 30" id="30"/>
          <p:cNvSpPr txBox="true"/>
          <p:nvPr/>
        </p:nvSpPr>
        <p:spPr>
          <a:xfrm rot="0">
            <a:off x="3882257" y="7025135"/>
            <a:ext cx="88373" cy="112700"/>
          </a:xfrm>
          <a:prstGeom prst="rect">
            <a:avLst/>
          </a:prstGeom>
        </p:spPr>
        <p:txBody>
          <a:bodyPr anchor="t" rtlCol="false" tIns="0" lIns="0" bIns="0" rIns="0">
            <a:spAutoFit/>
          </a:bodyPr>
          <a:lstStyle/>
          <a:p>
            <a:pPr algn="l">
              <a:lnSpc>
                <a:spcPts val="611"/>
              </a:lnSpc>
            </a:pPr>
            <a:r>
              <a:rPr lang="en-US" sz="1034" spc="-5">
                <a:solidFill>
                  <a:srgbClr val="000000"/>
                </a:solidFill>
                <a:latin typeface="Montserrat"/>
                <a:ea typeface="Montserrat"/>
                <a:cs typeface="Montserrat"/>
                <a:sym typeface="Montserrat"/>
              </a:rPr>
              <a:t>1 </a:t>
            </a:r>
          </a:p>
        </p:txBody>
      </p:sp>
      <p:sp>
        <p:nvSpPr>
          <p:cNvPr name="TextBox 31" id="31"/>
          <p:cNvSpPr txBox="true"/>
          <p:nvPr/>
        </p:nvSpPr>
        <p:spPr>
          <a:xfrm rot="0">
            <a:off x="1634033" y="3349714"/>
            <a:ext cx="2737475" cy="232715"/>
          </a:xfrm>
          <a:prstGeom prst="rect">
            <a:avLst/>
          </a:prstGeom>
        </p:spPr>
        <p:txBody>
          <a:bodyPr anchor="t" rtlCol="false" tIns="0" lIns="0" bIns="0" rIns="0">
            <a:spAutoFit/>
          </a:bodyPr>
          <a:lstStyle/>
          <a:p>
            <a:pPr algn="l">
              <a:lnSpc>
                <a:spcPts val="1891"/>
              </a:lnSpc>
            </a:pPr>
            <a:r>
              <a:rPr lang="en-US" sz="1301" spc="88">
                <a:solidFill>
                  <a:srgbClr val="FFFFFF"/>
                </a:solidFill>
                <a:latin typeface="Montserrat"/>
                <a:ea typeface="Montserrat"/>
                <a:cs typeface="Montserrat"/>
                <a:sym typeface="Montserrat"/>
              </a:rPr>
              <a:t>IR. ZAINUDIN MOHD SALLEH</a:t>
            </a:r>
          </a:p>
        </p:txBody>
      </p:sp>
      <p:sp>
        <p:nvSpPr>
          <p:cNvPr name="TextBox 32" id="32"/>
          <p:cNvSpPr txBox="true"/>
          <p:nvPr/>
        </p:nvSpPr>
        <p:spPr>
          <a:xfrm rot="0">
            <a:off x="3882257" y="3572389"/>
            <a:ext cx="47920" cy="198425"/>
          </a:xfrm>
          <a:prstGeom prst="rect">
            <a:avLst/>
          </a:prstGeom>
        </p:spPr>
        <p:txBody>
          <a:bodyPr anchor="t" rtlCol="false" tIns="0" lIns="0" bIns="0" rIns="0">
            <a:spAutoFit/>
          </a:bodyPr>
          <a:lstStyle/>
          <a:p>
            <a:pPr algn="l">
              <a:lnSpc>
                <a:spcPts val="1503"/>
              </a:lnSpc>
            </a:pPr>
            <a:r>
              <a:rPr lang="en-US" sz="1034" spc="-7">
                <a:solidFill>
                  <a:srgbClr val="000000"/>
                </a:solidFill>
                <a:latin typeface="Montserrat"/>
                <a:ea typeface="Montserrat"/>
                <a:cs typeface="Montserrat"/>
                <a:sym typeface="Montserrat"/>
              </a:rPr>
              <a:t>1</a:t>
            </a:r>
          </a:p>
        </p:txBody>
      </p:sp>
      <p:sp>
        <p:nvSpPr>
          <p:cNvPr name="TextBox 33" id="33"/>
          <p:cNvSpPr txBox="true"/>
          <p:nvPr/>
        </p:nvSpPr>
        <p:spPr>
          <a:xfrm rot="0">
            <a:off x="5619226" y="8302657"/>
            <a:ext cx="1288961" cy="803234"/>
          </a:xfrm>
          <a:prstGeom prst="rect">
            <a:avLst/>
          </a:prstGeom>
        </p:spPr>
        <p:txBody>
          <a:bodyPr anchor="t" rtlCol="false" tIns="0" lIns="0" bIns="0" rIns="0">
            <a:spAutoFit/>
          </a:bodyPr>
          <a:lstStyle/>
          <a:p>
            <a:pPr algn="l">
              <a:lnSpc>
                <a:spcPts val="1567"/>
              </a:lnSpc>
            </a:pPr>
            <a:r>
              <a:rPr lang="en-US" b="true" sz="1301" spc="6">
                <a:solidFill>
                  <a:srgbClr val="203864"/>
                </a:solidFill>
                <a:latin typeface="Montserrat Bold"/>
                <a:ea typeface="Montserrat Bold"/>
                <a:cs typeface="Montserrat Bold"/>
                <a:sym typeface="Montserrat Bold"/>
              </a:rPr>
              <a:t>ENGINEERING SUCCESS THROUGH INNOVATION</a:t>
            </a:r>
          </a:p>
        </p:txBody>
      </p:sp>
      <p:sp>
        <p:nvSpPr>
          <p:cNvPr name="TextBox 34" id="34"/>
          <p:cNvSpPr txBox="true"/>
          <p:nvPr/>
        </p:nvSpPr>
        <p:spPr>
          <a:xfrm rot="0">
            <a:off x="1376648" y="3072794"/>
            <a:ext cx="688677" cy="296990"/>
          </a:xfrm>
          <a:prstGeom prst="rect">
            <a:avLst/>
          </a:prstGeom>
        </p:spPr>
        <p:txBody>
          <a:bodyPr anchor="t" rtlCol="false" tIns="0" lIns="0" bIns="0" rIns="0">
            <a:spAutoFit/>
          </a:bodyPr>
          <a:lstStyle/>
          <a:p>
            <a:pPr algn="l">
              <a:lnSpc>
                <a:spcPts val="2585"/>
              </a:lnSpc>
            </a:pPr>
            <a:r>
              <a:rPr lang="en-US" b="true" sz="1034" spc="8">
                <a:solidFill>
                  <a:srgbClr val="203864"/>
                </a:solidFill>
                <a:latin typeface="Montserrat Bold"/>
                <a:ea typeface="Montserrat Bold"/>
                <a:cs typeface="Montserrat Bold"/>
                <a:sym typeface="Montserrat Bold"/>
              </a:rPr>
              <a:t>POSITION</a:t>
            </a:r>
          </a:p>
        </p:txBody>
      </p:sp>
      <p:sp>
        <p:nvSpPr>
          <p:cNvPr name="TextBox 35" id="35"/>
          <p:cNvSpPr txBox="true"/>
          <p:nvPr/>
        </p:nvSpPr>
        <p:spPr>
          <a:xfrm rot="0">
            <a:off x="1376648" y="3475949"/>
            <a:ext cx="790508" cy="457981"/>
          </a:xfrm>
          <a:prstGeom prst="rect">
            <a:avLst/>
          </a:prstGeom>
        </p:spPr>
        <p:txBody>
          <a:bodyPr anchor="t" rtlCol="false" tIns="0" lIns="0" bIns="0" rIns="0">
            <a:spAutoFit/>
          </a:bodyPr>
          <a:lstStyle/>
          <a:p>
            <a:pPr algn="l">
              <a:lnSpc>
                <a:spcPts val="2585"/>
              </a:lnSpc>
            </a:pPr>
            <a:r>
              <a:rPr lang="en-US" b="true" sz="1034" spc="7">
                <a:solidFill>
                  <a:srgbClr val="203864"/>
                </a:solidFill>
                <a:latin typeface="Montserrat Bold"/>
                <a:ea typeface="Montserrat Bold"/>
                <a:cs typeface="Montserrat Bold"/>
                <a:sym typeface="Montserrat Bold"/>
              </a:rPr>
              <a:t>MANAGING</a:t>
            </a:r>
          </a:p>
          <a:p>
            <a:pPr algn="l">
              <a:lnSpc>
                <a:spcPts val="517"/>
              </a:lnSpc>
            </a:pPr>
            <a:r>
              <a:rPr lang="en-US" b="true" sz="1034" spc="9">
                <a:solidFill>
                  <a:srgbClr val="203864"/>
                </a:solidFill>
                <a:latin typeface="Montserrat Bold"/>
                <a:ea typeface="Montserrat Bold"/>
                <a:cs typeface="Montserrat Bold"/>
                <a:sym typeface="Montserrat Bold"/>
              </a:rPr>
              <a:t>DIRECTOR</a:t>
            </a:r>
          </a:p>
        </p:txBody>
      </p:sp>
      <p:sp>
        <p:nvSpPr>
          <p:cNvPr name="TextBox 36" id="36"/>
          <p:cNvSpPr txBox="true"/>
          <p:nvPr/>
        </p:nvSpPr>
        <p:spPr>
          <a:xfrm rot="0">
            <a:off x="1376648" y="6887061"/>
            <a:ext cx="840038" cy="173165"/>
          </a:xfrm>
          <a:prstGeom prst="rect">
            <a:avLst/>
          </a:prstGeom>
        </p:spPr>
        <p:txBody>
          <a:bodyPr anchor="t" rtlCol="false" tIns="0" lIns="0" bIns="0" rIns="0">
            <a:spAutoFit/>
          </a:bodyPr>
          <a:lstStyle/>
          <a:p>
            <a:pPr algn="l">
              <a:lnSpc>
                <a:spcPts val="1267"/>
              </a:lnSpc>
            </a:pPr>
            <a:r>
              <a:rPr lang="en-US" b="true" sz="1034" spc="10">
                <a:solidFill>
                  <a:srgbClr val="00007F"/>
                </a:solidFill>
                <a:latin typeface="Montserrat Bold"/>
                <a:ea typeface="Montserrat Bold"/>
                <a:cs typeface="Montserrat Bold"/>
                <a:sym typeface="Montserrat Bold"/>
              </a:rPr>
              <a:t>EXECUTIVE </a:t>
            </a:r>
          </a:p>
        </p:txBody>
      </p:sp>
      <p:sp>
        <p:nvSpPr>
          <p:cNvPr name="TextBox 37" id="37"/>
          <p:cNvSpPr txBox="true"/>
          <p:nvPr/>
        </p:nvSpPr>
        <p:spPr>
          <a:xfrm rot="0">
            <a:off x="1376648" y="7048052"/>
            <a:ext cx="778516" cy="173165"/>
          </a:xfrm>
          <a:prstGeom prst="rect">
            <a:avLst/>
          </a:prstGeom>
        </p:spPr>
        <p:txBody>
          <a:bodyPr anchor="t" rtlCol="false" tIns="0" lIns="0" bIns="0" rIns="0">
            <a:spAutoFit/>
          </a:bodyPr>
          <a:lstStyle/>
          <a:p>
            <a:pPr algn="l">
              <a:lnSpc>
                <a:spcPts val="1267"/>
              </a:lnSpc>
            </a:pPr>
            <a:r>
              <a:rPr lang="en-US" b="true" sz="1034" spc="10">
                <a:solidFill>
                  <a:srgbClr val="00007F"/>
                </a:solidFill>
                <a:latin typeface="Montserrat Bold"/>
                <a:ea typeface="Montserrat Bold"/>
                <a:cs typeface="Montserrat Bold"/>
                <a:sym typeface="Montserrat Bold"/>
              </a:rPr>
              <a:t>DIRECTOR </a:t>
            </a:r>
          </a:p>
        </p:txBody>
      </p:sp>
      <p:sp>
        <p:nvSpPr>
          <p:cNvPr name="TextBox 38" id="38"/>
          <p:cNvSpPr txBox="true"/>
          <p:nvPr/>
        </p:nvSpPr>
        <p:spPr>
          <a:xfrm rot="0">
            <a:off x="2452849" y="6887061"/>
            <a:ext cx="915400" cy="334156"/>
          </a:xfrm>
          <a:prstGeom prst="rect">
            <a:avLst/>
          </a:prstGeom>
        </p:spPr>
        <p:txBody>
          <a:bodyPr anchor="t" rtlCol="false" tIns="0" lIns="0" bIns="0" rIns="0">
            <a:spAutoFit/>
          </a:bodyPr>
          <a:lstStyle/>
          <a:p>
            <a:pPr algn="l">
              <a:lnSpc>
                <a:spcPts val="1267"/>
              </a:lnSpc>
            </a:pPr>
            <a:r>
              <a:rPr lang="en-US" b="true" sz="1034" spc="9">
                <a:solidFill>
                  <a:srgbClr val="000000"/>
                </a:solidFill>
                <a:latin typeface="Montserrat Bold"/>
                <a:ea typeface="Montserrat Bold"/>
                <a:cs typeface="Montserrat Bold"/>
                <a:sym typeface="Montserrat Bold"/>
              </a:rPr>
              <a:t>SULZAILY A. HAMID </a:t>
            </a:r>
          </a:p>
        </p:txBody>
      </p:sp>
      <p:sp>
        <p:nvSpPr>
          <p:cNvPr name="TextBox 39" id="39"/>
          <p:cNvSpPr txBox="true"/>
          <p:nvPr/>
        </p:nvSpPr>
        <p:spPr>
          <a:xfrm rot="0">
            <a:off x="2452849" y="3072794"/>
            <a:ext cx="415176" cy="296990"/>
          </a:xfrm>
          <a:prstGeom prst="rect">
            <a:avLst/>
          </a:prstGeom>
        </p:spPr>
        <p:txBody>
          <a:bodyPr anchor="t" rtlCol="false" tIns="0" lIns="0" bIns="0" rIns="0">
            <a:spAutoFit/>
          </a:bodyPr>
          <a:lstStyle/>
          <a:p>
            <a:pPr algn="l">
              <a:lnSpc>
                <a:spcPts val="2585"/>
              </a:lnSpc>
            </a:pPr>
            <a:r>
              <a:rPr lang="en-US" b="true" sz="1034" spc="7">
                <a:solidFill>
                  <a:srgbClr val="203864"/>
                </a:solidFill>
                <a:latin typeface="Montserrat Bold"/>
                <a:ea typeface="Montserrat Bold"/>
                <a:cs typeface="Montserrat Bold"/>
                <a:sym typeface="Montserrat Bold"/>
              </a:rPr>
              <a:t>NAME</a:t>
            </a:r>
          </a:p>
        </p:txBody>
      </p:sp>
      <p:sp>
        <p:nvSpPr>
          <p:cNvPr name="TextBox 40" id="40"/>
          <p:cNvSpPr txBox="true"/>
          <p:nvPr/>
        </p:nvSpPr>
        <p:spPr>
          <a:xfrm rot="0">
            <a:off x="2452849" y="3475949"/>
            <a:ext cx="1025490" cy="457981"/>
          </a:xfrm>
          <a:prstGeom prst="rect">
            <a:avLst/>
          </a:prstGeom>
        </p:spPr>
        <p:txBody>
          <a:bodyPr anchor="t" rtlCol="false" tIns="0" lIns="0" bIns="0" rIns="0">
            <a:spAutoFit/>
          </a:bodyPr>
          <a:lstStyle/>
          <a:p>
            <a:pPr algn="l">
              <a:lnSpc>
                <a:spcPts val="2585"/>
              </a:lnSpc>
            </a:pPr>
            <a:r>
              <a:rPr lang="en-US" b="true" sz="1034" spc="7">
                <a:solidFill>
                  <a:srgbClr val="000000"/>
                </a:solidFill>
                <a:latin typeface="Montserrat Bold"/>
                <a:ea typeface="Montserrat Bold"/>
                <a:cs typeface="Montserrat Bold"/>
                <a:sym typeface="Montserrat Bold"/>
              </a:rPr>
              <a:t>Ir. ZAINUDIN </a:t>
            </a:r>
          </a:p>
          <a:p>
            <a:pPr algn="l">
              <a:lnSpc>
                <a:spcPts val="517"/>
              </a:lnSpc>
            </a:pPr>
            <a:r>
              <a:rPr lang="en-US" b="true" sz="1034" spc="7">
                <a:solidFill>
                  <a:srgbClr val="000000"/>
                </a:solidFill>
                <a:latin typeface="Montserrat Bold"/>
                <a:ea typeface="Montserrat Bold"/>
                <a:cs typeface="Montserrat Bold"/>
                <a:sym typeface="Montserrat Bold"/>
              </a:rPr>
              <a:t>MOHD SALLEH</a:t>
            </a:r>
          </a:p>
        </p:txBody>
      </p:sp>
      <p:sp>
        <p:nvSpPr>
          <p:cNvPr name="TextBox 41" id="41"/>
          <p:cNvSpPr txBox="true"/>
          <p:nvPr/>
        </p:nvSpPr>
        <p:spPr>
          <a:xfrm rot="0">
            <a:off x="3797313" y="3177569"/>
            <a:ext cx="220761" cy="192215"/>
          </a:xfrm>
          <a:prstGeom prst="rect">
            <a:avLst/>
          </a:prstGeom>
        </p:spPr>
        <p:txBody>
          <a:bodyPr anchor="t" rtlCol="false" tIns="0" lIns="0" bIns="0" rIns="0">
            <a:spAutoFit/>
          </a:bodyPr>
          <a:lstStyle/>
          <a:p>
            <a:pPr algn="l">
              <a:lnSpc>
                <a:spcPts val="1447"/>
              </a:lnSpc>
            </a:pPr>
            <a:r>
              <a:rPr lang="en-US" b="true" sz="1034" spc="13">
                <a:solidFill>
                  <a:srgbClr val="203864"/>
                </a:solidFill>
                <a:latin typeface="Montserrat Bold"/>
                <a:ea typeface="Montserrat Bold"/>
                <a:cs typeface="Montserrat Bold"/>
                <a:sym typeface="Montserrat Bold"/>
              </a:rPr>
              <a:t>NO</a:t>
            </a:r>
          </a:p>
        </p:txBody>
      </p:sp>
      <p:sp>
        <p:nvSpPr>
          <p:cNvPr name="TextBox 42" id="42"/>
          <p:cNvSpPr txBox="true"/>
          <p:nvPr/>
        </p:nvSpPr>
        <p:spPr>
          <a:xfrm rot="0">
            <a:off x="4222328" y="3177569"/>
            <a:ext cx="1134847" cy="192215"/>
          </a:xfrm>
          <a:prstGeom prst="rect">
            <a:avLst/>
          </a:prstGeom>
        </p:spPr>
        <p:txBody>
          <a:bodyPr anchor="t" rtlCol="false" tIns="0" lIns="0" bIns="0" rIns="0">
            <a:spAutoFit/>
          </a:bodyPr>
          <a:lstStyle/>
          <a:p>
            <a:pPr algn="l">
              <a:lnSpc>
                <a:spcPts val="1447"/>
              </a:lnSpc>
            </a:pPr>
            <a:r>
              <a:rPr lang="en-US" b="true" sz="1034" spc="7">
                <a:solidFill>
                  <a:srgbClr val="203864"/>
                </a:solidFill>
                <a:latin typeface="Montserrat Bold"/>
                <a:ea typeface="Montserrat Bold"/>
                <a:cs typeface="Montserrat Bold"/>
                <a:sym typeface="Montserrat Bold"/>
              </a:rPr>
              <a:t>QUALIFICATION</a:t>
            </a:r>
          </a:p>
        </p:txBody>
      </p:sp>
      <p:sp>
        <p:nvSpPr>
          <p:cNvPr name="TextBox 43" id="43"/>
          <p:cNvSpPr txBox="true"/>
          <p:nvPr/>
        </p:nvSpPr>
        <p:spPr>
          <a:xfrm rot="0">
            <a:off x="3861568" y="5267982"/>
            <a:ext cx="89821"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a:t>
            </a:r>
          </a:p>
        </p:txBody>
      </p:sp>
      <p:sp>
        <p:nvSpPr>
          <p:cNvPr name="TextBox 44" id="44"/>
          <p:cNvSpPr txBox="true"/>
          <p:nvPr/>
        </p:nvSpPr>
        <p:spPr>
          <a:xfrm rot="0">
            <a:off x="3865264" y="4705960"/>
            <a:ext cx="8205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3</a:t>
            </a:r>
          </a:p>
        </p:txBody>
      </p:sp>
      <p:sp>
        <p:nvSpPr>
          <p:cNvPr name="TextBox 45" id="45"/>
          <p:cNvSpPr txBox="true"/>
          <p:nvPr/>
        </p:nvSpPr>
        <p:spPr>
          <a:xfrm rot="0">
            <a:off x="3865264" y="5830005"/>
            <a:ext cx="8192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5</a:t>
            </a:r>
          </a:p>
        </p:txBody>
      </p:sp>
      <p:sp>
        <p:nvSpPr>
          <p:cNvPr name="TextBox 46" id="46"/>
          <p:cNvSpPr txBox="true"/>
          <p:nvPr/>
        </p:nvSpPr>
        <p:spPr>
          <a:xfrm rot="0">
            <a:off x="3866740" y="4143937"/>
            <a:ext cx="80181"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a:t>
            </a:r>
          </a:p>
        </p:txBody>
      </p:sp>
      <p:sp>
        <p:nvSpPr>
          <p:cNvPr name="TextBox 47" id="47"/>
          <p:cNvSpPr txBox="true"/>
          <p:nvPr/>
        </p:nvSpPr>
        <p:spPr>
          <a:xfrm rot="0">
            <a:off x="4222328" y="3600964"/>
            <a:ext cx="1445800" cy="4499677"/>
          </a:xfrm>
          <a:prstGeom prst="rect">
            <a:avLst/>
          </a:prstGeom>
        </p:spPr>
        <p:txBody>
          <a:bodyPr anchor="t" rtlCol="false" tIns="0" lIns="0" bIns="0" rIns="0">
            <a:spAutoFit/>
          </a:bodyPr>
          <a:lstStyle/>
          <a:p>
            <a:pPr algn="just">
              <a:lnSpc>
                <a:spcPts val="1245"/>
              </a:lnSpc>
            </a:pPr>
            <a:r>
              <a:rPr lang="en-US" sz="1034" spc="-7">
                <a:solidFill>
                  <a:srgbClr val="000000"/>
                </a:solidFill>
                <a:latin typeface="Montserrat"/>
                <a:ea typeface="Montserrat"/>
                <a:cs typeface="Montserrat"/>
                <a:sym typeface="Montserrat"/>
              </a:rPr>
              <a:t>BScElectrical Engineering, Uni. Of Toledo Ohio, USA</a:t>
            </a:r>
          </a:p>
          <a:p>
            <a:pPr algn="just">
              <a:lnSpc>
                <a:spcPts val="2585"/>
              </a:lnSpc>
            </a:pPr>
            <a:r>
              <a:rPr lang="en-US" sz="1034" spc="-4">
                <a:solidFill>
                  <a:srgbClr val="000000"/>
                </a:solidFill>
                <a:latin typeface="Montserrat"/>
                <a:ea typeface="Montserrat"/>
                <a:cs typeface="Montserrat"/>
                <a:sym typeface="Montserrat"/>
              </a:rPr>
              <a:t>BSc Computer </a:t>
            </a:r>
          </a:p>
          <a:p>
            <a:pPr algn="just">
              <a:lnSpc>
                <a:spcPts val="517"/>
              </a:lnSpc>
            </a:pPr>
            <a:r>
              <a:rPr lang="en-US" sz="1034" spc="-5">
                <a:solidFill>
                  <a:srgbClr val="000000"/>
                </a:solidFill>
                <a:latin typeface="Montserrat"/>
                <a:ea typeface="Montserrat"/>
                <a:cs typeface="Montserrat"/>
                <a:sym typeface="Montserrat"/>
              </a:rPr>
              <a:t>Science Engr., Uni. </a:t>
            </a:r>
          </a:p>
          <a:p>
            <a:pPr algn="just">
              <a:lnSpc>
                <a:spcPts val="1923"/>
              </a:lnSpc>
            </a:pPr>
            <a:r>
              <a:rPr lang="en-US" sz="1034" spc="-4">
                <a:solidFill>
                  <a:srgbClr val="000000"/>
                </a:solidFill>
                <a:latin typeface="Montserrat"/>
                <a:ea typeface="Montserrat"/>
                <a:cs typeface="Montserrat"/>
                <a:sym typeface="Montserrat"/>
              </a:rPr>
              <a:t>Of Toledo, USA Professional </a:t>
            </a:r>
          </a:p>
          <a:p>
            <a:pPr algn="just">
              <a:lnSpc>
                <a:spcPts val="638"/>
              </a:lnSpc>
            </a:pPr>
            <a:r>
              <a:rPr lang="en-US" sz="1034" spc="-4">
                <a:solidFill>
                  <a:srgbClr val="000000"/>
                </a:solidFill>
                <a:latin typeface="Montserrat"/>
                <a:ea typeface="Montserrat"/>
                <a:cs typeface="Montserrat"/>
                <a:sym typeface="Montserrat"/>
              </a:rPr>
              <a:t>Engineer Lembaga</a:t>
            </a:r>
          </a:p>
          <a:p>
            <a:pPr algn="just">
              <a:lnSpc>
                <a:spcPts val="1923"/>
              </a:lnSpc>
            </a:pPr>
            <a:r>
              <a:rPr lang="en-US" sz="1034" spc="-6">
                <a:solidFill>
                  <a:srgbClr val="000000"/>
                </a:solidFill>
                <a:latin typeface="Montserrat"/>
                <a:ea typeface="Montserrat"/>
                <a:cs typeface="Montserrat"/>
                <a:sym typeface="Montserrat"/>
              </a:rPr>
              <a:t>JuruteraMalaysia Corporate Member </a:t>
            </a:r>
          </a:p>
          <a:p>
            <a:pPr algn="just">
              <a:lnSpc>
                <a:spcPts val="517"/>
              </a:lnSpc>
            </a:pPr>
            <a:r>
              <a:rPr lang="en-US" sz="1034" spc="-5">
                <a:solidFill>
                  <a:srgbClr val="000000"/>
                </a:solidFill>
                <a:latin typeface="Montserrat"/>
                <a:ea typeface="Montserrat"/>
                <a:cs typeface="Montserrat"/>
                <a:sym typeface="Montserrat"/>
              </a:rPr>
              <a:t>Institute of </a:t>
            </a:r>
          </a:p>
          <a:p>
            <a:pPr algn="just">
              <a:lnSpc>
                <a:spcPts val="1923"/>
              </a:lnSpc>
            </a:pPr>
            <a:r>
              <a:rPr lang="en-US" sz="1034" spc="-6">
                <a:solidFill>
                  <a:srgbClr val="000000"/>
                </a:solidFill>
                <a:latin typeface="Montserrat"/>
                <a:ea typeface="Montserrat"/>
                <a:cs typeface="Montserrat"/>
                <a:sym typeface="Montserrat"/>
              </a:rPr>
              <a:t>Engineering Malaysia Competency </a:t>
            </a:r>
          </a:p>
          <a:p>
            <a:pPr algn="just">
              <a:lnSpc>
                <a:spcPts val="638"/>
              </a:lnSpc>
            </a:pPr>
            <a:r>
              <a:rPr lang="en-US" sz="1034" spc="-5">
                <a:solidFill>
                  <a:srgbClr val="000000"/>
                </a:solidFill>
                <a:latin typeface="Montserrat"/>
                <a:ea typeface="Montserrat"/>
                <a:cs typeface="Montserrat"/>
                <a:sym typeface="Montserrat"/>
              </a:rPr>
              <a:t>Certificate </a:t>
            </a:r>
          </a:p>
          <a:p>
            <a:pPr algn="just">
              <a:lnSpc>
                <a:spcPts val="1829"/>
              </a:lnSpc>
            </a:pPr>
            <a:r>
              <a:rPr lang="en-US" sz="1034" spc="-5">
                <a:solidFill>
                  <a:srgbClr val="000000"/>
                </a:solidFill>
                <a:latin typeface="Montserrat"/>
                <a:ea typeface="Montserrat"/>
                <a:cs typeface="Montserrat"/>
                <a:sym typeface="Montserrat"/>
              </a:rPr>
              <a:t>Photovoltaic System </a:t>
            </a:r>
          </a:p>
          <a:p>
            <a:pPr algn="just">
              <a:lnSpc>
                <a:spcPts val="706"/>
              </a:lnSpc>
            </a:pPr>
            <a:r>
              <a:rPr lang="en-US" sz="1034" spc="-5">
                <a:solidFill>
                  <a:srgbClr val="000000"/>
                </a:solidFill>
                <a:latin typeface="Montserrat"/>
                <a:ea typeface="Montserrat"/>
                <a:cs typeface="Montserrat"/>
                <a:sym typeface="Montserrat"/>
              </a:rPr>
              <a:t>Design –SEDA </a:t>
            </a:r>
          </a:p>
          <a:p>
            <a:pPr algn="just">
              <a:lnSpc>
                <a:spcPts val="1762"/>
              </a:lnSpc>
            </a:pPr>
            <a:r>
              <a:rPr lang="en-US" sz="1034" spc="-6">
                <a:solidFill>
                  <a:srgbClr val="000000"/>
                </a:solidFill>
                <a:latin typeface="Montserrat"/>
                <a:ea typeface="Montserrat"/>
                <a:cs typeface="Montserrat"/>
                <a:sym typeface="Montserrat"/>
              </a:rPr>
              <a:t>Malaysia </a:t>
            </a:r>
          </a:p>
          <a:p>
            <a:pPr algn="just">
              <a:lnSpc>
                <a:spcPts val="2084"/>
              </a:lnSpc>
            </a:pPr>
            <a:r>
              <a:rPr lang="en-US" sz="1034" spc="-2">
                <a:solidFill>
                  <a:srgbClr val="000000"/>
                </a:solidFill>
                <a:latin typeface="Montserrat"/>
                <a:ea typeface="Montserrat"/>
                <a:cs typeface="Montserrat"/>
                <a:sym typeface="Montserrat"/>
              </a:rPr>
              <a:t>Dip. Civil </a:t>
            </a:r>
          </a:p>
          <a:p>
            <a:pPr algn="just">
              <a:lnSpc>
                <a:spcPts val="517"/>
              </a:lnSpc>
            </a:pPr>
            <a:r>
              <a:rPr lang="en-US" sz="1034" spc="-3">
                <a:solidFill>
                  <a:srgbClr val="000000"/>
                </a:solidFill>
                <a:latin typeface="Montserrat"/>
                <a:ea typeface="Montserrat"/>
                <a:cs typeface="Montserrat"/>
                <a:sym typeface="Montserrat"/>
              </a:rPr>
              <a:t>Engineering, </a:t>
            </a:r>
          </a:p>
          <a:p>
            <a:pPr algn="just">
              <a:lnSpc>
                <a:spcPts val="2016"/>
              </a:lnSpc>
            </a:pPr>
            <a:r>
              <a:rPr lang="en-US" sz="1034" spc="-2">
                <a:solidFill>
                  <a:srgbClr val="000000"/>
                </a:solidFill>
                <a:latin typeface="Montserrat"/>
                <a:ea typeface="Montserrat"/>
                <a:cs typeface="Montserrat"/>
                <a:sym typeface="Montserrat"/>
              </a:rPr>
              <a:t>University of </a:t>
            </a:r>
          </a:p>
          <a:p>
            <a:pPr algn="just">
              <a:lnSpc>
                <a:spcPts val="517"/>
              </a:lnSpc>
            </a:pPr>
            <a:r>
              <a:rPr lang="en-US" sz="1034" spc="-1">
                <a:solidFill>
                  <a:srgbClr val="000000"/>
                </a:solidFill>
                <a:latin typeface="Montserrat"/>
                <a:ea typeface="Montserrat"/>
                <a:cs typeface="Montserrat"/>
                <a:sym typeface="Montserrat"/>
              </a:rPr>
              <a:t>Technology Malaysia </a:t>
            </a:r>
          </a:p>
          <a:p>
            <a:pPr algn="just">
              <a:lnSpc>
                <a:spcPts val="2585"/>
              </a:lnSpc>
            </a:pPr>
            <a:r>
              <a:rPr lang="en-US" sz="1034" spc="-2">
                <a:solidFill>
                  <a:srgbClr val="000000"/>
                </a:solidFill>
                <a:latin typeface="Montserrat"/>
                <a:ea typeface="Montserrat"/>
                <a:cs typeface="Montserrat"/>
                <a:sym typeface="Montserrat"/>
              </a:rPr>
              <a:t>BSc. Civil </a:t>
            </a:r>
          </a:p>
          <a:p>
            <a:pPr algn="just">
              <a:lnSpc>
                <a:spcPts val="517"/>
              </a:lnSpc>
            </a:pPr>
            <a:r>
              <a:rPr lang="en-US" sz="1034" spc="-3">
                <a:solidFill>
                  <a:srgbClr val="000000"/>
                </a:solidFill>
                <a:latin typeface="Montserrat"/>
                <a:ea typeface="Montserrat"/>
                <a:cs typeface="Montserrat"/>
                <a:sym typeface="Montserrat"/>
              </a:rPr>
              <a:t>Engineering, </a:t>
            </a:r>
          </a:p>
          <a:p>
            <a:pPr algn="just">
              <a:lnSpc>
                <a:spcPts val="2016"/>
              </a:lnSpc>
            </a:pPr>
            <a:r>
              <a:rPr lang="en-US" sz="1034" spc="-2">
                <a:solidFill>
                  <a:srgbClr val="000000"/>
                </a:solidFill>
                <a:latin typeface="Montserrat"/>
                <a:ea typeface="Montserrat"/>
                <a:cs typeface="Montserrat"/>
                <a:sym typeface="Montserrat"/>
              </a:rPr>
              <a:t>University of </a:t>
            </a:r>
          </a:p>
          <a:p>
            <a:pPr algn="just">
              <a:lnSpc>
                <a:spcPts val="517"/>
              </a:lnSpc>
            </a:pPr>
            <a:r>
              <a:rPr lang="en-US" sz="1034" spc="-1">
                <a:solidFill>
                  <a:srgbClr val="000000"/>
                </a:solidFill>
                <a:latin typeface="Montserrat"/>
                <a:ea typeface="Montserrat"/>
                <a:cs typeface="Montserrat"/>
                <a:sym typeface="Montserrat"/>
              </a:rPr>
              <a:t>Technology Malaysia </a:t>
            </a:r>
          </a:p>
        </p:txBody>
      </p:sp>
      <p:sp>
        <p:nvSpPr>
          <p:cNvPr name="TextBox 48" id="48"/>
          <p:cNvSpPr txBox="true"/>
          <p:nvPr/>
        </p:nvSpPr>
        <p:spPr>
          <a:xfrm rot="0">
            <a:off x="5782628" y="6948935"/>
            <a:ext cx="496710" cy="188900"/>
          </a:xfrm>
          <a:prstGeom prst="rect">
            <a:avLst/>
          </a:prstGeom>
        </p:spPr>
        <p:txBody>
          <a:bodyPr anchor="t" rtlCol="false" tIns="0" lIns="0" bIns="0" rIns="0">
            <a:spAutoFit/>
          </a:bodyPr>
          <a:lstStyle/>
          <a:p>
            <a:pPr algn="l">
              <a:lnSpc>
                <a:spcPts val="1447"/>
              </a:lnSpc>
            </a:pPr>
            <a:r>
              <a:rPr lang="en-US" sz="1034" spc="-3">
                <a:solidFill>
                  <a:srgbClr val="000000"/>
                </a:solidFill>
                <a:latin typeface="Montserrat"/>
                <a:ea typeface="Montserrat"/>
                <a:cs typeface="Montserrat"/>
                <a:sym typeface="Montserrat"/>
              </a:rPr>
              <a:t>28 Yrs.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084107" y="2712349"/>
            <a:ext cx="5886631" cy="7582443"/>
            <a:chOff x="0" y="0"/>
            <a:chExt cx="5886628" cy="7582446"/>
          </a:xfrm>
        </p:grpSpPr>
        <p:sp>
          <p:nvSpPr>
            <p:cNvPr name="Freeform 8" id="8"/>
            <p:cNvSpPr/>
            <p:nvPr/>
          </p:nvSpPr>
          <p:spPr>
            <a:xfrm flipH="false" flipV="false" rot="0">
              <a:off x="1484249" y="63627"/>
              <a:ext cx="3175" cy="7455154"/>
            </a:xfrm>
            <a:custGeom>
              <a:avLst/>
              <a:gdLst/>
              <a:ahLst/>
              <a:cxnLst/>
              <a:rect r="r" b="b" t="t" l="l"/>
              <a:pathLst>
                <a:path h="7455154" w="3175">
                  <a:moveTo>
                    <a:pt x="3175" y="0"/>
                  </a:moveTo>
                  <a:lnTo>
                    <a:pt x="3175" y="7455154"/>
                  </a:lnTo>
                  <a:lnTo>
                    <a:pt x="0" y="7455154"/>
                  </a:lnTo>
                  <a:lnTo>
                    <a:pt x="0" y="0"/>
                  </a:lnTo>
                  <a:close/>
                </a:path>
              </a:pathLst>
            </a:custGeom>
            <a:solidFill>
              <a:srgbClr val="000000"/>
            </a:solidFill>
          </p:spPr>
        </p:sp>
        <p:sp>
          <p:nvSpPr>
            <p:cNvPr name="Freeform 9" id="9"/>
            <p:cNvSpPr/>
            <p:nvPr/>
          </p:nvSpPr>
          <p:spPr>
            <a:xfrm flipH="false" flipV="false" rot="0">
              <a:off x="2763647" y="63627"/>
              <a:ext cx="3175" cy="7455154"/>
            </a:xfrm>
            <a:custGeom>
              <a:avLst/>
              <a:gdLst/>
              <a:ahLst/>
              <a:cxnLst/>
              <a:rect r="r" b="b" t="t" l="l"/>
              <a:pathLst>
                <a:path h="7455154" w="3175">
                  <a:moveTo>
                    <a:pt x="3175" y="0"/>
                  </a:moveTo>
                  <a:lnTo>
                    <a:pt x="3175" y="7455154"/>
                  </a:lnTo>
                  <a:lnTo>
                    <a:pt x="0" y="7455154"/>
                  </a:lnTo>
                  <a:lnTo>
                    <a:pt x="0" y="0"/>
                  </a:lnTo>
                  <a:close/>
                </a:path>
              </a:pathLst>
            </a:custGeom>
            <a:solidFill>
              <a:srgbClr val="000000"/>
            </a:solidFill>
          </p:spPr>
        </p:sp>
        <p:sp>
          <p:nvSpPr>
            <p:cNvPr name="Freeform 10" id="10"/>
            <p:cNvSpPr/>
            <p:nvPr/>
          </p:nvSpPr>
          <p:spPr>
            <a:xfrm flipH="false" flipV="false" rot="0">
              <a:off x="4726813" y="63627"/>
              <a:ext cx="3175" cy="7455154"/>
            </a:xfrm>
            <a:custGeom>
              <a:avLst/>
              <a:gdLst/>
              <a:ahLst/>
              <a:cxnLst/>
              <a:rect r="r" b="b" t="t" l="l"/>
              <a:pathLst>
                <a:path h="7455154" w="3175">
                  <a:moveTo>
                    <a:pt x="3175" y="0"/>
                  </a:moveTo>
                  <a:lnTo>
                    <a:pt x="3175" y="7455154"/>
                  </a:lnTo>
                  <a:lnTo>
                    <a:pt x="0" y="7455154"/>
                  </a:lnTo>
                  <a:lnTo>
                    <a:pt x="0" y="0"/>
                  </a:lnTo>
                  <a:close/>
                </a:path>
              </a:pathLst>
            </a:custGeom>
            <a:solidFill>
              <a:srgbClr val="000000"/>
            </a:solidFill>
          </p:spPr>
        </p:sp>
        <p:sp>
          <p:nvSpPr>
            <p:cNvPr name="Freeform 11" id="11"/>
            <p:cNvSpPr/>
            <p:nvPr/>
          </p:nvSpPr>
          <p:spPr>
            <a:xfrm flipH="false" flipV="false" rot="0">
              <a:off x="63627" y="44767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2" id="12"/>
            <p:cNvSpPr/>
            <p:nvPr/>
          </p:nvSpPr>
          <p:spPr>
            <a:xfrm flipH="false" flipV="false" rot="0">
              <a:off x="63627" y="98107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3" id="13"/>
            <p:cNvSpPr/>
            <p:nvPr/>
          </p:nvSpPr>
          <p:spPr>
            <a:xfrm flipH="false" flipV="false" rot="0">
              <a:off x="63627" y="151460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4" id="14"/>
            <p:cNvSpPr/>
            <p:nvPr/>
          </p:nvSpPr>
          <p:spPr>
            <a:xfrm flipH="false" flipV="false" rot="0">
              <a:off x="63627" y="2048129"/>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5" id="15"/>
            <p:cNvSpPr/>
            <p:nvPr/>
          </p:nvSpPr>
          <p:spPr>
            <a:xfrm flipH="false" flipV="false" rot="0">
              <a:off x="63627" y="2432177"/>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6" id="16"/>
            <p:cNvSpPr/>
            <p:nvPr/>
          </p:nvSpPr>
          <p:spPr>
            <a:xfrm flipH="false" flipV="false" rot="0">
              <a:off x="63627" y="281635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7" id="17"/>
            <p:cNvSpPr/>
            <p:nvPr/>
          </p:nvSpPr>
          <p:spPr>
            <a:xfrm flipH="false" flipV="false" rot="0">
              <a:off x="63627" y="334975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8" id="18"/>
            <p:cNvSpPr/>
            <p:nvPr/>
          </p:nvSpPr>
          <p:spPr>
            <a:xfrm flipH="false" flipV="false" rot="0">
              <a:off x="63627" y="3883279"/>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9" id="19"/>
            <p:cNvSpPr/>
            <p:nvPr/>
          </p:nvSpPr>
          <p:spPr>
            <a:xfrm flipH="false" flipV="false" rot="0">
              <a:off x="63627" y="4416806"/>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0" id="20"/>
            <p:cNvSpPr/>
            <p:nvPr/>
          </p:nvSpPr>
          <p:spPr>
            <a:xfrm flipH="false" flipV="false" rot="0">
              <a:off x="63627" y="495033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1" id="21"/>
            <p:cNvSpPr/>
            <p:nvPr/>
          </p:nvSpPr>
          <p:spPr>
            <a:xfrm flipH="false" flipV="false" rot="0">
              <a:off x="63627" y="5334381"/>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2" id="22"/>
            <p:cNvSpPr/>
            <p:nvPr/>
          </p:nvSpPr>
          <p:spPr>
            <a:xfrm flipH="false" flipV="false" rot="0">
              <a:off x="63627" y="5867908"/>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3" id="23"/>
            <p:cNvSpPr/>
            <p:nvPr/>
          </p:nvSpPr>
          <p:spPr>
            <a:xfrm flipH="false" flipV="false" rot="0">
              <a:off x="63627" y="6401308"/>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4" id="24"/>
            <p:cNvSpPr/>
            <p:nvPr/>
          </p:nvSpPr>
          <p:spPr>
            <a:xfrm flipH="false" flipV="false" rot="0">
              <a:off x="63627" y="678548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5" id="25"/>
            <p:cNvSpPr/>
            <p:nvPr/>
          </p:nvSpPr>
          <p:spPr>
            <a:xfrm flipH="false" flipV="false" rot="0">
              <a:off x="63627" y="713168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6" id="26"/>
            <p:cNvSpPr/>
            <p:nvPr/>
          </p:nvSpPr>
          <p:spPr>
            <a:xfrm flipH="false" flipV="false" rot="0">
              <a:off x="63500" y="63627"/>
              <a:ext cx="3175" cy="7455154"/>
            </a:xfrm>
            <a:custGeom>
              <a:avLst/>
              <a:gdLst/>
              <a:ahLst/>
              <a:cxnLst/>
              <a:rect r="r" b="b" t="t" l="l"/>
              <a:pathLst>
                <a:path h="7455154" w="3175">
                  <a:moveTo>
                    <a:pt x="3175" y="0"/>
                  </a:moveTo>
                  <a:lnTo>
                    <a:pt x="3175" y="7455154"/>
                  </a:lnTo>
                  <a:lnTo>
                    <a:pt x="0" y="7455154"/>
                  </a:lnTo>
                  <a:lnTo>
                    <a:pt x="0" y="0"/>
                  </a:lnTo>
                  <a:close/>
                </a:path>
              </a:pathLst>
            </a:custGeom>
            <a:solidFill>
              <a:srgbClr val="000000"/>
            </a:solidFill>
          </p:spPr>
        </p:sp>
        <p:sp>
          <p:nvSpPr>
            <p:cNvPr name="Freeform 27" id="27"/>
            <p:cNvSpPr/>
            <p:nvPr/>
          </p:nvSpPr>
          <p:spPr>
            <a:xfrm flipH="false" flipV="false" rot="0">
              <a:off x="5819902" y="63627"/>
              <a:ext cx="3175" cy="7455154"/>
            </a:xfrm>
            <a:custGeom>
              <a:avLst/>
              <a:gdLst/>
              <a:ahLst/>
              <a:cxnLst/>
              <a:rect r="r" b="b" t="t" l="l"/>
              <a:pathLst>
                <a:path h="7455154" w="3175">
                  <a:moveTo>
                    <a:pt x="3175" y="0"/>
                  </a:moveTo>
                  <a:lnTo>
                    <a:pt x="3175" y="7455154"/>
                  </a:lnTo>
                  <a:lnTo>
                    <a:pt x="0" y="7455154"/>
                  </a:lnTo>
                  <a:lnTo>
                    <a:pt x="0" y="0"/>
                  </a:lnTo>
                  <a:close/>
                </a:path>
              </a:pathLst>
            </a:custGeom>
            <a:solidFill>
              <a:srgbClr val="000000"/>
            </a:solidFill>
          </p:spPr>
        </p:sp>
        <p:sp>
          <p:nvSpPr>
            <p:cNvPr name="Freeform 28" id="28"/>
            <p:cNvSpPr/>
            <p:nvPr/>
          </p:nvSpPr>
          <p:spPr>
            <a:xfrm flipH="false" flipV="false" rot="0">
              <a:off x="63627" y="63500"/>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9" id="29"/>
            <p:cNvSpPr/>
            <p:nvPr/>
          </p:nvSpPr>
          <p:spPr>
            <a:xfrm flipH="false" flipV="false" rot="0">
              <a:off x="63627" y="751573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grpSp>
      <p:sp>
        <p:nvSpPr>
          <p:cNvPr name="TextBox 30" id="30"/>
          <p:cNvSpPr txBox="true"/>
          <p:nvPr/>
        </p:nvSpPr>
        <p:spPr>
          <a:xfrm rot="0">
            <a:off x="1149201" y="1693716"/>
            <a:ext cx="3987241" cy="525837"/>
          </a:xfrm>
          <a:prstGeom prst="rect">
            <a:avLst/>
          </a:prstGeom>
        </p:spPr>
        <p:txBody>
          <a:bodyPr anchor="t" rtlCol="false" tIns="0" lIns="0" bIns="0" rIns="0">
            <a:spAutoFit/>
          </a:bodyPr>
          <a:lstStyle/>
          <a:p>
            <a:pPr algn="l">
              <a:lnSpc>
                <a:spcPts val="4037"/>
              </a:lnSpc>
            </a:pPr>
            <a:r>
              <a:rPr lang="en-US" sz="3169" spc="12">
                <a:solidFill>
                  <a:srgbClr val="070707"/>
                </a:solidFill>
                <a:latin typeface="Montserrat"/>
                <a:ea typeface="Montserrat"/>
                <a:cs typeface="Montserrat"/>
                <a:sym typeface="Montserrat"/>
              </a:rPr>
              <a:t>KEY TECHNICAL &amp; </a:t>
            </a:r>
          </a:p>
        </p:txBody>
      </p:sp>
      <p:sp>
        <p:nvSpPr>
          <p:cNvPr name="TextBox 31" id="31"/>
          <p:cNvSpPr txBox="true"/>
          <p:nvPr/>
        </p:nvSpPr>
        <p:spPr>
          <a:xfrm rot="0">
            <a:off x="1149201" y="2206342"/>
            <a:ext cx="5080530" cy="525837"/>
          </a:xfrm>
          <a:prstGeom prst="rect">
            <a:avLst/>
          </a:prstGeom>
        </p:spPr>
        <p:txBody>
          <a:bodyPr anchor="t" rtlCol="false" tIns="0" lIns="0" bIns="0" rIns="0">
            <a:spAutoFit/>
          </a:bodyPr>
          <a:lstStyle/>
          <a:p>
            <a:pPr algn="l">
              <a:lnSpc>
                <a:spcPts val="4037"/>
              </a:lnSpc>
            </a:pPr>
            <a:r>
              <a:rPr lang="en-US" sz="3169" spc="12">
                <a:solidFill>
                  <a:srgbClr val="070707"/>
                </a:solidFill>
                <a:latin typeface="Montserrat"/>
                <a:ea typeface="Montserrat"/>
                <a:cs typeface="Montserrat"/>
                <a:sym typeface="Montserrat"/>
              </a:rPr>
              <a:t>ADMINISTRATION TEAM</a:t>
            </a:r>
          </a:p>
        </p:txBody>
      </p:sp>
      <p:sp>
        <p:nvSpPr>
          <p:cNvPr name="TextBox 32" id="32"/>
          <p:cNvSpPr txBox="true"/>
          <p:nvPr/>
        </p:nvSpPr>
        <p:spPr>
          <a:xfrm rot="0">
            <a:off x="1234488" y="2691746"/>
            <a:ext cx="681876" cy="276911"/>
          </a:xfrm>
          <a:prstGeom prst="rect">
            <a:avLst/>
          </a:prstGeom>
        </p:spPr>
        <p:txBody>
          <a:bodyPr anchor="t" rtlCol="false" tIns="0" lIns="0" bIns="0" rIns="0">
            <a:spAutoFit/>
          </a:bodyPr>
          <a:lstStyle/>
          <a:p>
            <a:pPr algn="l">
              <a:lnSpc>
                <a:spcPts val="2418"/>
              </a:lnSpc>
            </a:pPr>
            <a:r>
              <a:rPr lang="en-US" b="true" sz="967" spc="8">
                <a:solidFill>
                  <a:srgbClr val="203864"/>
                </a:solidFill>
                <a:latin typeface="Montserrat Bold"/>
                <a:ea typeface="Montserrat Bold"/>
                <a:cs typeface="Montserrat Bold"/>
                <a:sym typeface="Montserrat Bold"/>
              </a:rPr>
              <a:t>POSITION</a:t>
            </a:r>
            <a:r>
              <a:rPr lang="en-US" b="true" sz="967" spc="8">
                <a:solidFill>
                  <a:srgbClr val="FFFFFF"/>
                </a:solidFill>
                <a:latin typeface="Montserrat Bold"/>
                <a:ea typeface="Montserrat Bold"/>
                <a:cs typeface="Montserrat Bold"/>
                <a:sym typeface="Montserrat Bold"/>
              </a:rPr>
              <a:t> </a:t>
            </a:r>
          </a:p>
        </p:txBody>
      </p:sp>
      <p:sp>
        <p:nvSpPr>
          <p:cNvPr name="TextBox 33" id="33"/>
          <p:cNvSpPr txBox="true"/>
          <p:nvPr/>
        </p:nvSpPr>
        <p:spPr>
          <a:xfrm rot="0">
            <a:off x="2655227" y="2691746"/>
            <a:ext cx="427330" cy="276911"/>
          </a:xfrm>
          <a:prstGeom prst="rect">
            <a:avLst/>
          </a:prstGeom>
        </p:spPr>
        <p:txBody>
          <a:bodyPr anchor="t" rtlCol="false" tIns="0" lIns="0" bIns="0" rIns="0">
            <a:spAutoFit/>
          </a:bodyPr>
          <a:lstStyle/>
          <a:p>
            <a:pPr algn="l">
              <a:lnSpc>
                <a:spcPts val="2418"/>
              </a:lnSpc>
            </a:pPr>
            <a:r>
              <a:rPr lang="en-US" b="true" sz="967" spc="8">
                <a:solidFill>
                  <a:srgbClr val="203864"/>
                </a:solidFill>
                <a:latin typeface="Montserrat Bold"/>
                <a:ea typeface="Montserrat Bold"/>
                <a:cs typeface="Montserrat Bold"/>
                <a:sym typeface="Montserrat Bold"/>
              </a:rPr>
              <a:t>NAME</a:t>
            </a:r>
            <a:r>
              <a:rPr lang="en-US" b="true" sz="967" spc="8">
                <a:solidFill>
                  <a:srgbClr val="FFFFFF"/>
                </a:solidFill>
                <a:latin typeface="Montserrat Bold"/>
                <a:ea typeface="Montserrat Bold"/>
                <a:cs typeface="Montserrat Bold"/>
                <a:sym typeface="Montserrat Bold"/>
              </a:rPr>
              <a:t> </a:t>
            </a:r>
          </a:p>
        </p:txBody>
      </p:sp>
      <p:sp>
        <p:nvSpPr>
          <p:cNvPr name="TextBox 34" id="34"/>
          <p:cNvSpPr txBox="true"/>
          <p:nvPr/>
        </p:nvSpPr>
        <p:spPr>
          <a:xfrm rot="0">
            <a:off x="3934616" y="2691746"/>
            <a:ext cx="1064962" cy="276911"/>
          </a:xfrm>
          <a:prstGeom prst="rect">
            <a:avLst/>
          </a:prstGeom>
        </p:spPr>
        <p:txBody>
          <a:bodyPr anchor="t" rtlCol="false" tIns="0" lIns="0" bIns="0" rIns="0">
            <a:spAutoFit/>
          </a:bodyPr>
          <a:lstStyle/>
          <a:p>
            <a:pPr algn="l">
              <a:lnSpc>
                <a:spcPts val="2418"/>
              </a:lnSpc>
            </a:pPr>
            <a:r>
              <a:rPr lang="en-US" b="true" sz="967" spc="8">
                <a:solidFill>
                  <a:srgbClr val="203864"/>
                </a:solidFill>
                <a:latin typeface="Montserrat Bold"/>
                <a:ea typeface="Montserrat Bold"/>
                <a:cs typeface="Montserrat Bold"/>
                <a:sym typeface="Montserrat Bold"/>
              </a:rPr>
              <a:t>QUALIFICATION</a:t>
            </a:r>
          </a:p>
        </p:txBody>
      </p:sp>
      <p:sp>
        <p:nvSpPr>
          <p:cNvPr name="TextBox 35" id="35"/>
          <p:cNvSpPr txBox="true"/>
          <p:nvPr/>
        </p:nvSpPr>
        <p:spPr>
          <a:xfrm rot="0">
            <a:off x="5696807" y="1919107"/>
            <a:ext cx="966530" cy="497462"/>
          </a:xfrm>
          <a:prstGeom prst="rect">
            <a:avLst/>
          </a:prstGeom>
        </p:spPr>
        <p:txBody>
          <a:bodyPr anchor="t" rtlCol="false" tIns="0" lIns="0" bIns="0" rIns="0">
            <a:spAutoFit/>
          </a:bodyPr>
          <a:lstStyle/>
          <a:p>
            <a:pPr algn="l">
              <a:lnSpc>
                <a:spcPts val="2685"/>
              </a:lnSpc>
            </a:pPr>
            <a:r>
              <a:rPr lang="en-US" b="true" sz="5370" spc="21">
                <a:solidFill>
                  <a:srgbClr val="26398E"/>
                </a:solidFill>
                <a:latin typeface="Montserrat Bold"/>
                <a:ea typeface="Montserrat Bold"/>
                <a:cs typeface="Montserrat Bold"/>
                <a:sym typeface="Montserrat Bold"/>
              </a:rPr>
              <a:t>06</a:t>
            </a:r>
          </a:p>
        </p:txBody>
      </p:sp>
      <p:sp>
        <p:nvSpPr>
          <p:cNvPr name="TextBox 36" id="36"/>
          <p:cNvSpPr txBox="true"/>
          <p:nvPr/>
        </p:nvSpPr>
        <p:spPr>
          <a:xfrm rot="0">
            <a:off x="5897794" y="2691746"/>
            <a:ext cx="838752" cy="429416"/>
          </a:xfrm>
          <a:prstGeom prst="rect">
            <a:avLst/>
          </a:prstGeom>
        </p:spPr>
        <p:txBody>
          <a:bodyPr anchor="t" rtlCol="false" tIns="0" lIns="0" bIns="0" rIns="0">
            <a:spAutoFit/>
          </a:bodyPr>
          <a:lstStyle/>
          <a:p>
            <a:pPr algn="l">
              <a:lnSpc>
                <a:spcPts val="2418"/>
              </a:lnSpc>
            </a:pPr>
            <a:r>
              <a:rPr lang="en-US" b="true" sz="967" spc="9">
                <a:solidFill>
                  <a:srgbClr val="203864"/>
                </a:solidFill>
                <a:latin typeface="Montserrat Bold"/>
                <a:ea typeface="Montserrat Bold"/>
                <a:cs typeface="Montserrat Bold"/>
                <a:sym typeface="Montserrat Bold"/>
              </a:rPr>
              <a:t>YEARS OF </a:t>
            </a:r>
          </a:p>
          <a:p>
            <a:pPr algn="l">
              <a:lnSpc>
                <a:spcPts val="483"/>
              </a:lnSpc>
            </a:pPr>
            <a:r>
              <a:rPr lang="en-US" b="true" sz="967" spc="9">
                <a:solidFill>
                  <a:srgbClr val="203864"/>
                </a:solidFill>
                <a:latin typeface="Montserrat Bold"/>
                <a:ea typeface="Montserrat Bold"/>
                <a:cs typeface="Montserrat Bold"/>
                <a:sym typeface="Montserrat Bold"/>
              </a:rPr>
              <a:t>EXPERIENCE</a:t>
            </a:r>
          </a:p>
        </p:txBody>
      </p:sp>
      <p:sp>
        <p:nvSpPr>
          <p:cNvPr name="TextBox 37" id="37"/>
          <p:cNvSpPr txBox="true"/>
          <p:nvPr/>
        </p:nvSpPr>
        <p:spPr>
          <a:xfrm rot="0">
            <a:off x="1637319" y="6841988"/>
            <a:ext cx="2283533" cy="232715"/>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p:txBody>
      </p:sp>
      <p:sp>
        <p:nvSpPr>
          <p:cNvPr name="TextBox 38" id="38"/>
          <p:cNvSpPr txBox="true"/>
          <p:nvPr/>
        </p:nvSpPr>
        <p:spPr>
          <a:xfrm rot="0">
            <a:off x="1634033" y="3349714"/>
            <a:ext cx="2737475" cy="232715"/>
          </a:xfrm>
          <a:prstGeom prst="rect">
            <a:avLst/>
          </a:prstGeom>
        </p:spPr>
        <p:txBody>
          <a:bodyPr anchor="t" rtlCol="false" tIns="0" lIns="0" bIns="0" rIns="0">
            <a:spAutoFit/>
          </a:bodyPr>
          <a:lstStyle/>
          <a:p>
            <a:pPr algn="l">
              <a:lnSpc>
                <a:spcPts val="1821"/>
              </a:lnSpc>
            </a:pPr>
            <a:r>
              <a:rPr lang="en-US" sz="1301" spc="88">
                <a:solidFill>
                  <a:srgbClr val="FFFFFF"/>
                </a:solidFill>
                <a:latin typeface="Montserrat"/>
                <a:ea typeface="Montserrat"/>
                <a:cs typeface="Montserrat"/>
                <a:sym typeface="Montserrat"/>
              </a:rPr>
              <a:t>IR. ZAINUDIN MOHD SALLEH</a:t>
            </a:r>
          </a:p>
        </p:txBody>
      </p:sp>
      <p:sp>
        <p:nvSpPr>
          <p:cNvPr name="TextBox 39" id="39"/>
          <p:cNvSpPr txBox="true"/>
          <p:nvPr/>
        </p:nvSpPr>
        <p:spPr>
          <a:xfrm rot="0">
            <a:off x="1234488" y="5702065"/>
            <a:ext cx="560156"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Engineer</a:t>
            </a:r>
          </a:p>
        </p:txBody>
      </p:sp>
      <p:sp>
        <p:nvSpPr>
          <p:cNvPr name="TextBox 40" id="40"/>
          <p:cNvSpPr txBox="true"/>
          <p:nvPr/>
        </p:nvSpPr>
        <p:spPr>
          <a:xfrm rot="0">
            <a:off x="1234488" y="6235970"/>
            <a:ext cx="560156"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Engineer</a:t>
            </a:r>
          </a:p>
        </p:txBody>
      </p:sp>
      <p:sp>
        <p:nvSpPr>
          <p:cNvPr name="TextBox 41" id="41"/>
          <p:cNvSpPr txBox="true"/>
          <p:nvPr/>
        </p:nvSpPr>
        <p:spPr>
          <a:xfrm rot="0">
            <a:off x="1234488" y="4783760"/>
            <a:ext cx="598208"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Engineer </a:t>
            </a:r>
          </a:p>
        </p:txBody>
      </p:sp>
      <p:sp>
        <p:nvSpPr>
          <p:cNvPr name="TextBox 42" id="42"/>
          <p:cNvSpPr txBox="true"/>
          <p:nvPr/>
        </p:nvSpPr>
        <p:spPr>
          <a:xfrm rot="0">
            <a:off x="1234488" y="6695122"/>
            <a:ext cx="598208"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Engineer </a:t>
            </a:r>
          </a:p>
        </p:txBody>
      </p:sp>
      <p:sp>
        <p:nvSpPr>
          <p:cNvPr name="TextBox 43" id="43"/>
          <p:cNvSpPr txBox="true"/>
          <p:nvPr/>
        </p:nvSpPr>
        <p:spPr>
          <a:xfrm rot="0">
            <a:off x="1234488" y="8681237"/>
            <a:ext cx="714270"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Technician </a:t>
            </a:r>
          </a:p>
        </p:txBody>
      </p:sp>
      <p:sp>
        <p:nvSpPr>
          <p:cNvPr name="TextBox 44" id="44"/>
          <p:cNvSpPr txBox="true"/>
          <p:nvPr/>
        </p:nvSpPr>
        <p:spPr>
          <a:xfrm rot="0">
            <a:off x="1234488" y="9140390"/>
            <a:ext cx="714270"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Technician </a:t>
            </a:r>
          </a:p>
        </p:txBody>
      </p:sp>
      <p:sp>
        <p:nvSpPr>
          <p:cNvPr name="TextBox 45" id="45"/>
          <p:cNvSpPr txBox="true"/>
          <p:nvPr/>
        </p:nvSpPr>
        <p:spPr>
          <a:xfrm rot="0">
            <a:off x="1234488" y="7762923"/>
            <a:ext cx="824236"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Admintrative</a:t>
            </a:r>
          </a:p>
        </p:txBody>
      </p:sp>
      <p:sp>
        <p:nvSpPr>
          <p:cNvPr name="TextBox 46" id="46"/>
          <p:cNvSpPr txBox="true"/>
          <p:nvPr/>
        </p:nvSpPr>
        <p:spPr>
          <a:xfrm rot="0">
            <a:off x="1234488" y="4259380"/>
            <a:ext cx="885596" cy="312010"/>
          </a:xfrm>
          <a:prstGeom prst="rect">
            <a:avLst/>
          </a:prstGeom>
        </p:spPr>
        <p:txBody>
          <a:bodyPr anchor="t" rtlCol="false" tIns="0" lIns="0" bIns="0" rIns="0">
            <a:spAutoFit/>
          </a:bodyPr>
          <a:lstStyle/>
          <a:p>
            <a:pPr algn="l">
              <a:lnSpc>
                <a:spcPts val="1200"/>
              </a:lnSpc>
            </a:pPr>
            <a:r>
              <a:rPr lang="en-US" sz="967" spc="0">
                <a:solidFill>
                  <a:srgbClr val="000000"/>
                </a:solidFill>
                <a:latin typeface="Montserrat"/>
                <a:ea typeface="Montserrat"/>
                <a:cs typeface="Montserrat"/>
                <a:sym typeface="Montserrat"/>
              </a:rPr>
              <a:t>Business Development </a:t>
            </a:r>
          </a:p>
        </p:txBody>
      </p:sp>
      <p:sp>
        <p:nvSpPr>
          <p:cNvPr name="TextBox 47" id="47"/>
          <p:cNvSpPr txBox="true"/>
          <p:nvPr/>
        </p:nvSpPr>
        <p:spPr>
          <a:xfrm rot="0">
            <a:off x="1234488" y="8147333"/>
            <a:ext cx="1040844"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Account Officer </a:t>
            </a:r>
          </a:p>
        </p:txBody>
      </p:sp>
      <p:sp>
        <p:nvSpPr>
          <p:cNvPr name="TextBox 48" id="48"/>
          <p:cNvSpPr txBox="true"/>
          <p:nvPr/>
        </p:nvSpPr>
        <p:spPr>
          <a:xfrm rot="0">
            <a:off x="1234488" y="3331540"/>
            <a:ext cx="1071458"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Project Manager </a:t>
            </a:r>
          </a:p>
        </p:txBody>
      </p:sp>
      <p:sp>
        <p:nvSpPr>
          <p:cNvPr name="TextBox 49" id="49"/>
          <p:cNvSpPr txBox="true"/>
          <p:nvPr/>
        </p:nvSpPr>
        <p:spPr>
          <a:xfrm rot="0">
            <a:off x="1234488" y="7303770"/>
            <a:ext cx="1166355"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Project Tendering </a:t>
            </a:r>
          </a:p>
        </p:txBody>
      </p:sp>
      <p:sp>
        <p:nvSpPr>
          <p:cNvPr name="TextBox 50" id="50"/>
          <p:cNvSpPr txBox="true"/>
          <p:nvPr/>
        </p:nvSpPr>
        <p:spPr>
          <a:xfrm rot="0">
            <a:off x="1234488" y="3790702"/>
            <a:ext cx="1175461"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Contract Manager </a:t>
            </a:r>
          </a:p>
        </p:txBody>
      </p:sp>
      <p:sp>
        <p:nvSpPr>
          <p:cNvPr name="TextBox 51" id="51"/>
          <p:cNvSpPr txBox="true"/>
          <p:nvPr/>
        </p:nvSpPr>
        <p:spPr>
          <a:xfrm rot="0">
            <a:off x="1234488" y="5168160"/>
            <a:ext cx="1188368"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Quantity Surveyor </a:t>
            </a:r>
          </a:p>
        </p:txBody>
      </p:sp>
      <p:sp>
        <p:nvSpPr>
          <p:cNvPr name="TextBox 52" id="52"/>
          <p:cNvSpPr txBox="true"/>
          <p:nvPr/>
        </p:nvSpPr>
        <p:spPr>
          <a:xfrm rot="0">
            <a:off x="1234488" y="9475784"/>
            <a:ext cx="711136" cy="273806"/>
          </a:xfrm>
          <a:prstGeom prst="rect">
            <a:avLst/>
          </a:prstGeom>
        </p:spPr>
        <p:txBody>
          <a:bodyPr anchor="t" rtlCol="false" tIns="0" lIns="0" bIns="0" rIns="0">
            <a:spAutoFit/>
          </a:bodyPr>
          <a:lstStyle/>
          <a:p>
            <a:pPr algn="l">
              <a:lnSpc>
                <a:spcPts val="2418"/>
              </a:lnSpc>
            </a:pPr>
            <a:r>
              <a:rPr lang="en-US" sz="967">
                <a:solidFill>
                  <a:srgbClr val="000000"/>
                </a:solidFill>
                <a:latin typeface="Montserrat"/>
                <a:ea typeface="Montserrat"/>
                <a:cs typeface="Montserrat"/>
                <a:sym typeface="Montserrat"/>
              </a:rPr>
              <a:t>Supervisor </a:t>
            </a:r>
          </a:p>
        </p:txBody>
      </p:sp>
      <p:sp>
        <p:nvSpPr>
          <p:cNvPr name="TextBox 53" id="53"/>
          <p:cNvSpPr txBox="true"/>
          <p:nvPr/>
        </p:nvSpPr>
        <p:spPr>
          <a:xfrm rot="0">
            <a:off x="1234488" y="9841211"/>
            <a:ext cx="1277836" cy="273806"/>
          </a:xfrm>
          <a:prstGeom prst="rect">
            <a:avLst/>
          </a:prstGeom>
        </p:spPr>
        <p:txBody>
          <a:bodyPr anchor="t" rtlCol="false" tIns="0" lIns="0" bIns="0" rIns="0">
            <a:spAutoFit/>
          </a:bodyPr>
          <a:lstStyle/>
          <a:p>
            <a:pPr algn="l">
              <a:lnSpc>
                <a:spcPts val="2418"/>
              </a:lnSpc>
            </a:pPr>
            <a:r>
              <a:rPr lang="en-US" sz="967">
                <a:solidFill>
                  <a:srgbClr val="000000"/>
                </a:solidFill>
                <a:latin typeface="Montserrat"/>
                <a:ea typeface="Montserrat"/>
                <a:cs typeface="Montserrat"/>
                <a:sym typeface="Montserrat"/>
              </a:rPr>
              <a:t>Telecommunication </a:t>
            </a:r>
          </a:p>
        </p:txBody>
      </p:sp>
      <p:sp>
        <p:nvSpPr>
          <p:cNvPr name="TextBox 54" id="54"/>
          <p:cNvSpPr txBox="true"/>
          <p:nvPr/>
        </p:nvSpPr>
        <p:spPr>
          <a:xfrm rot="0">
            <a:off x="2655227" y="3191580"/>
            <a:ext cx="603180" cy="312010"/>
          </a:xfrm>
          <a:prstGeom prst="rect">
            <a:avLst/>
          </a:prstGeom>
        </p:spPr>
        <p:txBody>
          <a:bodyPr anchor="t" rtlCol="false" tIns="0" lIns="0" bIns="0" rIns="0">
            <a:spAutoFit/>
          </a:bodyPr>
          <a:lstStyle/>
          <a:p>
            <a:pPr algn="l">
              <a:lnSpc>
                <a:spcPts val="1200"/>
              </a:lnSpc>
            </a:pPr>
            <a:r>
              <a:rPr lang="en-US" sz="967" spc="1">
                <a:solidFill>
                  <a:srgbClr val="000000"/>
                </a:solidFill>
                <a:latin typeface="Montserrat"/>
                <a:ea typeface="Montserrat"/>
                <a:cs typeface="Montserrat"/>
                <a:sym typeface="Montserrat"/>
              </a:rPr>
              <a:t>Ab Razak Mustafa </a:t>
            </a:r>
          </a:p>
        </p:txBody>
      </p:sp>
      <p:sp>
        <p:nvSpPr>
          <p:cNvPr name="TextBox 55" id="55"/>
          <p:cNvSpPr txBox="true"/>
          <p:nvPr/>
        </p:nvSpPr>
        <p:spPr>
          <a:xfrm rot="0">
            <a:off x="2655227" y="4783760"/>
            <a:ext cx="634565"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Hanf</a:t>
            </a:r>
            <a:r>
              <a:rPr lang="en-US" sz="967" spc="0">
                <a:solidFill>
                  <a:srgbClr val="FFFFFF"/>
                </a:solidFill>
                <a:latin typeface="Montserrat"/>
                <a:ea typeface="Montserrat"/>
                <a:cs typeface="Montserrat"/>
                <a:sym typeface="Montserrat"/>
              </a:rPr>
              <a:t> </a:t>
            </a:r>
            <a:r>
              <a:rPr lang="en-US" sz="967" spc="0">
                <a:solidFill>
                  <a:srgbClr val="000000"/>
                </a:solidFill>
                <a:latin typeface="Montserrat"/>
                <a:ea typeface="Montserrat"/>
                <a:cs typeface="Montserrat"/>
                <a:sym typeface="Montserrat"/>
              </a:rPr>
              <a:t>Moin</a:t>
            </a:r>
          </a:p>
        </p:txBody>
      </p:sp>
      <p:sp>
        <p:nvSpPr>
          <p:cNvPr name="TextBox 56" id="56"/>
          <p:cNvSpPr txBox="true"/>
          <p:nvPr/>
        </p:nvSpPr>
        <p:spPr>
          <a:xfrm rot="0">
            <a:off x="2655227" y="3790702"/>
            <a:ext cx="759628"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Marina Moin</a:t>
            </a:r>
          </a:p>
        </p:txBody>
      </p:sp>
      <p:sp>
        <p:nvSpPr>
          <p:cNvPr name="TextBox 57" id="57"/>
          <p:cNvSpPr txBox="true"/>
          <p:nvPr/>
        </p:nvSpPr>
        <p:spPr>
          <a:xfrm rot="0">
            <a:off x="2655227" y="7163800"/>
            <a:ext cx="875290" cy="312010"/>
          </a:xfrm>
          <a:prstGeom prst="rect">
            <a:avLst/>
          </a:prstGeom>
        </p:spPr>
        <p:txBody>
          <a:bodyPr anchor="t" rtlCol="false" tIns="0" lIns="0" bIns="0" rIns="0">
            <a:spAutoFit/>
          </a:bodyPr>
          <a:lstStyle/>
          <a:p>
            <a:pPr algn="l">
              <a:lnSpc>
                <a:spcPts val="1200"/>
              </a:lnSpc>
            </a:pPr>
            <a:r>
              <a:rPr lang="en-US" sz="967">
                <a:solidFill>
                  <a:srgbClr val="000000"/>
                </a:solidFill>
                <a:latin typeface="Montserrat"/>
                <a:ea typeface="Montserrat"/>
                <a:cs typeface="Montserrat"/>
                <a:sym typeface="Montserrat"/>
              </a:rPr>
              <a:t>Zanariah</a:t>
            </a:r>
            <a:r>
              <a:rPr lang="en-US" sz="967">
                <a:solidFill>
                  <a:srgbClr val="FFFFFF"/>
                </a:solidFill>
                <a:latin typeface="Montserrat"/>
                <a:ea typeface="Montserrat"/>
                <a:cs typeface="Montserrat"/>
                <a:sym typeface="Montserrat"/>
              </a:rPr>
              <a:t> </a:t>
            </a:r>
            <a:r>
              <a:rPr lang="en-US" sz="967">
                <a:solidFill>
                  <a:srgbClr val="000000"/>
                </a:solidFill>
                <a:latin typeface="Montserrat"/>
                <a:ea typeface="Montserrat"/>
                <a:cs typeface="Montserrat"/>
                <a:sym typeface="Montserrat"/>
              </a:rPr>
              <a:t>Binti Razali</a:t>
            </a:r>
          </a:p>
        </p:txBody>
      </p:sp>
      <p:sp>
        <p:nvSpPr>
          <p:cNvPr name="TextBox 58" id="58"/>
          <p:cNvSpPr txBox="true"/>
          <p:nvPr/>
        </p:nvSpPr>
        <p:spPr>
          <a:xfrm rot="0">
            <a:off x="2655227" y="4324598"/>
            <a:ext cx="858793" cy="169031"/>
          </a:xfrm>
          <a:prstGeom prst="rect">
            <a:avLst/>
          </a:prstGeom>
        </p:spPr>
        <p:txBody>
          <a:bodyPr anchor="t" rtlCol="false" tIns="0" lIns="0" bIns="0" rIns="0">
            <a:spAutoFit/>
          </a:bodyPr>
          <a:lstStyle/>
          <a:p>
            <a:pPr algn="l">
              <a:lnSpc>
                <a:spcPts val="1354"/>
              </a:lnSpc>
            </a:pPr>
            <a:r>
              <a:rPr lang="en-US" sz="967">
                <a:solidFill>
                  <a:srgbClr val="000000"/>
                </a:solidFill>
                <a:latin typeface="Montserrat"/>
                <a:ea typeface="Montserrat"/>
                <a:cs typeface="Montserrat"/>
                <a:sym typeface="Montserrat"/>
              </a:rPr>
              <a:t>ZainiIbrahim </a:t>
            </a:r>
          </a:p>
        </p:txBody>
      </p:sp>
      <p:sp>
        <p:nvSpPr>
          <p:cNvPr name="TextBox 59" id="59"/>
          <p:cNvSpPr txBox="true"/>
          <p:nvPr/>
        </p:nvSpPr>
        <p:spPr>
          <a:xfrm rot="0">
            <a:off x="2655227" y="6096000"/>
            <a:ext cx="1100290" cy="312010"/>
          </a:xfrm>
          <a:prstGeom prst="rect">
            <a:avLst/>
          </a:prstGeom>
        </p:spPr>
        <p:txBody>
          <a:bodyPr anchor="t" rtlCol="false" tIns="0" lIns="0" bIns="0" rIns="0">
            <a:spAutoFit/>
          </a:bodyPr>
          <a:lstStyle/>
          <a:p>
            <a:pPr algn="l">
              <a:lnSpc>
                <a:spcPts val="1200"/>
              </a:lnSpc>
            </a:pPr>
            <a:r>
              <a:rPr lang="en-US" sz="967">
                <a:solidFill>
                  <a:srgbClr val="000000"/>
                </a:solidFill>
                <a:latin typeface="Montserrat"/>
                <a:ea typeface="Montserrat"/>
                <a:cs typeface="Montserrat"/>
                <a:sym typeface="Montserrat"/>
              </a:rPr>
              <a:t>RosmainiBin Che Ghani </a:t>
            </a:r>
          </a:p>
        </p:txBody>
      </p:sp>
      <p:sp>
        <p:nvSpPr>
          <p:cNvPr name="TextBox 60" id="60"/>
          <p:cNvSpPr txBox="true"/>
          <p:nvPr/>
        </p:nvSpPr>
        <p:spPr>
          <a:xfrm rot="0">
            <a:off x="2655227" y="5168160"/>
            <a:ext cx="1074039"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Sr</a:t>
            </a:r>
            <a:r>
              <a:rPr lang="en-US" sz="967" spc="1">
                <a:solidFill>
                  <a:srgbClr val="FFFFFF"/>
                </a:solidFill>
                <a:latin typeface="Montserrat"/>
                <a:ea typeface="Montserrat"/>
                <a:cs typeface="Montserrat"/>
                <a:sym typeface="Montserrat"/>
              </a:rPr>
              <a:t> </a:t>
            </a:r>
            <a:r>
              <a:rPr lang="en-US" sz="967" spc="1">
                <a:solidFill>
                  <a:srgbClr val="000000"/>
                </a:solidFill>
                <a:latin typeface="Montserrat"/>
                <a:ea typeface="Montserrat"/>
                <a:cs typeface="Montserrat"/>
                <a:sym typeface="Montserrat"/>
              </a:rPr>
              <a:t>Shakirah</a:t>
            </a:r>
            <a:r>
              <a:rPr lang="en-US" sz="967" spc="1">
                <a:solidFill>
                  <a:srgbClr val="FFFFFF"/>
                </a:solidFill>
                <a:latin typeface="Montserrat"/>
                <a:ea typeface="Montserrat"/>
                <a:cs typeface="Montserrat"/>
                <a:sym typeface="Montserrat"/>
              </a:rPr>
              <a:t> </a:t>
            </a:r>
            <a:r>
              <a:rPr lang="en-US" sz="967" spc="1">
                <a:solidFill>
                  <a:srgbClr val="000000"/>
                </a:solidFill>
                <a:latin typeface="Montserrat"/>
                <a:ea typeface="Montserrat"/>
                <a:cs typeface="Montserrat"/>
                <a:sym typeface="Montserrat"/>
              </a:rPr>
              <a:t>Azmi</a:t>
            </a:r>
          </a:p>
        </p:txBody>
      </p:sp>
      <p:sp>
        <p:nvSpPr>
          <p:cNvPr name="TextBox 61" id="61"/>
          <p:cNvSpPr txBox="true"/>
          <p:nvPr/>
        </p:nvSpPr>
        <p:spPr>
          <a:xfrm rot="0">
            <a:off x="2655227" y="5562095"/>
            <a:ext cx="1110291" cy="312010"/>
          </a:xfrm>
          <a:prstGeom prst="rect">
            <a:avLst/>
          </a:prstGeom>
        </p:spPr>
        <p:txBody>
          <a:bodyPr anchor="t" rtlCol="false" tIns="0" lIns="0" bIns="0" rIns="0">
            <a:spAutoFit/>
          </a:bodyPr>
          <a:lstStyle/>
          <a:p>
            <a:pPr algn="l">
              <a:lnSpc>
                <a:spcPts val="1200"/>
              </a:lnSpc>
            </a:pPr>
            <a:r>
              <a:rPr lang="en-US" sz="967">
                <a:solidFill>
                  <a:srgbClr val="000000"/>
                </a:solidFill>
                <a:latin typeface="Montserrat"/>
                <a:ea typeface="Montserrat"/>
                <a:cs typeface="Montserrat"/>
                <a:sym typeface="Montserrat"/>
              </a:rPr>
              <a:t>Tg. M SyazwanHj Tuan Mat </a:t>
            </a:r>
          </a:p>
        </p:txBody>
      </p:sp>
      <p:sp>
        <p:nvSpPr>
          <p:cNvPr name="TextBox 62" id="62"/>
          <p:cNvSpPr txBox="true"/>
          <p:nvPr/>
        </p:nvSpPr>
        <p:spPr>
          <a:xfrm rot="0">
            <a:off x="2655227" y="6629905"/>
            <a:ext cx="1136094" cy="312010"/>
          </a:xfrm>
          <a:prstGeom prst="rect">
            <a:avLst/>
          </a:prstGeom>
        </p:spPr>
        <p:txBody>
          <a:bodyPr anchor="t" rtlCol="false" tIns="0" lIns="0" bIns="0" rIns="0">
            <a:spAutoFit/>
          </a:bodyPr>
          <a:lstStyle/>
          <a:p>
            <a:pPr algn="l">
              <a:lnSpc>
                <a:spcPts val="1200"/>
              </a:lnSpc>
            </a:pPr>
            <a:r>
              <a:rPr lang="en-US" sz="967">
                <a:solidFill>
                  <a:srgbClr val="000000"/>
                </a:solidFill>
                <a:latin typeface="Montserrat"/>
                <a:ea typeface="Montserrat"/>
                <a:cs typeface="Montserrat"/>
                <a:sym typeface="Montserrat"/>
              </a:rPr>
              <a:t>AlhazimeBin Mat Daud</a:t>
            </a:r>
          </a:p>
        </p:txBody>
      </p:sp>
      <p:sp>
        <p:nvSpPr>
          <p:cNvPr name="TextBox 63" id="63"/>
          <p:cNvSpPr txBox="true"/>
          <p:nvPr/>
        </p:nvSpPr>
        <p:spPr>
          <a:xfrm rot="0">
            <a:off x="2655227" y="7658148"/>
            <a:ext cx="1112644" cy="735968"/>
          </a:xfrm>
          <a:prstGeom prst="rect">
            <a:avLst/>
          </a:prstGeom>
        </p:spPr>
        <p:txBody>
          <a:bodyPr anchor="t" rtlCol="false" tIns="0" lIns="0" bIns="0" rIns="0">
            <a:spAutoFit/>
          </a:bodyPr>
          <a:lstStyle/>
          <a:p>
            <a:pPr algn="l">
              <a:lnSpc>
                <a:spcPts val="2418"/>
              </a:lnSpc>
            </a:pPr>
            <a:r>
              <a:rPr lang="en-US" sz="967" spc="-3">
                <a:solidFill>
                  <a:srgbClr val="000000"/>
                </a:solidFill>
                <a:latin typeface="Montserrat"/>
                <a:ea typeface="Montserrat"/>
                <a:cs typeface="Montserrat"/>
                <a:sym typeface="Montserrat"/>
              </a:rPr>
              <a:t>NoralisaBintiIleis NorrahilaBinti</a:t>
            </a:r>
          </a:p>
          <a:p>
            <a:pPr algn="l">
              <a:lnSpc>
                <a:spcPts val="483"/>
              </a:lnSpc>
            </a:pPr>
            <a:r>
              <a:rPr lang="en-US" sz="967" spc="0">
                <a:solidFill>
                  <a:srgbClr val="000000"/>
                </a:solidFill>
                <a:latin typeface="Montserrat"/>
                <a:ea typeface="Montserrat"/>
                <a:cs typeface="Montserrat"/>
                <a:sym typeface="Montserrat"/>
              </a:rPr>
              <a:t>Saikan</a:t>
            </a:r>
          </a:p>
        </p:txBody>
      </p:sp>
      <p:sp>
        <p:nvSpPr>
          <p:cNvPr name="TextBox 64" id="64"/>
          <p:cNvSpPr txBox="true"/>
          <p:nvPr/>
        </p:nvSpPr>
        <p:spPr>
          <a:xfrm rot="0">
            <a:off x="3934616" y="7658148"/>
            <a:ext cx="1714891" cy="2534622"/>
          </a:xfrm>
          <a:prstGeom prst="rect">
            <a:avLst/>
          </a:prstGeom>
        </p:spPr>
        <p:txBody>
          <a:bodyPr anchor="t" rtlCol="false" tIns="0" lIns="0" bIns="0" rIns="0">
            <a:spAutoFit/>
          </a:bodyPr>
          <a:lstStyle/>
          <a:p>
            <a:pPr algn="l">
              <a:lnSpc>
                <a:spcPts val="2418"/>
              </a:lnSpc>
            </a:pPr>
            <a:r>
              <a:rPr lang="en-US" sz="967" spc="-3">
                <a:solidFill>
                  <a:srgbClr val="000000"/>
                </a:solidFill>
                <a:latin typeface="Montserrat"/>
                <a:ea typeface="Montserrat"/>
                <a:cs typeface="Montserrat"/>
                <a:sym typeface="Montserrat"/>
              </a:rPr>
              <a:t>Diploma in Banking, UITM BscManagement of </a:t>
            </a:r>
          </a:p>
          <a:p>
            <a:pPr algn="l">
              <a:lnSpc>
                <a:spcPts val="483"/>
              </a:lnSpc>
            </a:pPr>
            <a:r>
              <a:rPr lang="en-US" sz="967" spc="0">
                <a:solidFill>
                  <a:srgbClr val="000000"/>
                </a:solidFill>
                <a:latin typeface="Montserrat"/>
                <a:ea typeface="Montserrat"/>
                <a:cs typeface="Montserrat"/>
                <a:sym typeface="Montserrat"/>
              </a:rPr>
              <a:t>Technology, University </a:t>
            </a:r>
          </a:p>
          <a:p>
            <a:pPr algn="l">
              <a:lnSpc>
                <a:spcPts val="1835"/>
              </a:lnSpc>
            </a:pPr>
            <a:r>
              <a:rPr lang="en-US" sz="967" spc="0">
                <a:solidFill>
                  <a:srgbClr val="000000"/>
                </a:solidFill>
                <a:latin typeface="Montserrat"/>
                <a:ea typeface="Montserrat"/>
                <a:cs typeface="Montserrat"/>
                <a:sym typeface="Montserrat"/>
              </a:rPr>
              <a:t>TeknologiMalaysia Certificate Photovoltaic </a:t>
            </a:r>
          </a:p>
          <a:p>
            <a:pPr algn="l">
              <a:lnSpc>
                <a:spcPts val="582"/>
              </a:lnSpc>
            </a:pPr>
            <a:r>
              <a:rPr lang="en-US" sz="967" spc="0">
                <a:solidFill>
                  <a:srgbClr val="000000"/>
                </a:solidFill>
                <a:latin typeface="Montserrat"/>
                <a:ea typeface="Montserrat"/>
                <a:cs typeface="Montserrat"/>
                <a:sym typeface="Montserrat"/>
              </a:rPr>
              <a:t>System for Wireman &amp; </a:t>
            </a:r>
          </a:p>
          <a:p>
            <a:pPr algn="l">
              <a:lnSpc>
                <a:spcPts val="1835"/>
              </a:lnSpc>
            </a:pPr>
            <a:r>
              <a:rPr lang="en-US" sz="967" spc="0">
                <a:solidFill>
                  <a:srgbClr val="000000"/>
                </a:solidFill>
                <a:latin typeface="Montserrat"/>
                <a:ea typeface="Montserrat"/>
                <a:cs typeface="Montserrat"/>
                <a:sym typeface="Montserrat"/>
              </a:rPr>
              <a:t>Wireman PW4 ChargemanB4 &amp; Wireman </a:t>
            </a:r>
          </a:p>
          <a:p>
            <a:pPr algn="l">
              <a:lnSpc>
                <a:spcPts val="483"/>
              </a:lnSpc>
            </a:pPr>
            <a:r>
              <a:rPr lang="en-US" sz="967" spc="-1">
                <a:solidFill>
                  <a:srgbClr val="000000"/>
                </a:solidFill>
                <a:latin typeface="Montserrat"/>
                <a:ea typeface="Montserrat"/>
                <a:cs typeface="Montserrat"/>
                <a:sym typeface="Montserrat"/>
              </a:rPr>
              <a:t>PW4 </a:t>
            </a:r>
          </a:p>
          <a:p>
            <a:pPr algn="l">
              <a:lnSpc>
                <a:spcPts val="2418"/>
              </a:lnSpc>
            </a:pPr>
            <a:r>
              <a:rPr lang="en-US" sz="967" spc="0">
                <a:solidFill>
                  <a:srgbClr val="000000"/>
                </a:solidFill>
                <a:latin typeface="Montserrat"/>
                <a:ea typeface="Montserrat"/>
                <a:cs typeface="Montserrat"/>
                <a:sym typeface="Montserrat"/>
              </a:rPr>
              <a:t>Wireman PW4 </a:t>
            </a:r>
          </a:p>
          <a:p>
            <a:pPr algn="l">
              <a:lnSpc>
                <a:spcPts val="2159"/>
              </a:lnSpc>
            </a:pPr>
            <a:r>
              <a:rPr lang="en-US" sz="967" spc="0">
                <a:solidFill>
                  <a:srgbClr val="000000"/>
                </a:solidFill>
                <a:latin typeface="Montserrat"/>
                <a:ea typeface="Montserrat"/>
                <a:cs typeface="Montserrat"/>
                <a:sym typeface="Montserrat"/>
              </a:rPr>
              <a:t>Cert in Networking </a:t>
            </a:r>
          </a:p>
          <a:p>
            <a:pPr algn="l">
              <a:lnSpc>
                <a:spcPts val="483"/>
              </a:lnSpc>
            </a:pPr>
            <a:r>
              <a:rPr lang="en-US" sz="967" spc="-1">
                <a:solidFill>
                  <a:srgbClr val="000000"/>
                </a:solidFill>
                <a:latin typeface="Montserrat"/>
                <a:ea typeface="Montserrat"/>
                <a:cs typeface="Montserrat"/>
                <a:sym typeface="Montserrat"/>
              </a:rPr>
              <a:t>Installation (Telekom) </a:t>
            </a:r>
          </a:p>
        </p:txBody>
      </p:sp>
      <p:sp>
        <p:nvSpPr>
          <p:cNvPr name="TextBox 65" id="65"/>
          <p:cNvSpPr txBox="true"/>
          <p:nvPr/>
        </p:nvSpPr>
        <p:spPr>
          <a:xfrm rot="0">
            <a:off x="2655227" y="8558860"/>
            <a:ext cx="799062" cy="369160"/>
          </a:xfrm>
          <a:prstGeom prst="rect">
            <a:avLst/>
          </a:prstGeom>
        </p:spPr>
        <p:txBody>
          <a:bodyPr anchor="t" rtlCol="false" tIns="0" lIns="0" bIns="0" rIns="0">
            <a:spAutoFit/>
          </a:bodyPr>
          <a:lstStyle/>
          <a:p>
            <a:pPr algn="l">
              <a:lnSpc>
                <a:spcPts val="1835"/>
              </a:lnSpc>
            </a:pPr>
            <a:r>
              <a:rPr lang="en-US" sz="967" spc="0">
                <a:solidFill>
                  <a:srgbClr val="000000"/>
                </a:solidFill>
                <a:latin typeface="Montserrat"/>
                <a:ea typeface="Montserrat"/>
                <a:cs typeface="Montserrat"/>
                <a:sym typeface="Montserrat"/>
              </a:rPr>
              <a:t>MohdRazali</a:t>
            </a:r>
          </a:p>
          <a:p>
            <a:pPr algn="l">
              <a:lnSpc>
                <a:spcPts val="582"/>
              </a:lnSpc>
            </a:pPr>
            <a:r>
              <a:rPr lang="en-US" sz="967" spc="0">
                <a:solidFill>
                  <a:srgbClr val="000000"/>
                </a:solidFill>
                <a:latin typeface="Montserrat"/>
                <a:ea typeface="Montserrat"/>
                <a:cs typeface="Montserrat"/>
                <a:sym typeface="Montserrat"/>
              </a:rPr>
              <a:t>Abdul Razak</a:t>
            </a:r>
          </a:p>
        </p:txBody>
      </p:sp>
      <p:sp>
        <p:nvSpPr>
          <p:cNvPr name="TextBox 66" id="66"/>
          <p:cNvSpPr txBox="true"/>
          <p:nvPr/>
        </p:nvSpPr>
        <p:spPr>
          <a:xfrm rot="0">
            <a:off x="2655227" y="9092765"/>
            <a:ext cx="1151211" cy="216656"/>
          </a:xfrm>
          <a:prstGeom prst="rect">
            <a:avLst/>
          </a:prstGeom>
        </p:spPr>
        <p:txBody>
          <a:bodyPr anchor="t" rtlCol="false" tIns="0" lIns="0" bIns="0" rIns="0">
            <a:spAutoFit/>
          </a:bodyPr>
          <a:lstStyle/>
          <a:p>
            <a:pPr algn="l">
              <a:lnSpc>
                <a:spcPts val="1835"/>
              </a:lnSpc>
            </a:pPr>
            <a:r>
              <a:rPr lang="en-US" sz="967" spc="0">
                <a:solidFill>
                  <a:srgbClr val="000000"/>
                </a:solidFill>
                <a:latin typeface="Montserrat"/>
                <a:ea typeface="Montserrat"/>
                <a:cs typeface="Montserrat"/>
                <a:sym typeface="Montserrat"/>
              </a:rPr>
              <a:t>Tumiranbin Musa </a:t>
            </a:r>
          </a:p>
        </p:txBody>
      </p:sp>
      <p:sp>
        <p:nvSpPr>
          <p:cNvPr name="TextBox 67" id="67"/>
          <p:cNvSpPr txBox="true"/>
          <p:nvPr/>
        </p:nvSpPr>
        <p:spPr>
          <a:xfrm rot="0">
            <a:off x="2655227" y="9475784"/>
            <a:ext cx="1149868" cy="716985"/>
          </a:xfrm>
          <a:prstGeom prst="rect">
            <a:avLst/>
          </a:prstGeom>
        </p:spPr>
        <p:txBody>
          <a:bodyPr anchor="t" rtlCol="false" tIns="0" lIns="0" bIns="0" rIns="0">
            <a:spAutoFit/>
          </a:bodyPr>
          <a:lstStyle/>
          <a:p>
            <a:pPr algn="l">
              <a:lnSpc>
                <a:spcPts val="2418"/>
              </a:lnSpc>
            </a:pPr>
            <a:r>
              <a:rPr lang="en-US" sz="967" spc="0">
                <a:solidFill>
                  <a:srgbClr val="000000"/>
                </a:solidFill>
                <a:latin typeface="Montserrat"/>
                <a:ea typeface="Montserrat"/>
                <a:cs typeface="Montserrat"/>
                <a:sym typeface="Montserrat"/>
              </a:rPr>
              <a:t>SudinBin Ibrahim </a:t>
            </a:r>
          </a:p>
          <a:p>
            <a:pPr algn="l">
              <a:lnSpc>
                <a:spcPts val="2159"/>
              </a:lnSpc>
            </a:pPr>
            <a:r>
              <a:rPr lang="en-US" sz="967" spc="0">
                <a:solidFill>
                  <a:srgbClr val="000000"/>
                </a:solidFill>
                <a:latin typeface="Montserrat"/>
                <a:ea typeface="Montserrat"/>
                <a:cs typeface="Montserrat"/>
                <a:sym typeface="Montserrat"/>
              </a:rPr>
              <a:t>MohdHafiz Bin </a:t>
            </a:r>
          </a:p>
          <a:p>
            <a:pPr algn="l">
              <a:lnSpc>
                <a:spcPts val="483"/>
              </a:lnSpc>
            </a:pPr>
            <a:r>
              <a:rPr lang="en-US" sz="967" spc="-1">
                <a:solidFill>
                  <a:srgbClr val="000000"/>
                </a:solidFill>
                <a:latin typeface="Montserrat"/>
                <a:ea typeface="Montserrat"/>
                <a:cs typeface="Montserrat"/>
                <a:sym typeface="Montserrat"/>
              </a:rPr>
              <a:t>Senawi</a:t>
            </a:r>
          </a:p>
        </p:txBody>
      </p:sp>
      <p:sp>
        <p:nvSpPr>
          <p:cNvPr name="TextBox 68" id="68"/>
          <p:cNvSpPr txBox="true"/>
          <p:nvPr/>
        </p:nvSpPr>
        <p:spPr>
          <a:xfrm rot="0">
            <a:off x="3934616" y="3266323"/>
            <a:ext cx="1842745" cy="159506"/>
          </a:xfrm>
          <a:prstGeom prst="rect">
            <a:avLst/>
          </a:prstGeom>
        </p:spPr>
        <p:txBody>
          <a:bodyPr anchor="t" rtlCol="false" tIns="0" lIns="0" bIns="0" rIns="0">
            <a:spAutoFit/>
          </a:bodyPr>
          <a:lstStyle/>
          <a:p>
            <a:pPr algn="l">
              <a:lnSpc>
                <a:spcPts val="1200"/>
              </a:lnSpc>
            </a:pPr>
            <a:r>
              <a:rPr lang="en-US" sz="967" spc="0">
                <a:solidFill>
                  <a:srgbClr val="000000"/>
                </a:solidFill>
                <a:latin typeface="Montserrat"/>
                <a:ea typeface="Montserrat"/>
                <a:cs typeface="Montserrat"/>
                <a:sym typeface="Montserrat"/>
              </a:rPr>
              <a:t>Bscof Electrical Engineering </a:t>
            </a:r>
          </a:p>
        </p:txBody>
      </p:sp>
      <p:sp>
        <p:nvSpPr>
          <p:cNvPr name="TextBox 69" id="69"/>
          <p:cNvSpPr txBox="true"/>
          <p:nvPr/>
        </p:nvSpPr>
        <p:spPr>
          <a:xfrm rot="0">
            <a:off x="3934616" y="3418827"/>
            <a:ext cx="1857594" cy="2530031"/>
          </a:xfrm>
          <a:prstGeom prst="rect">
            <a:avLst/>
          </a:prstGeom>
        </p:spPr>
        <p:txBody>
          <a:bodyPr anchor="t" rtlCol="false" tIns="0" lIns="0" bIns="0" rIns="0">
            <a:spAutoFit/>
          </a:bodyPr>
          <a:lstStyle/>
          <a:p>
            <a:pPr algn="l">
              <a:lnSpc>
                <a:spcPts val="1200"/>
              </a:lnSpc>
            </a:pPr>
            <a:r>
              <a:rPr lang="en-US" sz="967" spc="0">
                <a:solidFill>
                  <a:srgbClr val="000000"/>
                </a:solidFill>
                <a:latin typeface="Montserrat"/>
                <a:ea typeface="Montserrat"/>
                <a:cs typeface="Montserrat"/>
                <a:sym typeface="Montserrat"/>
              </a:rPr>
              <a:t>University of Missouri, USA </a:t>
            </a:r>
          </a:p>
          <a:p>
            <a:pPr algn="l">
              <a:lnSpc>
                <a:spcPts val="2418"/>
              </a:lnSpc>
            </a:pPr>
            <a:r>
              <a:rPr lang="en-US" sz="967" spc="0">
                <a:solidFill>
                  <a:srgbClr val="000000"/>
                </a:solidFill>
                <a:latin typeface="Montserrat"/>
                <a:ea typeface="Montserrat"/>
                <a:cs typeface="Montserrat"/>
                <a:sym typeface="Montserrat"/>
              </a:rPr>
              <a:t>Bscin Housing, Building &amp; </a:t>
            </a:r>
          </a:p>
          <a:p>
            <a:pPr algn="l">
              <a:lnSpc>
                <a:spcPts val="483"/>
              </a:lnSpc>
            </a:pPr>
            <a:r>
              <a:rPr lang="en-US" sz="967">
                <a:solidFill>
                  <a:srgbClr val="000000"/>
                </a:solidFill>
                <a:latin typeface="Montserrat"/>
                <a:ea typeface="Montserrat"/>
                <a:cs typeface="Montserrat"/>
                <a:sym typeface="Montserrat"/>
              </a:rPr>
              <a:t>Planning</a:t>
            </a:r>
          </a:p>
          <a:p>
            <a:pPr algn="l">
              <a:lnSpc>
                <a:spcPts val="1851"/>
              </a:lnSpc>
            </a:pPr>
            <a:r>
              <a:rPr lang="en-US" sz="967" spc="0">
                <a:solidFill>
                  <a:srgbClr val="000000"/>
                </a:solidFill>
                <a:latin typeface="Montserrat"/>
                <a:ea typeface="Montserrat"/>
                <a:cs typeface="Montserrat"/>
                <a:sym typeface="Montserrat"/>
              </a:rPr>
              <a:t>UniversitiSainsMalaysia </a:t>
            </a:r>
          </a:p>
          <a:p>
            <a:pPr algn="l">
              <a:lnSpc>
                <a:spcPts val="2418"/>
              </a:lnSpc>
            </a:pPr>
            <a:r>
              <a:rPr lang="en-US" sz="967">
                <a:solidFill>
                  <a:srgbClr val="000000"/>
                </a:solidFill>
                <a:latin typeface="Montserrat"/>
                <a:ea typeface="Montserrat"/>
                <a:cs typeface="Montserrat"/>
                <a:sym typeface="Montserrat"/>
              </a:rPr>
              <a:t>Advance Diploma in Finance </a:t>
            </a:r>
          </a:p>
          <a:p>
            <a:pPr algn="l">
              <a:lnSpc>
                <a:spcPts val="483"/>
              </a:lnSpc>
            </a:pPr>
            <a:r>
              <a:rPr lang="en-US" sz="967" spc="0">
                <a:solidFill>
                  <a:srgbClr val="000000"/>
                </a:solidFill>
                <a:latin typeface="Montserrat"/>
                <a:ea typeface="Montserrat"/>
                <a:cs typeface="Montserrat"/>
                <a:sym typeface="Montserrat"/>
              </a:rPr>
              <a:t>UniversitiTeknologiMara </a:t>
            </a:r>
          </a:p>
          <a:p>
            <a:pPr algn="l">
              <a:lnSpc>
                <a:spcPts val="2418"/>
              </a:lnSpc>
            </a:pPr>
            <a:r>
              <a:rPr lang="en-US" sz="967" spc="0">
                <a:solidFill>
                  <a:srgbClr val="000000"/>
                </a:solidFill>
                <a:latin typeface="Montserrat"/>
                <a:ea typeface="Montserrat"/>
                <a:cs typeface="Montserrat"/>
                <a:sym typeface="Montserrat"/>
              </a:rPr>
              <a:t>Diploma in Civil Engineering </a:t>
            </a:r>
          </a:p>
          <a:p>
            <a:pPr algn="l">
              <a:lnSpc>
                <a:spcPts val="483"/>
              </a:lnSpc>
            </a:pPr>
            <a:r>
              <a:rPr lang="en-US" sz="967" spc="0">
                <a:solidFill>
                  <a:srgbClr val="000000"/>
                </a:solidFill>
                <a:latin typeface="Montserrat"/>
                <a:ea typeface="Montserrat"/>
                <a:cs typeface="Montserrat"/>
                <a:sym typeface="Montserrat"/>
              </a:rPr>
              <a:t>UniversitiTeknologiMalaysia </a:t>
            </a:r>
          </a:p>
          <a:p>
            <a:pPr algn="l">
              <a:lnSpc>
                <a:spcPts val="2418"/>
              </a:lnSpc>
            </a:pPr>
            <a:r>
              <a:rPr lang="en-US" sz="967" spc="0">
                <a:solidFill>
                  <a:srgbClr val="000000"/>
                </a:solidFill>
                <a:latin typeface="Montserrat"/>
                <a:ea typeface="Montserrat"/>
                <a:cs typeface="Montserrat"/>
                <a:sym typeface="Montserrat"/>
              </a:rPr>
              <a:t>Bac of Quantity Surveyor </a:t>
            </a:r>
          </a:p>
          <a:p>
            <a:pPr algn="l">
              <a:lnSpc>
                <a:spcPts val="483"/>
              </a:lnSpc>
            </a:pPr>
            <a:r>
              <a:rPr lang="en-US" sz="967" spc="0">
                <a:solidFill>
                  <a:srgbClr val="000000"/>
                </a:solidFill>
                <a:latin typeface="Montserrat"/>
                <a:ea typeface="Montserrat"/>
                <a:cs typeface="Montserrat"/>
                <a:sym typeface="Montserrat"/>
              </a:rPr>
              <a:t>UniversitiTeknologiMalaysia </a:t>
            </a:r>
          </a:p>
          <a:p>
            <a:pPr algn="l">
              <a:lnSpc>
                <a:spcPts val="2418"/>
              </a:lnSpc>
            </a:pPr>
            <a:r>
              <a:rPr lang="en-US" sz="967" spc="0">
                <a:solidFill>
                  <a:srgbClr val="000000"/>
                </a:solidFill>
                <a:latin typeface="Montserrat"/>
                <a:ea typeface="Montserrat"/>
                <a:cs typeface="Montserrat"/>
                <a:sym typeface="Montserrat"/>
              </a:rPr>
              <a:t>Bscof Electrical Engineering </a:t>
            </a:r>
          </a:p>
          <a:p>
            <a:pPr algn="l">
              <a:lnSpc>
                <a:spcPts val="483"/>
              </a:lnSpc>
            </a:pPr>
            <a:r>
              <a:rPr lang="en-US" sz="967" spc="0">
                <a:solidFill>
                  <a:srgbClr val="000000"/>
                </a:solidFill>
                <a:latin typeface="Montserrat"/>
                <a:ea typeface="Montserrat"/>
                <a:cs typeface="Montserrat"/>
                <a:sym typeface="Montserrat"/>
              </a:rPr>
              <a:t>UniversitiTeknologiMalaysia </a:t>
            </a:r>
          </a:p>
        </p:txBody>
      </p:sp>
      <p:sp>
        <p:nvSpPr>
          <p:cNvPr name="TextBox 70" id="70"/>
          <p:cNvSpPr txBox="true"/>
          <p:nvPr/>
        </p:nvSpPr>
        <p:spPr>
          <a:xfrm rot="0">
            <a:off x="3934616" y="6170743"/>
            <a:ext cx="1857594" cy="1227315"/>
          </a:xfrm>
          <a:prstGeom prst="rect">
            <a:avLst/>
          </a:prstGeom>
        </p:spPr>
        <p:txBody>
          <a:bodyPr anchor="t" rtlCol="false" tIns="0" lIns="0" bIns="0" rIns="0">
            <a:spAutoFit/>
          </a:bodyPr>
          <a:lstStyle/>
          <a:p>
            <a:pPr algn="l">
              <a:lnSpc>
                <a:spcPts val="1200"/>
              </a:lnSpc>
            </a:pPr>
            <a:r>
              <a:rPr lang="en-US" sz="967" spc="0">
                <a:solidFill>
                  <a:srgbClr val="000000"/>
                </a:solidFill>
                <a:latin typeface="Montserrat"/>
                <a:ea typeface="Montserrat"/>
                <a:cs typeface="Montserrat"/>
                <a:sym typeface="Montserrat"/>
              </a:rPr>
              <a:t>Bscof Electrical Engineering UniversitiTeknologiMalaysia </a:t>
            </a:r>
          </a:p>
          <a:p>
            <a:pPr algn="l">
              <a:lnSpc>
                <a:spcPts val="2418"/>
              </a:lnSpc>
            </a:pPr>
            <a:r>
              <a:rPr lang="en-US" sz="967" spc="-1">
                <a:solidFill>
                  <a:srgbClr val="000000"/>
                </a:solidFill>
                <a:latin typeface="Montserrat"/>
                <a:ea typeface="Montserrat"/>
                <a:cs typeface="Montserrat"/>
                <a:sym typeface="Montserrat"/>
              </a:rPr>
              <a:t>Bscof Electrical </a:t>
            </a:r>
          </a:p>
          <a:p>
            <a:pPr algn="l">
              <a:lnSpc>
                <a:spcPts val="483"/>
              </a:lnSpc>
            </a:pPr>
            <a:r>
              <a:rPr lang="en-US" sz="967">
                <a:solidFill>
                  <a:srgbClr val="000000"/>
                </a:solidFill>
                <a:latin typeface="Montserrat"/>
                <a:ea typeface="Montserrat"/>
                <a:cs typeface="Montserrat"/>
                <a:sym typeface="Montserrat"/>
              </a:rPr>
              <a:t>Mechatronics, Universiti</a:t>
            </a:r>
          </a:p>
          <a:p>
            <a:pPr algn="l">
              <a:lnSpc>
                <a:spcPts val="1851"/>
              </a:lnSpc>
            </a:pPr>
            <a:r>
              <a:rPr lang="en-US" sz="967" spc="0">
                <a:solidFill>
                  <a:srgbClr val="000000"/>
                </a:solidFill>
                <a:latin typeface="Montserrat"/>
                <a:ea typeface="Montserrat"/>
                <a:cs typeface="Montserrat"/>
                <a:sym typeface="Montserrat"/>
              </a:rPr>
              <a:t>TeknologiMalaysia </a:t>
            </a:r>
          </a:p>
          <a:p>
            <a:pPr algn="l">
              <a:lnSpc>
                <a:spcPts val="2418"/>
              </a:lnSpc>
            </a:pPr>
            <a:r>
              <a:rPr lang="en-US" sz="967" spc="-2">
                <a:solidFill>
                  <a:srgbClr val="000000"/>
                </a:solidFill>
                <a:latin typeface="Montserrat"/>
                <a:ea typeface="Montserrat"/>
                <a:cs typeface="Montserrat"/>
                <a:sym typeface="Montserrat"/>
              </a:rPr>
              <a:t>SijilTinggi PelajaranM’sia</a:t>
            </a:r>
          </a:p>
        </p:txBody>
      </p:sp>
      <p:sp>
        <p:nvSpPr>
          <p:cNvPr name="TextBox 71" id="71"/>
          <p:cNvSpPr txBox="true"/>
          <p:nvPr/>
        </p:nvSpPr>
        <p:spPr>
          <a:xfrm rot="0">
            <a:off x="5897794" y="8755980"/>
            <a:ext cx="479850"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11 Years</a:t>
            </a:r>
          </a:p>
        </p:txBody>
      </p:sp>
      <p:sp>
        <p:nvSpPr>
          <p:cNvPr name="TextBox 72" id="72"/>
          <p:cNvSpPr txBox="true"/>
          <p:nvPr/>
        </p:nvSpPr>
        <p:spPr>
          <a:xfrm rot="0">
            <a:off x="5897794" y="5627322"/>
            <a:ext cx="504634"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5 Years </a:t>
            </a:r>
          </a:p>
        </p:txBody>
      </p:sp>
      <p:sp>
        <p:nvSpPr>
          <p:cNvPr name="TextBox 73" id="73"/>
          <p:cNvSpPr txBox="true"/>
          <p:nvPr/>
        </p:nvSpPr>
        <p:spPr>
          <a:xfrm rot="0">
            <a:off x="5897794" y="6161218"/>
            <a:ext cx="504634"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5 Years </a:t>
            </a:r>
          </a:p>
        </p:txBody>
      </p:sp>
      <p:sp>
        <p:nvSpPr>
          <p:cNvPr name="TextBox 74" id="74"/>
          <p:cNvSpPr txBox="true"/>
          <p:nvPr/>
        </p:nvSpPr>
        <p:spPr>
          <a:xfrm rot="0">
            <a:off x="5897794" y="6695122"/>
            <a:ext cx="504634"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5 Years </a:t>
            </a:r>
          </a:p>
        </p:txBody>
      </p:sp>
      <p:sp>
        <p:nvSpPr>
          <p:cNvPr name="TextBox 75" id="75"/>
          <p:cNvSpPr txBox="true"/>
          <p:nvPr/>
        </p:nvSpPr>
        <p:spPr>
          <a:xfrm rot="0">
            <a:off x="5897794" y="8147333"/>
            <a:ext cx="507721" cy="169031"/>
          </a:xfrm>
          <a:prstGeom prst="rect">
            <a:avLst/>
          </a:prstGeom>
        </p:spPr>
        <p:txBody>
          <a:bodyPr anchor="t" rtlCol="false" tIns="0" lIns="0" bIns="0" rIns="0">
            <a:spAutoFit/>
          </a:bodyPr>
          <a:lstStyle/>
          <a:p>
            <a:pPr algn="l">
              <a:lnSpc>
                <a:spcPts val="1354"/>
              </a:lnSpc>
            </a:pPr>
            <a:r>
              <a:rPr lang="en-US" sz="967" spc="0">
                <a:solidFill>
                  <a:srgbClr val="000000"/>
                </a:solidFill>
                <a:latin typeface="Montserrat"/>
                <a:ea typeface="Montserrat"/>
                <a:cs typeface="Montserrat"/>
                <a:sym typeface="Montserrat"/>
              </a:rPr>
              <a:t>8 Years </a:t>
            </a:r>
          </a:p>
        </p:txBody>
      </p:sp>
      <p:sp>
        <p:nvSpPr>
          <p:cNvPr name="TextBox 76" id="76"/>
          <p:cNvSpPr txBox="true"/>
          <p:nvPr/>
        </p:nvSpPr>
        <p:spPr>
          <a:xfrm rot="0">
            <a:off x="5897794" y="7303770"/>
            <a:ext cx="554974"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20 Years</a:t>
            </a:r>
          </a:p>
        </p:txBody>
      </p:sp>
      <p:sp>
        <p:nvSpPr>
          <p:cNvPr name="TextBox 77" id="77"/>
          <p:cNvSpPr txBox="true"/>
          <p:nvPr/>
        </p:nvSpPr>
        <p:spPr>
          <a:xfrm rot="0">
            <a:off x="5897794" y="9494834"/>
            <a:ext cx="548469" cy="545440"/>
          </a:xfrm>
          <a:prstGeom prst="rect">
            <a:avLst/>
          </a:prstGeom>
        </p:spPr>
        <p:txBody>
          <a:bodyPr anchor="t" rtlCol="false" tIns="0" lIns="0" bIns="0" rIns="0">
            <a:spAutoFit/>
          </a:bodyPr>
          <a:lstStyle/>
          <a:p>
            <a:pPr algn="l">
              <a:lnSpc>
                <a:spcPts val="2288"/>
              </a:lnSpc>
            </a:pPr>
            <a:r>
              <a:rPr lang="en-US" sz="967" spc="-1">
                <a:solidFill>
                  <a:srgbClr val="000000"/>
                </a:solidFill>
                <a:latin typeface="Montserrat"/>
                <a:ea typeface="Montserrat"/>
                <a:cs typeface="Montserrat"/>
                <a:sym typeface="Montserrat"/>
              </a:rPr>
              <a:t>12 Years 7 Years </a:t>
            </a:r>
          </a:p>
        </p:txBody>
      </p:sp>
      <p:sp>
        <p:nvSpPr>
          <p:cNvPr name="TextBox 78" id="78"/>
          <p:cNvSpPr txBox="true"/>
          <p:nvPr/>
        </p:nvSpPr>
        <p:spPr>
          <a:xfrm rot="0">
            <a:off x="5897794" y="4753727"/>
            <a:ext cx="554479" cy="583473"/>
          </a:xfrm>
          <a:prstGeom prst="rect">
            <a:avLst/>
          </a:prstGeom>
        </p:spPr>
        <p:txBody>
          <a:bodyPr anchor="t" rtlCol="false" tIns="0" lIns="0" bIns="0" rIns="0">
            <a:spAutoFit/>
          </a:bodyPr>
          <a:lstStyle/>
          <a:p>
            <a:pPr algn="just">
              <a:lnSpc>
                <a:spcPts val="2418"/>
              </a:lnSpc>
            </a:pPr>
            <a:r>
              <a:rPr lang="en-US" sz="967" spc="-1">
                <a:solidFill>
                  <a:srgbClr val="000000"/>
                </a:solidFill>
                <a:latin typeface="Montserrat"/>
                <a:ea typeface="Montserrat"/>
                <a:cs typeface="Montserrat"/>
                <a:sym typeface="Montserrat"/>
              </a:rPr>
              <a:t>19 Years 16 Years </a:t>
            </a:r>
          </a:p>
        </p:txBody>
      </p:sp>
      <p:sp>
        <p:nvSpPr>
          <p:cNvPr name="TextBox 79" id="79"/>
          <p:cNvSpPr txBox="true"/>
          <p:nvPr/>
        </p:nvSpPr>
        <p:spPr>
          <a:xfrm rot="0">
            <a:off x="5897794" y="7688180"/>
            <a:ext cx="554479"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19 Years </a:t>
            </a:r>
          </a:p>
        </p:txBody>
      </p:sp>
      <p:sp>
        <p:nvSpPr>
          <p:cNvPr name="TextBox 80" id="80"/>
          <p:cNvSpPr txBox="true"/>
          <p:nvPr/>
        </p:nvSpPr>
        <p:spPr>
          <a:xfrm rot="0">
            <a:off x="5897794" y="9140390"/>
            <a:ext cx="554479"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19 Years </a:t>
            </a:r>
          </a:p>
        </p:txBody>
      </p:sp>
      <p:sp>
        <p:nvSpPr>
          <p:cNvPr name="TextBox 81" id="81"/>
          <p:cNvSpPr txBox="true"/>
          <p:nvPr/>
        </p:nvSpPr>
        <p:spPr>
          <a:xfrm rot="0">
            <a:off x="5897794" y="3331540"/>
            <a:ext cx="584483"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26 Years </a:t>
            </a:r>
          </a:p>
        </p:txBody>
      </p:sp>
      <p:sp>
        <p:nvSpPr>
          <p:cNvPr name="TextBox 82" id="82"/>
          <p:cNvSpPr txBox="true"/>
          <p:nvPr/>
        </p:nvSpPr>
        <p:spPr>
          <a:xfrm rot="0">
            <a:off x="5897794" y="3790702"/>
            <a:ext cx="587492"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24 Years </a:t>
            </a:r>
          </a:p>
        </p:txBody>
      </p:sp>
      <p:sp>
        <p:nvSpPr>
          <p:cNvPr name="TextBox 83" id="83"/>
          <p:cNvSpPr txBox="true"/>
          <p:nvPr/>
        </p:nvSpPr>
        <p:spPr>
          <a:xfrm rot="0">
            <a:off x="5897794" y="4399350"/>
            <a:ext cx="587492" cy="169031"/>
          </a:xfrm>
          <a:prstGeom prst="rect">
            <a:avLst/>
          </a:prstGeom>
        </p:spPr>
        <p:txBody>
          <a:bodyPr anchor="t" rtlCol="false" tIns="0" lIns="0" bIns="0" rIns="0">
            <a:spAutoFit/>
          </a:bodyPr>
          <a:lstStyle/>
          <a:p>
            <a:pPr algn="l">
              <a:lnSpc>
                <a:spcPts val="1354"/>
              </a:lnSpc>
            </a:pPr>
            <a:r>
              <a:rPr lang="en-US" sz="967" spc="-1">
                <a:solidFill>
                  <a:srgbClr val="000000"/>
                </a:solidFill>
                <a:latin typeface="Montserrat"/>
                <a:ea typeface="Montserrat"/>
                <a:cs typeface="Montserrat"/>
                <a:sym typeface="Montserrat"/>
              </a:rPr>
              <a:t>24 Years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084107" y="3011100"/>
            <a:ext cx="5886631" cy="7215997"/>
            <a:chOff x="0" y="0"/>
            <a:chExt cx="5886628" cy="7216000"/>
          </a:xfrm>
        </p:grpSpPr>
        <p:sp>
          <p:nvSpPr>
            <p:cNvPr name="Freeform 8" id="8"/>
            <p:cNvSpPr/>
            <p:nvPr/>
          </p:nvSpPr>
          <p:spPr>
            <a:xfrm flipH="false" flipV="false" rot="0">
              <a:off x="692277"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9" id="9"/>
            <p:cNvSpPr/>
            <p:nvPr/>
          </p:nvSpPr>
          <p:spPr>
            <a:xfrm flipH="false" flipV="false" rot="0">
              <a:off x="2761615"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10" id="10"/>
            <p:cNvSpPr/>
            <p:nvPr/>
          </p:nvSpPr>
          <p:spPr>
            <a:xfrm flipH="false" flipV="false" rot="0">
              <a:off x="3841242"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11" id="11"/>
            <p:cNvSpPr/>
            <p:nvPr/>
          </p:nvSpPr>
          <p:spPr>
            <a:xfrm flipH="false" flipV="false" rot="0">
              <a:off x="4753737"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12" id="12"/>
            <p:cNvSpPr/>
            <p:nvPr/>
          </p:nvSpPr>
          <p:spPr>
            <a:xfrm flipH="false" flipV="false" rot="0">
              <a:off x="63627" y="49136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3" id="13"/>
            <p:cNvSpPr/>
            <p:nvPr/>
          </p:nvSpPr>
          <p:spPr>
            <a:xfrm flipH="false" flipV="false" rot="0">
              <a:off x="63627" y="359981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4" id="14"/>
            <p:cNvSpPr/>
            <p:nvPr/>
          </p:nvSpPr>
          <p:spPr>
            <a:xfrm flipH="false" flipV="false" rot="0">
              <a:off x="63627" y="6174867"/>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5" id="15"/>
            <p:cNvSpPr/>
            <p:nvPr/>
          </p:nvSpPr>
          <p:spPr>
            <a:xfrm flipH="false" flipV="false" rot="0">
              <a:off x="63500"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16" id="16"/>
            <p:cNvSpPr/>
            <p:nvPr/>
          </p:nvSpPr>
          <p:spPr>
            <a:xfrm flipH="false" flipV="false" rot="0">
              <a:off x="5819902" y="63627"/>
              <a:ext cx="3175" cy="7088759"/>
            </a:xfrm>
            <a:custGeom>
              <a:avLst/>
              <a:gdLst/>
              <a:ahLst/>
              <a:cxnLst/>
              <a:rect r="r" b="b" t="t" l="l"/>
              <a:pathLst>
                <a:path h="7088759" w="3175">
                  <a:moveTo>
                    <a:pt x="3175" y="0"/>
                  </a:moveTo>
                  <a:lnTo>
                    <a:pt x="3175" y="7088759"/>
                  </a:lnTo>
                  <a:lnTo>
                    <a:pt x="0" y="7088759"/>
                  </a:lnTo>
                  <a:lnTo>
                    <a:pt x="0" y="0"/>
                  </a:lnTo>
                  <a:close/>
                </a:path>
              </a:pathLst>
            </a:custGeom>
            <a:solidFill>
              <a:srgbClr val="000000"/>
            </a:solidFill>
          </p:spPr>
        </p:sp>
        <p:sp>
          <p:nvSpPr>
            <p:cNvPr name="Freeform 17" id="17"/>
            <p:cNvSpPr/>
            <p:nvPr/>
          </p:nvSpPr>
          <p:spPr>
            <a:xfrm flipH="false" flipV="false" rot="0">
              <a:off x="63627" y="63500"/>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8" id="18"/>
            <p:cNvSpPr/>
            <p:nvPr/>
          </p:nvSpPr>
          <p:spPr>
            <a:xfrm flipH="false" flipV="false" rot="0">
              <a:off x="63627" y="7149338"/>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grpSp>
      <p:sp>
        <p:nvSpPr>
          <p:cNvPr name="TextBox 19" id="19"/>
          <p:cNvSpPr txBox="true"/>
          <p:nvPr/>
        </p:nvSpPr>
        <p:spPr>
          <a:xfrm rot="0">
            <a:off x="1149201" y="1748952"/>
            <a:ext cx="1974685"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LIST OF </a:t>
            </a:r>
          </a:p>
        </p:txBody>
      </p:sp>
      <p:sp>
        <p:nvSpPr>
          <p:cNvPr name="TextBox 20" id="20"/>
          <p:cNvSpPr txBox="true"/>
          <p:nvPr/>
        </p:nvSpPr>
        <p:spPr>
          <a:xfrm rot="0">
            <a:off x="1149201" y="2261578"/>
            <a:ext cx="5607748"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COMPLETED PROJECTS</a:t>
            </a:r>
          </a:p>
        </p:txBody>
      </p:sp>
      <p:sp>
        <p:nvSpPr>
          <p:cNvPr name="TextBox 21" id="21"/>
          <p:cNvSpPr txBox="true"/>
          <p:nvPr/>
        </p:nvSpPr>
        <p:spPr>
          <a:xfrm rot="0">
            <a:off x="5696807" y="1452382"/>
            <a:ext cx="91925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07</a:t>
            </a:r>
          </a:p>
        </p:txBody>
      </p:sp>
      <p:sp>
        <p:nvSpPr>
          <p:cNvPr name="TextBox 22" id="22"/>
          <p:cNvSpPr txBox="true"/>
          <p:nvPr/>
        </p:nvSpPr>
        <p:spPr>
          <a:xfrm rot="0">
            <a:off x="1637319" y="6841988"/>
            <a:ext cx="2283533" cy="232715"/>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p:txBody>
      </p:sp>
      <p:sp>
        <p:nvSpPr>
          <p:cNvPr name="TextBox 23" id="23"/>
          <p:cNvSpPr txBox="true"/>
          <p:nvPr/>
        </p:nvSpPr>
        <p:spPr>
          <a:xfrm rot="0">
            <a:off x="1634033" y="3349714"/>
            <a:ext cx="2737475" cy="232715"/>
          </a:xfrm>
          <a:prstGeom prst="rect">
            <a:avLst/>
          </a:prstGeom>
        </p:spPr>
        <p:txBody>
          <a:bodyPr anchor="t" rtlCol="false" tIns="0" lIns="0" bIns="0" rIns="0">
            <a:spAutoFit/>
          </a:bodyPr>
          <a:lstStyle/>
          <a:p>
            <a:pPr algn="l">
              <a:lnSpc>
                <a:spcPts val="1821"/>
              </a:lnSpc>
            </a:pPr>
            <a:r>
              <a:rPr lang="en-US" sz="1301" spc="88">
                <a:solidFill>
                  <a:srgbClr val="FFFFFF"/>
                </a:solidFill>
                <a:latin typeface="Montserrat"/>
                <a:ea typeface="Montserrat"/>
                <a:cs typeface="Montserrat"/>
                <a:sym typeface="Montserrat"/>
              </a:rPr>
              <a:t>IR. ZAINUDIN MOHD SALLEH</a:t>
            </a:r>
          </a:p>
        </p:txBody>
      </p:sp>
      <p:sp>
        <p:nvSpPr>
          <p:cNvPr name="TextBox 24" id="24"/>
          <p:cNvSpPr txBox="true"/>
          <p:nvPr/>
        </p:nvSpPr>
        <p:spPr>
          <a:xfrm rot="0">
            <a:off x="1234488" y="3183274"/>
            <a:ext cx="258613"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NO </a:t>
            </a:r>
          </a:p>
        </p:txBody>
      </p:sp>
      <p:sp>
        <p:nvSpPr>
          <p:cNvPr name="TextBox 25" id="25"/>
          <p:cNvSpPr txBox="true"/>
          <p:nvPr/>
        </p:nvSpPr>
        <p:spPr>
          <a:xfrm rot="0">
            <a:off x="1863261" y="3183274"/>
            <a:ext cx="1112939"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PROJECT TITLE </a:t>
            </a:r>
          </a:p>
        </p:txBody>
      </p:sp>
      <p:sp>
        <p:nvSpPr>
          <p:cNvPr name="TextBox 26" id="26"/>
          <p:cNvSpPr txBox="true"/>
          <p:nvPr/>
        </p:nvSpPr>
        <p:spPr>
          <a:xfrm rot="0">
            <a:off x="3932596" y="3183274"/>
            <a:ext cx="789137"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COST (RM) </a:t>
            </a:r>
          </a:p>
        </p:txBody>
      </p:sp>
      <p:sp>
        <p:nvSpPr>
          <p:cNvPr name="TextBox 27" id="27"/>
          <p:cNvSpPr txBox="true"/>
          <p:nvPr/>
        </p:nvSpPr>
        <p:spPr>
          <a:xfrm rot="0">
            <a:off x="5012255" y="3183274"/>
            <a:ext cx="544830"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CLIENT </a:t>
            </a:r>
          </a:p>
        </p:txBody>
      </p:sp>
      <p:sp>
        <p:nvSpPr>
          <p:cNvPr name="TextBox 28" id="28"/>
          <p:cNvSpPr txBox="true"/>
          <p:nvPr/>
        </p:nvSpPr>
        <p:spPr>
          <a:xfrm rot="0">
            <a:off x="5924788" y="3094291"/>
            <a:ext cx="864003" cy="370151"/>
          </a:xfrm>
          <a:prstGeom prst="rect">
            <a:avLst/>
          </a:prstGeom>
        </p:spPr>
        <p:txBody>
          <a:bodyPr anchor="t" rtlCol="false" tIns="0" lIns="0" bIns="0" rIns="0">
            <a:spAutoFit/>
          </a:bodyPr>
          <a:lstStyle/>
          <a:p>
            <a:pPr algn="l">
              <a:lnSpc>
                <a:spcPts val="1401"/>
              </a:lnSpc>
            </a:pPr>
            <a:r>
              <a:rPr lang="en-US" b="true" sz="1034" spc="4">
                <a:solidFill>
                  <a:srgbClr val="203864"/>
                </a:solidFill>
                <a:latin typeface="Montserrat Bold"/>
                <a:ea typeface="Montserrat Bold"/>
                <a:cs typeface="Montserrat Bold"/>
                <a:sym typeface="Montserrat Bold"/>
              </a:rPr>
              <a:t>DATE COMPLETED</a:t>
            </a:r>
          </a:p>
        </p:txBody>
      </p:sp>
      <p:sp>
        <p:nvSpPr>
          <p:cNvPr name="TextBox 29" id="29"/>
          <p:cNvSpPr txBox="true"/>
          <p:nvPr/>
        </p:nvSpPr>
        <p:spPr>
          <a:xfrm rot="0">
            <a:off x="1234488" y="4947418"/>
            <a:ext cx="88373" cy="188900"/>
          </a:xfrm>
          <a:prstGeom prst="rect">
            <a:avLst/>
          </a:prstGeom>
        </p:spPr>
        <p:txBody>
          <a:bodyPr anchor="t" rtlCol="false" tIns="0" lIns="0" bIns="0" rIns="0">
            <a:spAutoFit/>
          </a:bodyPr>
          <a:lstStyle/>
          <a:p>
            <a:pPr algn="l">
              <a:lnSpc>
                <a:spcPts val="1447"/>
              </a:lnSpc>
            </a:pPr>
            <a:r>
              <a:rPr lang="en-US" sz="1034" spc="-5">
                <a:solidFill>
                  <a:srgbClr val="000000"/>
                </a:solidFill>
                <a:latin typeface="Montserrat"/>
                <a:ea typeface="Montserrat"/>
                <a:cs typeface="Montserrat"/>
                <a:sym typeface="Montserrat"/>
              </a:rPr>
              <a:t>1 </a:t>
            </a:r>
          </a:p>
        </p:txBody>
      </p:sp>
      <p:sp>
        <p:nvSpPr>
          <p:cNvPr name="TextBox 30" id="30"/>
          <p:cNvSpPr txBox="true"/>
          <p:nvPr/>
        </p:nvSpPr>
        <p:spPr>
          <a:xfrm rot="0">
            <a:off x="1234488" y="7791336"/>
            <a:ext cx="12001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 </a:t>
            </a:r>
          </a:p>
        </p:txBody>
      </p:sp>
      <p:sp>
        <p:nvSpPr>
          <p:cNvPr name="TextBox 31" id="31"/>
          <p:cNvSpPr txBox="true"/>
          <p:nvPr/>
        </p:nvSpPr>
        <p:spPr>
          <a:xfrm rot="0">
            <a:off x="1234488" y="9567443"/>
            <a:ext cx="12152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3 </a:t>
            </a:r>
          </a:p>
        </p:txBody>
      </p:sp>
      <p:sp>
        <p:nvSpPr>
          <p:cNvPr name="TextBox 32" id="32"/>
          <p:cNvSpPr txBox="true"/>
          <p:nvPr/>
        </p:nvSpPr>
        <p:spPr>
          <a:xfrm rot="0">
            <a:off x="1863261" y="3523679"/>
            <a:ext cx="1934289" cy="3477701"/>
          </a:xfrm>
          <a:prstGeom prst="rect">
            <a:avLst/>
          </a:prstGeom>
        </p:spPr>
        <p:txBody>
          <a:bodyPr anchor="t" rtlCol="false" tIns="0" lIns="0" bIns="0" rIns="0">
            <a:spAutoFit/>
          </a:bodyPr>
          <a:lstStyle/>
          <a:p>
            <a:pPr algn="just">
              <a:lnSpc>
                <a:spcPts val="1405"/>
              </a:lnSpc>
            </a:pPr>
            <a:r>
              <a:rPr lang="en-US" sz="1034" spc="-7">
                <a:solidFill>
                  <a:srgbClr val="000000"/>
                </a:solidFill>
                <a:latin typeface="Montserrat"/>
                <a:ea typeface="Montserrat"/>
                <a:cs typeface="Montserrat"/>
                <a:sym typeface="Montserrat"/>
              </a:rPr>
              <a:t>Substation 275/132/33/11kV: Grik, Pergau, Bukit Tengah, Kota Star, Kampar. Transmission Line : 33kV Relocation Sg Buloh. 275/132 kV relocation subang Jaya Power Plant: Janamanjong, Pergau, Port Klang Control &amp; Protection : 66kV SCADA System Sabah, Disturbance Recorder Ben 5000. M&amp;E Building Services: IKBN Penang Civil Work : Slope Protection </a:t>
            </a:r>
          </a:p>
          <a:p>
            <a:pPr algn="just">
              <a:lnSpc>
                <a:spcPts val="2585"/>
              </a:lnSpc>
            </a:pPr>
            <a:r>
              <a:rPr lang="en-US" sz="1034" spc="-7">
                <a:solidFill>
                  <a:srgbClr val="000000"/>
                </a:solidFill>
                <a:latin typeface="Montserrat"/>
                <a:ea typeface="Montserrat"/>
                <a:cs typeface="Montserrat"/>
                <a:sym typeface="Montserrat"/>
              </a:rPr>
              <a:t>Substation 275/132/33/11kV: </a:t>
            </a:r>
          </a:p>
          <a:p>
            <a:pPr algn="just">
              <a:lnSpc>
                <a:spcPts val="517"/>
              </a:lnSpc>
            </a:pPr>
            <a:r>
              <a:rPr lang="en-US" sz="1034" spc="-7">
                <a:solidFill>
                  <a:srgbClr val="000000"/>
                </a:solidFill>
                <a:latin typeface="Montserrat"/>
                <a:ea typeface="Montserrat"/>
                <a:cs typeface="Montserrat"/>
                <a:sym typeface="Montserrat"/>
              </a:rPr>
              <a:t>Tampoi, Pasir Gudang, </a:t>
            </a:r>
          </a:p>
        </p:txBody>
      </p:sp>
      <p:sp>
        <p:nvSpPr>
          <p:cNvPr name="TextBox 33" id="33"/>
          <p:cNvSpPr txBox="true"/>
          <p:nvPr/>
        </p:nvSpPr>
        <p:spPr>
          <a:xfrm rot="0">
            <a:off x="1863261" y="6914217"/>
            <a:ext cx="1899256" cy="3197943"/>
          </a:xfrm>
          <a:prstGeom prst="rect">
            <a:avLst/>
          </a:prstGeom>
        </p:spPr>
        <p:txBody>
          <a:bodyPr anchor="t" rtlCol="false" tIns="0" lIns="0" bIns="0" rIns="0">
            <a:spAutoFit/>
          </a:bodyPr>
          <a:lstStyle/>
          <a:p>
            <a:pPr algn="just">
              <a:lnSpc>
                <a:spcPts val="2285"/>
              </a:lnSpc>
            </a:pPr>
            <a:r>
              <a:rPr lang="en-US" sz="1034" spc="-7">
                <a:solidFill>
                  <a:srgbClr val="000000"/>
                </a:solidFill>
                <a:latin typeface="Montserrat"/>
                <a:ea typeface="Montserrat"/>
                <a:cs typeface="Montserrat"/>
                <a:sym typeface="Montserrat"/>
              </a:rPr>
              <a:t>Kandis, Telok Kalong. </a:t>
            </a:r>
          </a:p>
          <a:p>
            <a:pPr algn="just">
              <a:lnSpc>
                <a:spcPts val="517"/>
              </a:lnSpc>
            </a:pPr>
            <a:r>
              <a:rPr lang="en-US" sz="1034" spc="-7">
                <a:solidFill>
                  <a:srgbClr val="000000"/>
                </a:solidFill>
                <a:latin typeface="Montserrat"/>
                <a:ea typeface="Montserrat"/>
                <a:cs typeface="Montserrat"/>
                <a:sym typeface="Montserrat"/>
              </a:rPr>
              <a:t>Transmission Line :</a:t>
            </a:r>
          </a:p>
          <a:p>
            <a:pPr algn="just">
              <a:lnSpc>
                <a:spcPts val="2285"/>
              </a:lnSpc>
            </a:pPr>
            <a:r>
              <a:rPr lang="en-US" sz="1034" spc="-7">
                <a:solidFill>
                  <a:srgbClr val="000000"/>
                </a:solidFill>
                <a:latin typeface="Montserrat"/>
                <a:ea typeface="Montserrat"/>
                <a:cs typeface="Montserrat"/>
                <a:sym typeface="Montserrat"/>
              </a:rPr>
              <a:t>275/132 kV Relocation </a:t>
            </a:r>
          </a:p>
          <a:p>
            <a:pPr algn="just">
              <a:lnSpc>
                <a:spcPts val="517"/>
              </a:lnSpc>
            </a:pPr>
            <a:r>
              <a:rPr lang="en-US" sz="1034" spc="-7">
                <a:solidFill>
                  <a:srgbClr val="000000"/>
                </a:solidFill>
                <a:latin typeface="Montserrat"/>
                <a:ea typeface="Montserrat"/>
                <a:cs typeface="Montserrat"/>
                <a:sym typeface="Montserrat"/>
              </a:rPr>
              <a:t>KESAS HYW, 132kV Tower </a:t>
            </a:r>
          </a:p>
          <a:p>
            <a:pPr algn="just">
              <a:lnSpc>
                <a:spcPts val="2285"/>
              </a:lnSpc>
            </a:pPr>
            <a:r>
              <a:rPr lang="en-US" sz="1034" spc="-7">
                <a:solidFill>
                  <a:srgbClr val="000000"/>
                </a:solidFill>
                <a:latin typeface="Montserrat"/>
                <a:ea typeface="Montserrat"/>
                <a:cs typeface="Montserrat"/>
                <a:sym typeface="Montserrat"/>
              </a:rPr>
              <a:t>Replacement TKLG, 275kV </a:t>
            </a:r>
          </a:p>
          <a:p>
            <a:pPr algn="just">
              <a:lnSpc>
                <a:spcPts val="517"/>
              </a:lnSpc>
            </a:pPr>
            <a:r>
              <a:rPr lang="en-US" sz="1034" spc="-7">
                <a:solidFill>
                  <a:srgbClr val="000000"/>
                </a:solidFill>
                <a:latin typeface="Montserrat"/>
                <a:ea typeface="Montserrat"/>
                <a:cs typeface="Montserrat"/>
                <a:sym typeface="Montserrat"/>
              </a:rPr>
              <a:t>DC line relocation Gurun, </a:t>
            </a:r>
          </a:p>
          <a:p>
            <a:pPr algn="just">
              <a:lnSpc>
                <a:spcPts val="2285"/>
              </a:lnSpc>
            </a:pPr>
            <a:r>
              <a:rPr lang="en-US" sz="1034" spc="-7">
                <a:solidFill>
                  <a:srgbClr val="000000"/>
                </a:solidFill>
                <a:latin typeface="Montserrat"/>
                <a:ea typeface="Montserrat"/>
                <a:cs typeface="Montserrat"/>
                <a:sym typeface="Montserrat"/>
              </a:rPr>
              <a:t>33kV Line Relocation. </a:t>
            </a:r>
          </a:p>
          <a:p>
            <a:pPr algn="just">
              <a:lnSpc>
                <a:spcPts val="517"/>
              </a:lnSpc>
            </a:pPr>
            <a:r>
              <a:rPr lang="en-US" sz="1034" spc="-7">
                <a:solidFill>
                  <a:srgbClr val="000000"/>
                </a:solidFill>
                <a:latin typeface="Montserrat"/>
                <a:ea typeface="Montserrat"/>
                <a:cs typeface="Montserrat"/>
                <a:sym typeface="Montserrat"/>
              </a:rPr>
              <a:t>M&amp;E Building Services:</a:t>
            </a:r>
          </a:p>
          <a:p>
            <a:pPr algn="just">
              <a:lnSpc>
                <a:spcPts val="2285"/>
              </a:lnSpc>
            </a:pPr>
            <a:r>
              <a:rPr lang="en-US" sz="1034" spc="-7">
                <a:solidFill>
                  <a:srgbClr val="000000"/>
                </a:solidFill>
                <a:latin typeface="Montserrat"/>
                <a:ea typeface="Montserrat"/>
                <a:cs typeface="Montserrat"/>
                <a:sym typeface="Montserrat"/>
              </a:rPr>
              <a:t>Trafic Light maintenance </a:t>
            </a:r>
          </a:p>
          <a:p>
            <a:pPr algn="just">
              <a:lnSpc>
                <a:spcPts val="517"/>
              </a:lnSpc>
            </a:pPr>
            <a:r>
              <a:rPr lang="en-US" sz="1034" spc="-7">
                <a:solidFill>
                  <a:srgbClr val="000000"/>
                </a:solidFill>
                <a:latin typeface="Montserrat"/>
                <a:ea typeface="Montserrat"/>
                <a:cs typeface="Montserrat"/>
                <a:sym typeface="Montserrat"/>
              </a:rPr>
              <a:t>contract, Apartment </a:t>
            </a:r>
          </a:p>
          <a:p>
            <a:pPr algn="just">
              <a:lnSpc>
                <a:spcPts val="2351"/>
              </a:lnSpc>
            </a:pPr>
            <a:r>
              <a:rPr lang="en-US" sz="1034" spc="-7">
                <a:solidFill>
                  <a:srgbClr val="000000"/>
                </a:solidFill>
                <a:latin typeface="Montserrat"/>
                <a:ea typeface="Montserrat"/>
                <a:cs typeface="Montserrat"/>
                <a:sym typeface="Montserrat"/>
              </a:rPr>
              <a:t>KEMENTAH, MRSM Sungkai, </a:t>
            </a:r>
          </a:p>
          <a:p>
            <a:pPr algn="just">
              <a:lnSpc>
                <a:spcPts val="517"/>
              </a:lnSpc>
            </a:pPr>
            <a:r>
              <a:rPr lang="en-US" sz="1034" spc="-7">
                <a:solidFill>
                  <a:srgbClr val="000000"/>
                </a:solidFill>
                <a:latin typeface="Montserrat"/>
                <a:ea typeface="Montserrat"/>
                <a:cs typeface="Montserrat"/>
                <a:sym typeface="Montserrat"/>
              </a:rPr>
              <a:t>5 Schools in KL. </a:t>
            </a:r>
          </a:p>
          <a:p>
            <a:pPr algn="just">
              <a:lnSpc>
                <a:spcPts val="2585"/>
              </a:lnSpc>
            </a:pPr>
            <a:r>
              <a:rPr lang="en-US" sz="1034" spc="-7">
                <a:solidFill>
                  <a:srgbClr val="000000"/>
                </a:solidFill>
                <a:latin typeface="Montserrat"/>
                <a:ea typeface="Montserrat"/>
                <a:cs typeface="Montserrat"/>
                <a:sym typeface="Montserrat"/>
              </a:rPr>
              <a:t>M&amp;E Building Services :</a:t>
            </a:r>
          </a:p>
          <a:p>
            <a:pPr algn="just">
              <a:lnSpc>
                <a:spcPts val="517"/>
              </a:lnSpc>
            </a:pPr>
            <a:r>
              <a:rPr lang="en-US" sz="1034" spc="-7">
                <a:solidFill>
                  <a:srgbClr val="000000"/>
                </a:solidFill>
                <a:latin typeface="Montserrat"/>
                <a:ea typeface="Montserrat"/>
                <a:cs typeface="Montserrat"/>
                <a:sym typeface="Montserrat"/>
              </a:rPr>
              <a:t>Upgrage Switchboard &amp; </a:t>
            </a:r>
          </a:p>
          <a:p>
            <a:pPr algn="just">
              <a:lnSpc>
                <a:spcPts val="2285"/>
              </a:lnSpc>
            </a:pPr>
            <a:r>
              <a:rPr lang="en-US" sz="1034" spc="-7">
                <a:solidFill>
                  <a:srgbClr val="000000"/>
                </a:solidFill>
                <a:latin typeface="Montserrat"/>
                <a:ea typeface="Montserrat"/>
                <a:cs typeface="Montserrat"/>
                <a:sym typeface="Montserrat"/>
              </a:rPr>
              <a:t>Cabling work at </a:t>
            </a:r>
          </a:p>
          <a:p>
            <a:pPr algn="just">
              <a:lnSpc>
                <a:spcPts val="517"/>
              </a:lnSpc>
            </a:pPr>
            <a:r>
              <a:rPr lang="en-US" sz="1034" spc="-7">
                <a:solidFill>
                  <a:srgbClr val="000000"/>
                </a:solidFill>
                <a:latin typeface="Montserrat"/>
                <a:ea typeface="Montserrat"/>
                <a:cs typeface="Montserrat"/>
                <a:sym typeface="Montserrat"/>
              </a:rPr>
              <a:t>DATACENTER CX2 </a:t>
            </a:r>
          </a:p>
          <a:p>
            <a:pPr algn="just">
              <a:lnSpc>
                <a:spcPts val="2285"/>
              </a:lnSpc>
            </a:pPr>
            <a:r>
              <a:rPr lang="en-US" sz="1034" spc="-7">
                <a:solidFill>
                  <a:srgbClr val="000000"/>
                </a:solidFill>
                <a:latin typeface="Montserrat"/>
                <a:ea typeface="Montserrat"/>
                <a:cs typeface="Montserrat"/>
                <a:sym typeface="Montserrat"/>
              </a:rPr>
              <a:t>Cyberjaya </a:t>
            </a:r>
          </a:p>
        </p:txBody>
      </p:sp>
      <p:sp>
        <p:nvSpPr>
          <p:cNvPr name="TextBox 34" id="34"/>
          <p:cNvSpPr txBox="true"/>
          <p:nvPr/>
        </p:nvSpPr>
        <p:spPr>
          <a:xfrm rot="0">
            <a:off x="3932596" y="4947418"/>
            <a:ext cx="641452"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31 million </a:t>
            </a:r>
          </a:p>
        </p:txBody>
      </p:sp>
      <p:sp>
        <p:nvSpPr>
          <p:cNvPr name="TextBox 35" id="35"/>
          <p:cNvSpPr txBox="true"/>
          <p:nvPr/>
        </p:nvSpPr>
        <p:spPr>
          <a:xfrm rot="0">
            <a:off x="3932596" y="7791336"/>
            <a:ext cx="69592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40 million </a:t>
            </a:r>
          </a:p>
        </p:txBody>
      </p:sp>
      <p:sp>
        <p:nvSpPr>
          <p:cNvPr name="TextBox 36" id="36"/>
          <p:cNvSpPr txBox="true"/>
          <p:nvPr/>
        </p:nvSpPr>
        <p:spPr>
          <a:xfrm rot="0">
            <a:off x="3932596" y="9478461"/>
            <a:ext cx="837152"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4,700,000.0 0 </a:t>
            </a:r>
          </a:p>
        </p:txBody>
      </p:sp>
      <p:sp>
        <p:nvSpPr>
          <p:cNvPr name="TextBox 37" id="37"/>
          <p:cNvSpPr txBox="true"/>
          <p:nvPr/>
        </p:nvSpPr>
        <p:spPr>
          <a:xfrm rot="0">
            <a:off x="5012255" y="9478461"/>
            <a:ext cx="597646"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CSF CX Sdn Bhd </a:t>
            </a:r>
          </a:p>
        </p:txBody>
      </p:sp>
      <p:sp>
        <p:nvSpPr>
          <p:cNvPr name="TextBox 38" id="38"/>
          <p:cNvSpPr txBox="true"/>
          <p:nvPr/>
        </p:nvSpPr>
        <p:spPr>
          <a:xfrm rot="0">
            <a:off x="5012255" y="3612661"/>
            <a:ext cx="772478" cy="286219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TNB Intria Bina TNEC ALTENA Pembinaan Tajri Prestigious Discovery JKR Mega Nine Casita Holding ACEI Megapadu Yakiniaga SPM </a:t>
            </a:r>
          </a:p>
        </p:txBody>
      </p:sp>
      <p:sp>
        <p:nvSpPr>
          <p:cNvPr name="TextBox 39" id="39"/>
          <p:cNvSpPr txBox="true"/>
          <p:nvPr/>
        </p:nvSpPr>
        <p:spPr>
          <a:xfrm rot="0">
            <a:off x="5012255" y="7079466"/>
            <a:ext cx="779955" cy="1612411"/>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TNB TNEC Cekar Tulin JKR MBI AZRB MESB MP Taiping SPNB PROTAB KUB </a:t>
            </a:r>
          </a:p>
        </p:txBody>
      </p:sp>
      <p:sp>
        <p:nvSpPr>
          <p:cNvPr name="TextBox 40" id="40"/>
          <p:cNvSpPr txBox="true"/>
          <p:nvPr/>
        </p:nvSpPr>
        <p:spPr>
          <a:xfrm rot="0">
            <a:off x="5924788" y="7702353"/>
            <a:ext cx="720623" cy="366836"/>
          </a:xfrm>
          <a:prstGeom prst="rect">
            <a:avLst/>
          </a:prstGeom>
        </p:spPr>
        <p:txBody>
          <a:bodyPr anchor="t" rtlCol="false" tIns="0" lIns="0" bIns="0" rIns="0">
            <a:spAutoFit/>
          </a:bodyPr>
          <a:lstStyle/>
          <a:p>
            <a:pPr algn="just">
              <a:lnSpc>
                <a:spcPts val="1401"/>
              </a:lnSpc>
            </a:pPr>
            <a:r>
              <a:rPr lang="en-US" sz="1034" spc="-7">
                <a:solidFill>
                  <a:srgbClr val="000000"/>
                </a:solidFill>
                <a:latin typeface="Montserrat"/>
                <a:ea typeface="Montserrat"/>
                <a:cs typeface="Montserrat"/>
                <a:sym typeface="Montserrat"/>
              </a:rPr>
              <a:t>Jan 2006 - Dec 2010 </a:t>
            </a:r>
          </a:p>
        </p:txBody>
      </p:sp>
      <p:sp>
        <p:nvSpPr>
          <p:cNvPr name="TextBox 41" id="41"/>
          <p:cNvSpPr txBox="true"/>
          <p:nvPr/>
        </p:nvSpPr>
        <p:spPr>
          <a:xfrm rot="0">
            <a:off x="5924788" y="4858436"/>
            <a:ext cx="753770"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April 1999 - Dec 2005 </a:t>
            </a:r>
          </a:p>
        </p:txBody>
      </p:sp>
      <p:sp>
        <p:nvSpPr>
          <p:cNvPr name="TextBox 42" id="42"/>
          <p:cNvSpPr txBox="true"/>
          <p:nvPr/>
        </p:nvSpPr>
        <p:spPr>
          <a:xfrm rot="0">
            <a:off x="5924788" y="9574025"/>
            <a:ext cx="752951"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March 2011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084107" y="2996879"/>
            <a:ext cx="5886631" cy="7037099"/>
            <a:chOff x="0" y="0"/>
            <a:chExt cx="5886628" cy="7037095"/>
          </a:xfrm>
        </p:grpSpPr>
        <p:sp>
          <p:nvSpPr>
            <p:cNvPr name="Freeform 8" id="8"/>
            <p:cNvSpPr/>
            <p:nvPr/>
          </p:nvSpPr>
          <p:spPr>
            <a:xfrm flipH="false" flipV="false" rot="0">
              <a:off x="692277"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9" id="9"/>
            <p:cNvSpPr/>
            <p:nvPr/>
          </p:nvSpPr>
          <p:spPr>
            <a:xfrm flipH="false" flipV="false" rot="0">
              <a:off x="2761615"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10" id="10"/>
            <p:cNvSpPr/>
            <p:nvPr/>
          </p:nvSpPr>
          <p:spPr>
            <a:xfrm flipH="false" flipV="false" rot="0">
              <a:off x="3841242"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11" id="11"/>
            <p:cNvSpPr/>
            <p:nvPr/>
          </p:nvSpPr>
          <p:spPr>
            <a:xfrm flipH="false" flipV="false" rot="0">
              <a:off x="4753737"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12" id="12"/>
            <p:cNvSpPr/>
            <p:nvPr/>
          </p:nvSpPr>
          <p:spPr>
            <a:xfrm flipH="false" flipV="false" rot="0">
              <a:off x="63627" y="504571"/>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3" id="13"/>
            <p:cNvSpPr/>
            <p:nvPr/>
          </p:nvSpPr>
          <p:spPr>
            <a:xfrm flipH="false" flipV="false" rot="0">
              <a:off x="63627" y="130124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4" id="14"/>
            <p:cNvSpPr/>
            <p:nvPr/>
          </p:nvSpPr>
          <p:spPr>
            <a:xfrm flipH="false" flipV="false" rot="0">
              <a:off x="63627" y="1919986"/>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5" id="15"/>
            <p:cNvSpPr/>
            <p:nvPr/>
          </p:nvSpPr>
          <p:spPr>
            <a:xfrm flipH="false" flipV="false" rot="0">
              <a:off x="63627" y="3072384"/>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6" id="16"/>
            <p:cNvSpPr/>
            <p:nvPr/>
          </p:nvSpPr>
          <p:spPr>
            <a:xfrm flipH="false" flipV="false" rot="0">
              <a:off x="63627" y="386905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7" id="17"/>
            <p:cNvSpPr/>
            <p:nvPr/>
          </p:nvSpPr>
          <p:spPr>
            <a:xfrm flipH="false" flipV="false" rot="0">
              <a:off x="63627" y="502145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8" id="18"/>
            <p:cNvSpPr/>
            <p:nvPr/>
          </p:nvSpPr>
          <p:spPr>
            <a:xfrm flipH="false" flipV="false" rot="0">
              <a:off x="63627" y="6351524"/>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9" id="19"/>
            <p:cNvSpPr/>
            <p:nvPr/>
          </p:nvSpPr>
          <p:spPr>
            <a:xfrm flipH="false" flipV="false" rot="0">
              <a:off x="63500"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20" id="20"/>
            <p:cNvSpPr/>
            <p:nvPr/>
          </p:nvSpPr>
          <p:spPr>
            <a:xfrm flipH="false" flipV="false" rot="0">
              <a:off x="5819902" y="63627"/>
              <a:ext cx="3175" cy="6909816"/>
            </a:xfrm>
            <a:custGeom>
              <a:avLst/>
              <a:gdLst/>
              <a:ahLst/>
              <a:cxnLst/>
              <a:rect r="r" b="b" t="t" l="l"/>
              <a:pathLst>
                <a:path h="6909816" w="3175">
                  <a:moveTo>
                    <a:pt x="3175" y="0"/>
                  </a:moveTo>
                  <a:lnTo>
                    <a:pt x="3175" y="6909816"/>
                  </a:lnTo>
                  <a:lnTo>
                    <a:pt x="0" y="6909816"/>
                  </a:lnTo>
                  <a:lnTo>
                    <a:pt x="0" y="0"/>
                  </a:lnTo>
                  <a:close/>
                </a:path>
              </a:pathLst>
            </a:custGeom>
            <a:solidFill>
              <a:srgbClr val="000000"/>
            </a:solidFill>
          </p:spPr>
        </p:sp>
        <p:sp>
          <p:nvSpPr>
            <p:cNvPr name="Freeform 21" id="21"/>
            <p:cNvSpPr/>
            <p:nvPr/>
          </p:nvSpPr>
          <p:spPr>
            <a:xfrm flipH="false" flipV="false" rot="0">
              <a:off x="63627" y="63500"/>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2" id="22"/>
            <p:cNvSpPr/>
            <p:nvPr/>
          </p:nvSpPr>
          <p:spPr>
            <a:xfrm flipH="false" flipV="false" rot="0">
              <a:off x="63627" y="697039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grpSp>
      <p:sp>
        <p:nvSpPr>
          <p:cNvPr name="TextBox 23" id="23"/>
          <p:cNvSpPr txBox="true"/>
          <p:nvPr/>
        </p:nvSpPr>
        <p:spPr>
          <a:xfrm rot="0">
            <a:off x="1149201" y="1748952"/>
            <a:ext cx="1974685"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LIST OF </a:t>
            </a:r>
          </a:p>
        </p:txBody>
      </p:sp>
      <p:sp>
        <p:nvSpPr>
          <p:cNvPr name="TextBox 24" id="24"/>
          <p:cNvSpPr txBox="true"/>
          <p:nvPr/>
        </p:nvSpPr>
        <p:spPr>
          <a:xfrm rot="0">
            <a:off x="1149201" y="2261578"/>
            <a:ext cx="5607748"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COMPLETED PROJECTS</a:t>
            </a:r>
          </a:p>
        </p:txBody>
      </p:sp>
      <p:sp>
        <p:nvSpPr>
          <p:cNvPr name="TextBox 25" id="25"/>
          <p:cNvSpPr txBox="true"/>
          <p:nvPr/>
        </p:nvSpPr>
        <p:spPr>
          <a:xfrm rot="0">
            <a:off x="5696807" y="1452382"/>
            <a:ext cx="91925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07</a:t>
            </a:r>
          </a:p>
        </p:txBody>
      </p:sp>
      <p:sp>
        <p:nvSpPr>
          <p:cNvPr name="TextBox 26" id="26"/>
          <p:cNvSpPr txBox="true"/>
          <p:nvPr/>
        </p:nvSpPr>
        <p:spPr>
          <a:xfrm rot="0">
            <a:off x="1637319" y="6841988"/>
            <a:ext cx="2283533" cy="232715"/>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p:txBody>
      </p:sp>
      <p:sp>
        <p:nvSpPr>
          <p:cNvPr name="TextBox 27" id="27"/>
          <p:cNvSpPr txBox="true"/>
          <p:nvPr/>
        </p:nvSpPr>
        <p:spPr>
          <a:xfrm rot="0">
            <a:off x="1634033" y="3349714"/>
            <a:ext cx="2737475" cy="232715"/>
          </a:xfrm>
          <a:prstGeom prst="rect">
            <a:avLst/>
          </a:prstGeom>
        </p:spPr>
        <p:txBody>
          <a:bodyPr anchor="t" rtlCol="false" tIns="0" lIns="0" bIns="0" rIns="0">
            <a:spAutoFit/>
          </a:bodyPr>
          <a:lstStyle/>
          <a:p>
            <a:pPr algn="l">
              <a:lnSpc>
                <a:spcPts val="1821"/>
              </a:lnSpc>
            </a:pPr>
            <a:r>
              <a:rPr lang="en-US" sz="1301" spc="88">
                <a:solidFill>
                  <a:srgbClr val="FFFFFF"/>
                </a:solidFill>
                <a:latin typeface="Montserrat"/>
                <a:ea typeface="Montserrat"/>
                <a:cs typeface="Montserrat"/>
                <a:sym typeface="Montserrat"/>
              </a:rPr>
              <a:t>IR. ZAINUDIN MOHD SALLEH</a:t>
            </a:r>
          </a:p>
        </p:txBody>
      </p:sp>
      <p:sp>
        <p:nvSpPr>
          <p:cNvPr name="TextBox 28" id="28"/>
          <p:cNvSpPr txBox="true"/>
          <p:nvPr/>
        </p:nvSpPr>
        <p:spPr>
          <a:xfrm rot="0">
            <a:off x="1234488" y="3169034"/>
            <a:ext cx="258613"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NO </a:t>
            </a:r>
          </a:p>
        </p:txBody>
      </p:sp>
      <p:sp>
        <p:nvSpPr>
          <p:cNvPr name="TextBox 29" id="29"/>
          <p:cNvSpPr txBox="true"/>
          <p:nvPr/>
        </p:nvSpPr>
        <p:spPr>
          <a:xfrm rot="0">
            <a:off x="1863261" y="3169034"/>
            <a:ext cx="1112939"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PROJECT TITLE </a:t>
            </a:r>
          </a:p>
        </p:txBody>
      </p:sp>
      <p:sp>
        <p:nvSpPr>
          <p:cNvPr name="TextBox 30" id="30"/>
          <p:cNvSpPr txBox="true"/>
          <p:nvPr/>
        </p:nvSpPr>
        <p:spPr>
          <a:xfrm rot="0">
            <a:off x="3932596" y="3169034"/>
            <a:ext cx="789137"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COST (RM) </a:t>
            </a:r>
          </a:p>
        </p:txBody>
      </p:sp>
      <p:sp>
        <p:nvSpPr>
          <p:cNvPr name="TextBox 31" id="31"/>
          <p:cNvSpPr txBox="true"/>
          <p:nvPr/>
        </p:nvSpPr>
        <p:spPr>
          <a:xfrm rot="0">
            <a:off x="5012255" y="3169034"/>
            <a:ext cx="779993" cy="2843803"/>
          </a:xfrm>
          <a:prstGeom prst="rect">
            <a:avLst/>
          </a:prstGeom>
        </p:spPr>
        <p:txBody>
          <a:bodyPr anchor="t" rtlCol="false" tIns="0" lIns="0" bIns="0" rIns="0">
            <a:spAutoFit/>
          </a:bodyPr>
          <a:lstStyle/>
          <a:p>
            <a:pPr algn="l">
              <a:lnSpc>
                <a:spcPts val="1447"/>
              </a:lnSpc>
            </a:pPr>
            <a:r>
              <a:rPr lang="en-US" b="true" sz="1034" spc="-7">
                <a:solidFill>
                  <a:srgbClr val="00007F"/>
                </a:solidFill>
                <a:latin typeface="Montserrat Bold"/>
                <a:ea typeface="Montserrat Bold"/>
                <a:cs typeface="Montserrat Bold"/>
                <a:sym typeface="Montserrat Bold"/>
              </a:rPr>
              <a:t>CLIENT </a:t>
            </a:r>
            <a:r>
              <a:rPr lang="en-US" sz="1034" spc="-7">
                <a:solidFill>
                  <a:srgbClr val="000000"/>
                </a:solidFill>
                <a:latin typeface="Montserrat"/>
                <a:ea typeface="Montserrat"/>
                <a:cs typeface="Montserrat"/>
                <a:sym typeface="Montserrat"/>
              </a:rPr>
              <a:t>Kamal Eng. SB/Teleko m Msia Bhd </a:t>
            </a:r>
          </a:p>
          <a:p>
            <a:pPr algn="l">
              <a:lnSpc>
                <a:spcPts val="2585"/>
              </a:lnSpc>
            </a:pPr>
            <a:r>
              <a:rPr lang="en-US" sz="1034" spc="-7">
                <a:solidFill>
                  <a:srgbClr val="000000"/>
                </a:solidFill>
                <a:latin typeface="Montserrat"/>
                <a:ea typeface="Montserrat"/>
                <a:cs typeface="Montserrat"/>
                <a:sym typeface="Montserrat"/>
              </a:rPr>
              <a:t>Tenaga </a:t>
            </a:r>
          </a:p>
          <a:p>
            <a:pPr algn="l">
              <a:lnSpc>
                <a:spcPts val="517"/>
              </a:lnSpc>
            </a:pPr>
            <a:r>
              <a:rPr lang="en-US" sz="1034" spc="-7">
                <a:solidFill>
                  <a:srgbClr val="000000"/>
                </a:solidFill>
                <a:latin typeface="Montserrat"/>
                <a:ea typeface="Montserrat"/>
                <a:cs typeface="Montserrat"/>
                <a:sym typeface="Montserrat"/>
              </a:rPr>
              <a:t>Nasional </a:t>
            </a:r>
          </a:p>
          <a:p>
            <a:pPr algn="l">
              <a:lnSpc>
                <a:spcPts val="2285"/>
              </a:lnSpc>
            </a:pPr>
            <a:r>
              <a:rPr lang="en-US" sz="1034" spc="-7">
                <a:solidFill>
                  <a:srgbClr val="000000"/>
                </a:solidFill>
                <a:latin typeface="Montserrat"/>
                <a:ea typeface="Montserrat"/>
                <a:cs typeface="Montserrat"/>
                <a:sym typeface="Montserrat"/>
              </a:rPr>
              <a:t>Berhad </a:t>
            </a:r>
          </a:p>
          <a:p>
            <a:pPr algn="l">
              <a:lnSpc>
                <a:spcPts val="1863"/>
              </a:lnSpc>
            </a:pPr>
            <a:r>
              <a:rPr lang="en-US" sz="1034" spc="-7">
                <a:solidFill>
                  <a:srgbClr val="000000"/>
                </a:solidFill>
                <a:latin typeface="Montserrat"/>
                <a:ea typeface="Montserrat"/>
                <a:cs typeface="Montserrat"/>
                <a:sym typeface="Montserrat"/>
              </a:rPr>
              <a:t>Sazean</a:t>
            </a:r>
          </a:p>
          <a:p>
            <a:pPr algn="l">
              <a:lnSpc>
                <a:spcPts val="937"/>
              </a:lnSpc>
            </a:pPr>
            <a:r>
              <a:rPr lang="en-US" sz="1034" spc="-7">
                <a:solidFill>
                  <a:srgbClr val="000000"/>
                </a:solidFill>
                <a:latin typeface="Montserrat"/>
                <a:ea typeface="Montserrat"/>
                <a:cs typeface="Montserrat"/>
                <a:sym typeface="Montserrat"/>
              </a:rPr>
              <a:t>Engineerin</a:t>
            </a:r>
          </a:p>
          <a:p>
            <a:pPr algn="l">
              <a:lnSpc>
                <a:spcPts val="1863"/>
              </a:lnSpc>
            </a:pPr>
            <a:r>
              <a:rPr lang="en-US" sz="1034" spc="-7">
                <a:solidFill>
                  <a:srgbClr val="000000"/>
                </a:solidFill>
                <a:latin typeface="Montserrat"/>
                <a:ea typeface="Montserrat"/>
                <a:cs typeface="Montserrat"/>
                <a:sym typeface="Montserrat"/>
              </a:rPr>
              <a:t>g &amp; </a:t>
            </a:r>
          </a:p>
          <a:p>
            <a:pPr algn="l">
              <a:lnSpc>
                <a:spcPts val="937"/>
              </a:lnSpc>
            </a:pPr>
            <a:r>
              <a:rPr lang="en-US" sz="1034" spc="-7">
                <a:solidFill>
                  <a:srgbClr val="000000"/>
                </a:solidFill>
                <a:latin typeface="Montserrat"/>
                <a:ea typeface="Montserrat"/>
                <a:cs typeface="Montserrat"/>
                <a:sym typeface="Montserrat"/>
              </a:rPr>
              <a:t>Constructi</a:t>
            </a:r>
          </a:p>
          <a:p>
            <a:pPr algn="l">
              <a:lnSpc>
                <a:spcPts val="1863"/>
              </a:lnSpc>
            </a:pPr>
            <a:r>
              <a:rPr lang="en-US" sz="1034" spc="-7">
                <a:solidFill>
                  <a:srgbClr val="000000"/>
                </a:solidFill>
                <a:latin typeface="Montserrat"/>
                <a:ea typeface="Montserrat"/>
                <a:cs typeface="Montserrat"/>
                <a:sym typeface="Montserrat"/>
              </a:rPr>
              <a:t>on Sdn</a:t>
            </a:r>
          </a:p>
          <a:p>
            <a:pPr algn="l">
              <a:lnSpc>
                <a:spcPts val="937"/>
              </a:lnSpc>
            </a:pPr>
            <a:r>
              <a:rPr lang="en-US" sz="1034" spc="-7">
                <a:solidFill>
                  <a:srgbClr val="000000"/>
                </a:solidFill>
                <a:latin typeface="Montserrat"/>
                <a:ea typeface="Montserrat"/>
                <a:cs typeface="Montserrat"/>
                <a:sym typeface="Montserrat"/>
              </a:rPr>
              <a:t>Bhd</a:t>
            </a:r>
          </a:p>
        </p:txBody>
      </p:sp>
      <p:sp>
        <p:nvSpPr>
          <p:cNvPr name="TextBox 32" id="32"/>
          <p:cNvSpPr txBox="true"/>
          <p:nvPr/>
        </p:nvSpPr>
        <p:spPr>
          <a:xfrm rot="0">
            <a:off x="5924788" y="3080052"/>
            <a:ext cx="864003" cy="370151"/>
          </a:xfrm>
          <a:prstGeom prst="rect">
            <a:avLst/>
          </a:prstGeom>
        </p:spPr>
        <p:txBody>
          <a:bodyPr anchor="t" rtlCol="false" tIns="0" lIns="0" bIns="0" rIns="0">
            <a:spAutoFit/>
          </a:bodyPr>
          <a:lstStyle/>
          <a:p>
            <a:pPr algn="l">
              <a:lnSpc>
                <a:spcPts val="1401"/>
              </a:lnSpc>
            </a:pPr>
            <a:r>
              <a:rPr lang="en-US" b="true" sz="1034" spc="4">
                <a:solidFill>
                  <a:srgbClr val="203864"/>
                </a:solidFill>
                <a:latin typeface="Montserrat Bold"/>
                <a:ea typeface="Montserrat Bold"/>
                <a:cs typeface="Montserrat Bold"/>
                <a:sym typeface="Montserrat Bold"/>
              </a:rPr>
              <a:t>DATE COMPLETED</a:t>
            </a:r>
          </a:p>
        </p:txBody>
      </p:sp>
      <p:sp>
        <p:nvSpPr>
          <p:cNvPr name="TextBox 33" id="33"/>
          <p:cNvSpPr txBox="true"/>
          <p:nvPr/>
        </p:nvSpPr>
        <p:spPr>
          <a:xfrm rot="0">
            <a:off x="1234488" y="6359404"/>
            <a:ext cx="118501"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7 </a:t>
            </a:r>
          </a:p>
        </p:txBody>
      </p:sp>
      <p:sp>
        <p:nvSpPr>
          <p:cNvPr name="TextBox 34" id="34"/>
          <p:cNvSpPr txBox="true"/>
          <p:nvPr/>
        </p:nvSpPr>
        <p:spPr>
          <a:xfrm rot="0">
            <a:off x="1234488" y="4497876"/>
            <a:ext cx="12152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5 </a:t>
            </a:r>
          </a:p>
        </p:txBody>
      </p:sp>
      <p:sp>
        <p:nvSpPr>
          <p:cNvPr name="TextBox 35" id="35"/>
          <p:cNvSpPr txBox="true"/>
          <p:nvPr/>
        </p:nvSpPr>
        <p:spPr>
          <a:xfrm rot="0">
            <a:off x="1234488" y="7334669"/>
            <a:ext cx="12302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8 </a:t>
            </a:r>
          </a:p>
        </p:txBody>
      </p:sp>
      <p:sp>
        <p:nvSpPr>
          <p:cNvPr name="TextBox 36" id="36"/>
          <p:cNvSpPr txBox="true"/>
          <p:nvPr/>
        </p:nvSpPr>
        <p:spPr>
          <a:xfrm rot="0">
            <a:off x="1234488" y="5384149"/>
            <a:ext cx="126044"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6 </a:t>
            </a:r>
          </a:p>
        </p:txBody>
      </p:sp>
      <p:sp>
        <p:nvSpPr>
          <p:cNvPr name="TextBox 37" id="37"/>
          <p:cNvSpPr txBox="true"/>
          <p:nvPr/>
        </p:nvSpPr>
        <p:spPr>
          <a:xfrm rot="0">
            <a:off x="1234488" y="8576881"/>
            <a:ext cx="126044"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9 </a:t>
            </a:r>
          </a:p>
        </p:txBody>
      </p:sp>
      <p:sp>
        <p:nvSpPr>
          <p:cNvPr name="TextBox 38" id="38"/>
          <p:cNvSpPr txBox="true"/>
          <p:nvPr/>
        </p:nvSpPr>
        <p:spPr>
          <a:xfrm rot="0">
            <a:off x="1234488" y="3789559"/>
            <a:ext cx="129054"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 </a:t>
            </a:r>
          </a:p>
        </p:txBody>
      </p:sp>
      <p:sp>
        <p:nvSpPr>
          <p:cNvPr name="TextBox 39" id="39"/>
          <p:cNvSpPr txBox="true"/>
          <p:nvPr/>
        </p:nvSpPr>
        <p:spPr>
          <a:xfrm rot="0">
            <a:off x="1234488" y="9552137"/>
            <a:ext cx="18330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10 </a:t>
            </a:r>
          </a:p>
        </p:txBody>
      </p:sp>
      <p:sp>
        <p:nvSpPr>
          <p:cNvPr name="TextBox 40" id="40"/>
          <p:cNvSpPr txBox="true"/>
          <p:nvPr/>
        </p:nvSpPr>
        <p:spPr>
          <a:xfrm rot="0">
            <a:off x="1863261" y="6092457"/>
            <a:ext cx="1741456" cy="722709"/>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Transmission Line : Reconductoringof 132KV Hicom-Proton using High Capacity </a:t>
            </a:r>
          </a:p>
        </p:txBody>
      </p:sp>
      <p:sp>
        <p:nvSpPr>
          <p:cNvPr name="TextBox 41" id="41"/>
          <p:cNvSpPr txBox="true"/>
          <p:nvPr/>
        </p:nvSpPr>
        <p:spPr>
          <a:xfrm rot="0">
            <a:off x="1863261" y="6784972"/>
            <a:ext cx="1878635" cy="3133973"/>
          </a:xfrm>
          <a:prstGeom prst="rect">
            <a:avLst/>
          </a:prstGeom>
        </p:spPr>
        <p:txBody>
          <a:bodyPr anchor="t" rtlCol="false" tIns="0" lIns="0" bIns="0" rIns="0">
            <a:spAutoFit/>
          </a:bodyPr>
          <a:lstStyle/>
          <a:p>
            <a:pPr algn="l">
              <a:lnSpc>
                <a:spcPts val="2585"/>
              </a:lnSpc>
            </a:pPr>
            <a:r>
              <a:rPr lang="en-US" sz="1034" spc="-7">
                <a:solidFill>
                  <a:srgbClr val="000000"/>
                </a:solidFill>
                <a:latin typeface="Montserrat"/>
                <a:ea typeface="Montserrat"/>
                <a:cs typeface="Montserrat"/>
                <a:sym typeface="Montserrat"/>
              </a:rPr>
              <a:t>Transmission Line :</a:t>
            </a:r>
          </a:p>
          <a:p>
            <a:pPr algn="l">
              <a:lnSpc>
                <a:spcPts val="517"/>
              </a:lnSpc>
            </a:pPr>
            <a:r>
              <a:rPr lang="en-US" sz="1034" spc="-7">
                <a:solidFill>
                  <a:srgbClr val="000000"/>
                </a:solidFill>
                <a:latin typeface="Montserrat"/>
                <a:ea typeface="Montserrat"/>
                <a:cs typeface="Montserrat"/>
                <a:sym typeface="Montserrat"/>
              </a:rPr>
              <a:t>132kv OHL KL North-Sri </a:t>
            </a:r>
          </a:p>
          <a:p>
            <a:pPr algn="l">
              <a:lnSpc>
                <a:spcPts val="2285"/>
              </a:lnSpc>
            </a:pPr>
            <a:r>
              <a:rPr lang="en-US" sz="1034" spc="-7">
                <a:solidFill>
                  <a:srgbClr val="000000"/>
                </a:solidFill>
                <a:latin typeface="Montserrat"/>
                <a:ea typeface="Montserrat"/>
                <a:cs typeface="Montserrat"/>
                <a:sym typeface="Montserrat"/>
              </a:rPr>
              <a:t>Damansara-Segambut And </a:t>
            </a:r>
          </a:p>
          <a:p>
            <a:pPr algn="l">
              <a:lnSpc>
                <a:spcPts val="517"/>
              </a:lnSpc>
            </a:pPr>
            <a:r>
              <a:rPr lang="en-US" sz="1034" spc="-7">
                <a:solidFill>
                  <a:srgbClr val="000000"/>
                </a:solidFill>
                <a:latin typeface="Montserrat"/>
                <a:ea typeface="Montserrat"/>
                <a:cs typeface="Montserrat"/>
                <a:sym typeface="Montserrat"/>
              </a:rPr>
              <a:t>Bays Upgrading At PMU Sri </a:t>
            </a:r>
          </a:p>
          <a:p>
            <a:pPr algn="l">
              <a:lnSpc>
                <a:spcPts val="2285"/>
              </a:lnSpc>
            </a:pPr>
            <a:r>
              <a:rPr lang="en-US" sz="1034" spc="-7">
                <a:solidFill>
                  <a:srgbClr val="000000"/>
                </a:solidFill>
                <a:latin typeface="Montserrat"/>
                <a:ea typeface="Montserrat"/>
                <a:cs typeface="Montserrat"/>
                <a:sym typeface="Montserrat"/>
              </a:rPr>
              <a:t>Damansara And PMU </a:t>
            </a:r>
          </a:p>
          <a:p>
            <a:pPr algn="l">
              <a:lnSpc>
                <a:spcPts val="517"/>
              </a:lnSpc>
            </a:pPr>
            <a:r>
              <a:rPr lang="en-US" sz="1034" spc="-7">
                <a:solidFill>
                  <a:srgbClr val="000000"/>
                </a:solidFill>
                <a:latin typeface="Montserrat"/>
                <a:ea typeface="Montserrat"/>
                <a:cs typeface="Montserrat"/>
                <a:sym typeface="Montserrat"/>
              </a:rPr>
              <a:t>Segambut </a:t>
            </a:r>
          </a:p>
          <a:p>
            <a:pPr algn="l">
              <a:lnSpc>
                <a:spcPts val="2585"/>
              </a:lnSpc>
            </a:pPr>
            <a:r>
              <a:rPr lang="en-US" sz="1034" spc="-7">
                <a:solidFill>
                  <a:srgbClr val="000000"/>
                </a:solidFill>
                <a:latin typeface="Montserrat"/>
                <a:ea typeface="Montserrat"/>
                <a:cs typeface="Montserrat"/>
                <a:sym typeface="Montserrat"/>
              </a:rPr>
              <a:t>Transmission Line :</a:t>
            </a:r>
          </a:p>
          <a:p>
            <a:pPr algn="l">
              <a:lnSpc>
                <a:spcPts val="517"/>
              </a:lnSpc>
            </a:pPr>
            <a:r>
              <a:rPr lang="en-US" sz="1034" spc="-7">
                <a:solidFill>
                  <a:srgbClr val="000000"/>
                </a:solidFill>
                <a:latin typeface="Montserrat"/>
                <a:ea typeface="Montserrat"/>
                <a:cs typeface="Montserrat"/>
                <a:sym typeface="Montserrat"/>
              </a:rPr>
              <a:t>132kv OHL From PMU Bukit </a:t>
            </a:r>
          </a:p>
          <a:p>
            <a:pPr algn="l">
              <a:lnSpc>
                <a:spcPts val="2285"/>
              </a:lnSpc>
            </a:pPr>
            <a:r>
              <a:rPr lang="en-US" sz="1034" spc="-7">
                <a:solidFill>
                  <a:srgbClr val="000000"/>
                </a:solidFill>
                <a:latin typeface="Montserrat"/>
                <a:ea typeface="Montserrat"/>
                <a:cs typeface="Montserrat"/>
                <a:sym typeface="Montserrat"/>
              </a:rPr>
              <a:t>Merah To Terminal Tower</a:t>
            </a:r>
          </a:p>
          <a:p>
            <a:pPr algn="l">
              <a:lnSpc>
                <a:spcPts val="517"/>
              </a:lnSpc>
            </a:pPr>
            <a:r>
              <a:rPr lang="en-US" sz="1034" spc="-7">
                <a:solidFill>
                  <a:srgbClr val="000000"/>
                </a:solidFill>
                <a:latin typeface="Montserrat"/>
                <a:ea typeface="Montserrat"/>
                <a:cs typeface="Montserrat"/>
                <a:sym typeface="Montserrat"/>
              </a:rPr>
              <a:t>132kv XLPE Underground </a:t>
            </a:r>
          </a:p>
          <a:p>
            <a:pPr algn="l">
              <a:lnSpc>
                <a:spcPts val="2285"/>
              </a:lnSpc>
            </a:pPr>
            <a:r>
              <a:rPr lang="en-US" sz="1034" spc="-7">
                <a:solidFill>
                  <a:srgbClr val="000000"/>
                </a:solidFill>
                <a:latin typeface="Montserrat"/>
                <a:ea typeface="Montserrat"/>
                <a:cs typeface="Montserrat"/>
                <a:sym typeface="Montserrat"/>
              </a:rPr>
              <a:t>Cable From Terminal Tower </a:t>
            </a:r>
          </a:p>
          <a:p>
            <a:pPr algn="l">
              <a:lnSpc>
                <a:spcPts val="517"/>
              </a:lnSpc>
            </a:pPr>
            <a:r>
              <a:rPr lang="en-US" sz="1034" spc="-7">
                <a:solidFill>
                  <a:srgbClr val="000000"/>
                </a:solidFill>
                <a:latin typeface="Montserrat"/>
                <a:ea typeface="Montserrat"/>
                <a:cs typeface="Montserrat"/>
                <a:sym typeface="Montserrat"/>
              </a:rPr>
              <a:t>To KTMB Bukit Merah 132kv </a:t>
            </a:r>
          </a:p>
          <a:p>
            <a:pPr algn="l">
              <a:lnSpc>
                <a:spcPts val="2285"/>
              </a:lnSpc>
            </a:pPr>
            <a:r>
              <a:rPr lang="en-US" sz="1034" spc="-7">
                <a:solidFill>
                  <a:srgbClr val="000000"/>
                </a:solidFill>
                <a:latin typeface="Montserrat"/>
                <a:ea typeface="Montserrat"/>
                <a:cs typeface="Montserrat"/>
                <a:sym typeface="Montserrat"/>
              </a:rPr>
              <a:t>Fedeer Station. </a:t>
            </a:r>
          </a:p>
          <a:p>
            <a:pPr algn="l">
              <a:lnSpc>
                <a:spcPts val="1865"/>
              </a:lnSpc>
            </a:pPr>
            <a:r>
              <a:rPr lang="en-US" sz="1034" spc="-7">
                <a:solidFill>
                  <a:srgbClr val="000000"/>
                </a:solidFill>
                <a:latin typeface="Montserrat"/>
                <a:ea typeface="Montserrat"/>
                <a:cs typeface="Montserrat"/>
                <a:sym typeface="Montserrat"/>
              </a:rPr>
              <a:t>Transmission Line :</a:t>
            </a:r>
          </a:p>
          <a:p>
            <a:pPr algn="l">
              <a:lnSpc>
                <a:spcPts val="936"/>
              </a:lnSpc>
            </a:pPr>
            <a:r>
              <a:rPr lang="en-US" sz="1034" spc="-7">
                <a:solidFill>
                  <a:srgbClr val="000000"/>
                </a:solidFill>
                <a:latin typeface="Montserrat"/>
                <a:ea typeface="Montserrat"/>
                <a:cs typeface="Montserrat"/>
                <a:sym typeface="Montserrat"/>
              </a:rPr>
              <a:t>132kv OHL Bentong-Kuala </a:t>
            </a:r>
          </a:p>
          <a:p>
            <a:pPr algn="l">
              <a:lnSpc>
                <a:spcPts val="1865"/>
              </a:lnSpc>
            </a:pPr>
            <a:r>
              <a:rPr lang="en-US" sz="1034" spc="-7">
                <a:solidFill>
                  <a:srgbClr val="000000"/>
                </a:solidFill>
                <a:latin typeface="Montserrat"/>
                <a:ea typeface="Montserrat"/>
                <a:cs typeface="Montserrat"/>
                <a:sym typeface="Montserrat"/>
              </a:rPr>
              <a:t>Lipis (Benta-Kuala Lipis ) </a:t>
            </a:r>
          </a:p>
        </p:txBody>
      </p:sp>
      <p:sp>
        <p:nvSpPr>
          <p:cNvPr name="TextBox 42" id="42"/>
          <p:cNvSpPr txBox="true"/>
          <p:nvPr/>
        </p:nvSpPr>
        <p:spPr>
          <a:xfrm rot="0">
            <a:off x="1863261" y="5206184"/>
            <a:ext cx="1888550"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M&amp;E Building Services : 114 Unit 3 story Teres House Setia Alam, Selangor </a:t>
            </a:r>
          </a:p>
        </p:txBody>
      </p:sp>
      <p:sp>
        <p:nvSpPr>
          <p:cNvPr name="TextBox 43" id="43"/>
          <p:cNvSpPr txBox="true"/>
          <p:nvPr/>
        </p:nvSpPr>
        <p:spPr>
          <a:xfrm rot="0">
            <a:off x="1863261" y="3611594"/>
            <a:ext cx="1771469"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M&amp;E Building Services : Menara Telekom, Bangsar, Kuala Lumpur </a:t>
            </a:r>
          </a:p>
        </p:txBody>
      </p:sp>
      <p:sp>
        <p:nvSpPr>
          <p:cNvPr name="TextBox 44" id="44"/>
          <p:cNvSpPr txBox="true"/>
          <p:nvPr/>
        </p:nvSpPr>
        <p:spPr>
          <a:xfrm rot="0">
            <a:off x="1863261" y="4221718"/>
            <a:ext cx="1900904" cy="649548"/>
          </a:xfrm>
          <a:prstGeom prst="rect">
            <a:avLst/>
          </a:prstGeom>
        </p:spPr>
        <p:txBody>
          <a:bodyPr anchor="t" rtlCol="false" tIns="0" lIns="0" bIns="0" rIns="0">
            <a:spAutoFit/>
          </a:bodyPr>
          <a:lstStyle/>
          <a:p>
            <a:pPr algn="l">
              <a:lnSpc>
                <a:spcPts val="2585"/>
              </a:lnSpc>
            </a:pPr>
            <a:r>
              <a:rPr lang="en-US" sz="1034" spc="-7">
                <a:solidFill>
                  <a:srgbClr val="000000"/>
                </a:solidFill>
                <a:latin typeface="Montserrat"/>
                <a:ea typeface="Montserrat"/>
                <a:cs typeface="Montserrat"/>
                <a:sym typeface="Montserrat"/>
              </a:rPr>
              <a:t>Transmission Line :</a:t>
            </a:r>
          </a:p>
          <a:p>
            <a:pPr algn="l">
              <a:lnSpc>
                <a:spcPts val="517"/>
              </a:lnSpc>
            </a:pPr>
            <a:r>
              <a:rPr lang="en-US" sz="1034" spc="-7">
                <a:solidFill>
                  <a:srgbClr val="000000"/>
                </a:solidFill>
                <a:latin typeface="Montserrat"/>
                <a:ea typeface="Montserrat"/>
                <a:cs typeface="Montserrat"/>
                <a:sym typeface="Montserrat"/>
              </a:rPr>
              <a:t>Relocation 33kv Line Gong </a:t>
            </a:r>
          </a:p>
          <a:p>
            <a:pPr algn="l">
              <a:lnSpc>
                <a:spcPts val="2285"/>
              </a:lnSpc>
            </a:pPr>
            <a:r>
              <a:rPr lang="en-US" sz="1034" spc="-7">
                <a:solidFill>
                  <a:srgbClr val="000000"/>
                </a:solidFill>
                <a:latin typeface="Montserrat"/>
                <a:ea typeface="Montserrat"/>
                <a:cs typeface="Montserrat"/>
                <a:sym typeface="Montserrat"/>
              </a:rPr>
              <a:t>Badak-Penarik, Terengganu </a:t>
            </a:r>
          </a:p>
        </p:txBody>
      </p:sp>
      <p:sp>
        <p:nvSpPr>
          <p:cNvPr name="TextBox 45" id="45"/>
          <p:cNvSpPr txBox="true"/>
          <p:nvPr/>
        </p:nvSpPr>
        <p:spPr>
          <a:xfrm rot="0">
            <a:off x="3932596" y="6359404"/>
            <a:ext cx="74397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471,672.80 </a:t>
            </a:r>
          </a:p>
        </p:txBody>
      </p:sp>
      <p:sp>
        <p:nvSpPr>
          <p:cNvPr name="TextBox 46" id="46"/>
          <p:cNvSpPr txBox="true"/>
          <p:nvPr/>
        </p:nvSpPr>
        <p:spPr>
          <a:xfrm rot="0">
            <a:off x="3932596" y="4497876"/>
            <a:ext cx="77557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488,130.00 </a:t>
            </a:r>
          </a:p>
        </p:txBody>
      </p:sp>
      <p:sp>
        <p:nvSpPr>
          <p:cNvPr name="TextBox 47" id="47"/>
          <p:cNvSpPr txBox="true"/>
          <p:nvPr/>
        </p:nvSpPr>
        <p:spPr>
          <a:xfrm rot="0">
            <a:off x="3932596" y="7245687"/>
            <a:ext cx="835304"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13,206,748.0 0 </a:t>
            </a:r>
          </a:p>
        </p:txBody>
      </p:sp>
      <p:sp>
        <p:nvSpPr>
          <p:cNvPr name="TextBox 48" id="48"/>
          <p:cNvSpPr txBox="true"/>
          <p:nvPr/>
        </p:nvSpPr>
        <p:spPr>
          <a:xfrm rot="0">
            <a:off x="3932596" y="5384149"/>
            <a:ext cx="86571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1,750,623.50 </a:t>
            </a:r>
          </a:p>
        </p:txBody>
      </p:sp>
      <p:sp>
        <p:nvSpPr>
          <p:cNvPr name="TextBox 49" id="49"/>
          <p:cNvSpPr txBox="true"/>
          <p:nvPr/>
        </p:nvSpPr>
        <p:spPr>
          <a:xfrm rot="0">
            <a:off x="3932596" y="8576881"/>
            <a:ext cx="899417"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4,364,647.52 </a:t>
            </a:r>
          </a:p>
        </p:txBody>
      </p:sp>
      <p:sp>
        <p:nvSpPr>
          <p:cNvPr name="TextBox 50" id="50"/>
          <p:cNvSpPr txBox="true"/>
          <p:nvPr/>
        </p:nvSpPr>
        <p:spPr>
          <a:xfrm rot="0">
            <a:off x="3932596" y="3789559"/>
            <a:ext cx="954967"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2,964,000.00 </a:t>
            </a:r>
          </a:p>
        </p:txBody>
      </p:sp>
      <p:sp>
        <p:nvSpPr>
          <p:cNvPr name="TextBox 51" id="51"/>
          <p:cNvSpPr txBox="true"/>
          <p:nvPr/>
        </p:nvSpPr>
        <p:spPr>
          <a:xfrm rot="0">
            <a:off x="3932596" y="9552137"/>
            <a:ext cx="95805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9,550,000.00 </a:t>
            </a:r>
          </a:p>
        </p:txBody>
      </p:sp>
      <p:sp>
        <p:nvSpPr>
          <p:cNvPr name="TextBox 52" id="52"/>
          <p:cNvSpPr txBox="true"/>
          <p:nvPr/>
        </p:nvSpPr>
        <p:spPr>
          <a:xfrm rot="0">
            <a:off x="5012255" y="7156704"/>
            <a:ext cx="602228"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Tenaga Nasional Berhad </a:t>
            </a:r>
          </a:p>
        </p:txBody>
      </p:sp>
      <p:sp>
        <p:nvSpPr>
          <p:cNvPr name="TextBox 53" id="53"/>
          <p:cNvSpPr txBox="true"/>
          <p:nvPr/>
        </p:nvSpPr>
        <p:spPr>
          <a:xfrm rot="0">
            <a:off x="5012255" y="8398916"/>
            <a:ext cx="602228"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Tenaga Nasional Berhad </a:t>
            </a:r>
          </a:p>
        </p:txBody>
      </p:sp>
      <p:sp>
        <p:nvSpPr>
          <p:cNvPr name="TextBox 54" id="54"/>
          <p:cNvSpPr txBox="true"/>
          <p:nvPr/>
        </p:nvSpPr>
        <p:spPr>
          <a:xfrm rot="0">
            <a:off x="5012255" y="9374172"/>
            <a:ext cx="602228"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Tenaga Nasional Berhad </a:t>
            </a:r>
          </a:p>
        </p:txBody>
      </p:sp>
      <p:sp>
        <p:nvSpPr>
          <p:cNvPr name="TextBox 55" id="55"/>
          <p:cNvSpPr txBox="true"/>
          <p:nvPr/>
        </p:nvSpPr>
        <p:spPr>
          <a:xfrm rot="0">
            <a:off x="5012255" y="6076664"/>
            <a:ext cx="602228" cy="649548"/>
          </a:xfrm>
          <a:prstGeom prst="rect">
            <a:avLst/>
          </a:prstGeom>
        </p:spPr>
        <p:txBody>
          <a:bodyPr anchor="t" rtlCol="false" tIns="0" lIns="0" bIns="0" rIns="0">
            <a:spAutoFit/>
          </a:bodyPr>
          <a:lstStyle/>
          <a:p>
            <a:pPr algn="l">
              <a:lnSpc>
                <a:spcPts val="2585"/>
              </a:lnSpc>
            </a:pPr>
            <a:r>
              <a:rPr lang="en-US" sz="1034" spc="-7">
                <a:solidFill>
                  <a:srgbClr val="000000"/>
                </a:solidFill>
                <a:latin typeface="Montserrat"/>
                <a:ea typeface="Montserrat"/>
                <a:cs typeface="Montserrat"/>
                <a:sym typeface="Montserrat"/>
              </a:rPr>
              <a:t>Tenaga </a:t>
            </a:r>
          </a:p>
          <a:p>
            <a:pPr algn="l">
              <a:lnSpc>
                <a:spcPts val="517"/>
              </a:lnSpc>
            </a:pPr>
            <a:r>
              <a:rPr lang="en-US" sz="1034" spc="-7">
                <a:solidFill>
                  <a:srgbClr val="000000"/>
                </a:solidFill>
                <a:latin typeface="Montserrat"/>
                <a:ea typeface="Montserrat"/>
                <a:cs typeface="Montserrat"/>
                <a:sym typeface="Montserrat"/>
              </a:rPr>
              <a:t>Nasional </a:t>
            </a:r>
          </a:p>
          <a:p>
            <a:pPr algn="l">
              <a:lnSpc>
                <a:spcPts val="2285"/>
              </a:lnSpc>
            </a:pPr>
            <a:r>
              <a:rPr lang="en-US" sz="1034" spc="-7">
                <a:solidFill>
                  <a:srgbClr val="000000"/>
                </a:solidFill>
                <a:latin typeface="Montserrat"/>
                <a:ea typeface="Montserrat"/>
                <a:cs typeface="Montserrat"/>
                <a:sym typeface="Montserrat"/>
              </a:rPr>
              <a:t>Berhad </a:t>
            </a:r>
          </a:p>
        </p:txBody>
      </p:sp>
      <p:sp>
        <p:nvSpPr>
          <p:cNvPr name="TextBox 56" id="56"/>
          <p:cNvSpPr txBox="true"/>
          <p:nvPr/>
        </p:nvSpPr>
        <p:spPr>
          <a:xfrm rot="0">
            <a:off x="5924788" y="6359404"/>
            <a:ext cx="628012"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Apr 2012 </a:t>
            </a:r>
          </a:p>
        </p:txBody>
      </p:sp>
      <p:sp>
        <p:nvSpPr>
          <p:cNvPr name="TextBox 57" id="57"/>
          <p:cNvSpPr txBox="true"/>
          <p:nvPr/>
        </p:nvSpPr>
        <p:spPr>
          <a:xfrm rot="0">
            <a:off x="5924788" y="8576881"/>
            <a:ext cx="65041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Mac 2013 </a:t>
            </a:r>
          </a:p>
        </p:txBody>
      </p:sp>
      <p:sp>
        <p:nvSpPr>
          <p:cNvPr name="TextBox 58" id="58"/>
          <p:cNvSpPr txBox="true"/>
          <p:nvPr/>
        </p:nvSpPr>
        <p:spPr>
          <a:xfrm rot="0">
            <a:off x="5924788" y="9552137"/>
            <a:ext cx="653491"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May 2013 </a:t>
            </a:r>
          </a:p>
        </p:txBody>
      </p:sp>
      <p:sp>
        <p:nvSpPr>
          <p:cNvPr name="TextBox 59" id="59"/>
          <p:cNvSpPr txBox="true"/>
          <p:nvPr/>
        </p:nvSpPr>
        <p:spPr>
          <a:xfrm rot="0">
            <a:off x="5924788" y="3789559"/>
            <a:ext cx="665674"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April 2011 </a:t>
            </a:r>
          </a:p>
        </p:txBody>
      </p:sp>
      <p:sp>
        <p:nvSpPr>
          <p:cNvPr name="TextBox 60" id="60"/>
          <p:cNvSpPr txBox="true"/>
          <p:nvPr/>
        </p:nvSpPr>
        <p:spPr>
          <a:xfrm rot="0">
            <a:off x="5924788" y="7334669"/>
            <a:ext cx="68650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Sept 2012 </a:t>
            </a:r>
          </a:p>
        </p:txBody>
      </p:sp>
      <p:sp>
        <p:nvSpPr>
          <p:cNvPr name="TextBox 61" id="61"/>
          <p:cNvSpPr txBox="true"/>
          <p:nvPr/>
        </p:nvSpPr>
        <p:spPr>
          <a:xfrm rot="0">
            <a:off x="5924788" y="4497876"/>
            <a:ext cx="82546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August 2011 </a:t>
            </a:r>
          </a:p>
        </p:txBody>
      </p:sp>
      <p:sp>
        <p:nvSpPr>
          <p:cNvPr name="TextBox 62" id="62"/>
          <p:cNvSpPr txBox="true"/>
          <p:nvPr/>
        </p:nvSpPr>
        <p:spPr>
          <a:xfrm rot="0">
            <a:off x="5924788" y="5384149"/>
            <a:ext cx="825465"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August 2011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084107" y="2996879"/>
            <a:ext cx="5886631" cy="6550790"/>
            <a:chOff x="0" y="0"/>
            <a:chExt cx="5886628" cy="6550787"/>
          </a:xfrm>
        </p:grpSpPr>
        <p:sp>
          <p:nvSpPr>
            <p:cNvPr name="Freeform 8" id="8"/>
            <p:cNvSpPr/>
            <p:nvPr/>
          </p:nvSpPr>
          <p:spPr>
            <a:xfrm flipH="false" flipV="false" rot="0">
              <a:off x="692277" y="63627"/>
              <a:ext cx="3175" cy="6423533"/>
            </a:xfrm>
            <a:custGeom>
              <a:avLst/>
              <a:gdLst/>
              <a:ahLst/>
              <a:cxnLst/>
              <a:rect r="r" b="b" t="t" l="l"/>
              <a:pathLst>
                <a:path h="6423533" w="3175">
                  <a:moveTo>
                    <a:pt x="3175" y="0"/>
                  </a:moveTo>
                  <a:lnTo>
                    <a:pt x="3175" y="6423533"/>
                  </a:lnTo>
                  <a:lnTo>
                    <a:pt x="0" y="6423533"/>
                  </a:lnTo>
                  <a:lnTo>
                    <a:pt x="0" y="0"/>
                  </a:lnTo>
                  <a:close/>
                </a:path>
              </a:pathLst>
            </a:custGeom>
            <a:solidFill>
              <a:srgbClr val="000000"/>
            </a:solidFill>
          </p:spPr>
        </p:sp>
        <p:sp>
          <p:nvSpPr>
            <p:cNvPr name="Freeform 9" id="9"/>
            <p:cNvSpPr/>
            <p:nvPr/>
          </p:nvSpPr>
          <p:spPr>
            <a:xfrm flipH="false" flipV="false" rot="0">
              <a:off x="2761615" y="63627"/>
              <a:ext cx="3175" cy="6423533"/>
            </a:xfrm>
            <a:custGeom>
              <a:avLst/>
              <a:gdLst/>
              <a:ahLst/>
              <a:cxnLst/>
              <a:rect r="r" b="b" t="t" l="l"/>
              <a:pathLst>
                <a:path h="6423533" w="3175">
                  <a:moveTo>
                    <a:pt x="3175" y="0"/>
                  </a:moveTo>
                  <a:lnTo>
                    <a:pt x="3175" y="6423533"/>
                  </a:lnTo>
                  <a:lnTo>
                    <a:pt x="0" y="6423533"/>
                  </a:lnTo>
                  <a:lnTo>
                    <a:pt x="0" y="0"/>
                  </a:lnTo>
                  <a:close/>
                </a:path>
              </a:pathLst>
            </a:custGeom>
            <a:solidFill>
              <a:srgbClr val="000000"/>
            </a:solidFill>
          </p:spPr>
        </p:sp>
        <p:sp>
          <p:nvSpPr>
            <p:cNvPr name="Freeform 10" id="10"/>
            <p:cNvSpPr/>
            <p:nvPr/>
          </p:nvSpPr>
          <p:spPr>
            <a:xfrm flipH="false" flipV="false" rot="0">
              <a:off x="3841242" y="63627"/>
              <a:ext cx="3175" cy="6020689"/>
            </a:xfrm>
            <a:custGeom>
              <a:avLst/>
              <a:gdLst/>
              <a:ahLst/>
              <a:cxnLst/>
              <a:rect r="r" b="b" t="t" l="l"/>
              <a:pathLst>
                <a:path h="6020689" w="3175">
                  <a:moveTo>
                    <a:pt x="3175" y="0"/>
                  </a:moveTo>
                  <a:lnTo>
                    <a:pt x="3175" y="6020689"/>
                  </a:lnTo>
                  <a:lnTo>
                    <a:pt x="0" y="6020689"/>
                  </a:lnTo>
                  <a:lnTo>
                    <a:pt x="0" y="0"/>
                  </a:lnTo>
                  <a:close/>
                </a:path>
              </a:pathLst>
            </a:custGeom>
            <a:solidFill>
              <a:srgbClr val="000000"/>
            </a:solidFill>
          </p:spPr>
        </p:sp>
        <p:sp>
          <p:nvSpPr>
            <p:cNvPr name="Freeform 11" id="11"/>
            <p:cNvSpPr/>
            <p:nvPr/>
          </p:nvSpPr>
          <p:spPr>
            <a:xfrm flipH="false" flipV="false" rot="0">
              <a:off x="4753737" y="63627"/>
              <a:ext cx="3175" cy="6020689"/>
            </a:xfrm>
            <a:custGeom>
              <a:avLst/>
              <a:gdLst/>
              <a:ahLst/>
              <a:cxnLst/>
              <a:rect r="r" b="b" t="t" l="l"/>
              <a:pathLst>
                <a:path h="6020689" w="3175">
                  <a:moveTo>
                    <a:pt x="3175" y="0"/>
                  </a:moveTo>
                  <a:lnTo>
                    <a:pt x="3175" y="6020689"/>
                  </a:lnTo>
                  <a:lnTo>
                    <a:pt x="0" y="6020689"/>
                  </a:lnTo>
                  <a:lnTo>
                    <a:pt x="0" y="0"/>
                  </a:lnTo>
                  <a:close/>
                </a:path>
              </a:pathLst>
            </a:custGeom>
            <a:solidFill>
              <a:srgbClr val="000000"/>
            </a:solidFill>
          </p:spPr>
        </p:sp>
        <p:sp>
          <p:nvSpPr>
            <p:cNvPr name="Freeform 12" id="12"/>
            <p:cNvSpPr/>
            <p:nvPr/>
          </p:nvSpPr>
          <p:spPr>
            <a:xfrm flipH="false" flipV="false" rot="0">
              <a:off x="63627" y="504571"/>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3" id="13"/>
            <p:cNvSpPr/>
            <p:nvPr/>
          </p:nvSpPr>
          <p:spPr>
            <a:xfrm flipH="false" flipV="false" rot="0">
              <a:off x="63627" y="130124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4" id="14"/>
            <p:cNvSpPr/>
            <p:nvPr/>
          </p:nvSpPr>
          <p:spPr>
            <a:xfrm flipH="false" flipV="false" rot="0">
              <a:off x="63627" y="263131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5" id="15"/>
            <p:cNvSpPr/>
            <p:nvPr/>
          </p:nvSpPr>
          <p:spPr>
            <a:xfrm flipH="false" flipV="false" rot="0">
              <a:off x="63627" y="3427984"/>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6" id="16"/>
            <p:cNvSpPr/>
            <p:nvPr/>
          </p:nvSpPr>
          <p:spPr>
            <a:xfrm flipH="false" flipV="false" rot="0">
              <a:off x="63627" y="440258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7" id="17"/>
            <p:cNvSpPr/>
            <p:nvPr/>
          </p:nvSpPr>
          <p:spPr>
            <a:xfrm flipH="false" flipV="false" rot="0">
              <a:off x="63627" y="519925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8" id="18"/>
            <p:cNvSpPr/>
            <p:nvPr/>
          </p:nvSpPr>
          <p:spPr>
            <a:xfrm flipH="false" flipV="false" rot="0">
              <a:off x="63627" y="5640197"/>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9" id="19"/>
            <p:cNvSpPr/>
            <p:nvPr/>
          </p:nvSpPr>
          <p:spPr>
            <a:xfrm flipH="false" flipV="false" rot="0">
              <a:off x="63627" y="6081268"/>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0" id="20"/>
            <p:cNvSpPr/>
            <p:nvPr/>
          </p:nvSpPr>
          <p:spPr>
            <a:xfrm flipH="false" flipV="false" rot="0">
              <a:off x="63500" y="63627"/>
              <a:ext cx="3175" cy="6423533"/>
            </a:xfrm>
            <a:custGeom>
              <a:avLst/>
              <a:gdLst/>
              <a:ahLst/>
              <a:cxnLst/>
              <a:rect r="r" b="b" t="t" l="l"/>
              <a:pathLst>
                <a:path h="6423533" w="3175">
                  <a:moveTo>
                    <a:pt x="3175" y="0"/>
                  </a:moveTo>
                  <a:lnTo>
                    <a:pt x="3175" y="6423533"/>
                  </a:lnTo>
                  <a:lnTo>
                    <a:pt x="0" y="6423533"/>
                  </a:lnTo>
                  <a:lnTo>
                    <a:pt x="0" y="0"/>
                  </a:lnTo>
                  <a:close/>
                </a:path>
              </a:pathLst>
            </a:custGeom>
            <a:solidFill>
              <a:srgbClr val="000000"/>
            </a:solidFill>
          </p:spPr>
        </p:sp>
        <p:sp>
          <p:nvSpPr>
            <p:cNvPr name="Freeform 21" id="21"/>
            <p:cNvSpPr/>
            <p:nvPr/>
          </p:nvSpPr>
          <p:spPr>
            <a:xfrm flipH="false" flipV="false" rot="0">
              <a:off x="5819902" y="63627"/>
              <a:ext cx="3175" cy="6423533"/>
            </a:xfrm>
            <a:custGeom>
              <a:avLst/>
              <a:gdLst/>
              <a:ahLst/>
              <a:cxnLst/>
              <a:rect r="r" b="b" t="t" l="l"/>
              <a:pathLst>
                <a:path h="6423533" w="3175">
                  <a:moveTo>
                    <a:pt x="3175" y="0"/>
                  </a:moveTo>
                  <a:lnTo>
                    <a:pt x="3175" y="6423533"/>
                  </a:lnTo>
                  <a:lnTo>
                    <a:pt x="0" y="6423533"/>
                  </a:lnTo>
                  <a:lnTo>
                    <a:pt x="0" y="0"/>
                  </a:lnTo>
                  <a:close/>
                </a:path>
              </a:pathLst>
            </a:custGeom>
            <a:solidFill>
              <a:srgbClr val="000000"/>
            </a:solidFill>
          </p:spPr>
        </p:sp>
        <p:sp>
          <p:nvSpPr>
            <p:cNvPr name="Freeform 22" id="22"/>
            <p:cNvSpPr/>
            <p:nvPr/>
          </p:nvSpPr>
          <p:spPr>
            <a:xfrm flipH="false" flipV="false" rot="0">
              <a:off x="63627" y="63500"/>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3" id="23"/>
            <p:cNvSpPr/>
            <p:nvPr/>
          </p:nvSpPr>
          <p:spPr>
            <a:xfrm flipH="false" flipV="false" rot="0">
              <a:off x="63627" y="648411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grpSp>
      <p:sp>
        <p:nvSpPr>
          <p:cNvPr name="TextBox 24" id="24"/>
          <p:cNvSpPr txBox="true"/>
          <p:nvPr/>
        </p:nvSpPr>
        <p:spPr>
          <a:xfrm rot="0">
            <a:off x="1149201" y="1748952"/>
            <a:ext cx="1974685"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LIST OF </a:t>
            </a:r>
          </a:p>
        </p:txBody>
      </p:sp>
      <p:sp>
        <p:nvSpPr>
          <p:cNvPr name="TextBox 25" id="25"/>
          <p:cNvSpPr txBox="true"/>
          <p:nvPr/>
        </p:nvSpPr>
        <p:spPr>
          <a:xfrm rot="0">
            <a:off x="1149201" y="2261578"/>
            <a:ext cx="5607748"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COMPLETED PROJECTS</a:t>
            </a:r>
          </a:p>
        </p:txBody>
      </p:sp>
      <p:sp>
        <p:nvSpPr>
          <p:cNvPr name="TextBox 26" id="26"/>
          <p:cNvSpPr txBox="true"/>
          <p:nvPr/>
        </p:nvSpPr>
        <p:spPr>
          <a:xfrm rot="0">
            <a:off x="5696807" y="1452382"/>
            <a:ext cx="91925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07</a:t>
            </a:r>
          </a:p>
        </p:txBody>
      </p:sp>
      <p:sp>
        <p:nvSpPr>
          <p:cNvPr name="TextBox 27" id="27"/>
          <p:cNvSpPr txBox="true"/>
          <p:nvPr/>
        </p:nvSpPr>
        <p:spPr>
          <a:xfrm rot="0">
            <a:off x="1637319" y="6841988"/>
            <a:ext cx="2283533" cy="2605516"/>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a:p>
            <a:pPr algn="l">
              <a:lnSpc>
                <a:spcPts val="1401"/>
              </a:lnSpc>
            </a:pPr>
            <a:r>
              <a:rPr lang="en-US" sz="1034" spc="-7">
                <a:solidFill>
                  <a:srgbClr val="000000"/>
                </a:solidFill>
                <a:latin typeface="Montserrat"/>
                <a:ea typeface="Montserrat"/>
                <a:cs typeface="Montserrat"/>
                <a:sym typeface="Montserrat"/>
              </a:rPr>
              <a:t>SimpangTigaIjokto Bestari Jaya, Kuala Selangor. </a:t>
            </a:r>
          </a:p>
          <a:p>
            <a:pPr algn="l">
              <a:lnSpc>
                <a:spcPts val="2585"/>
              </a:lnSpc>
            </a:pPr>
            <a:r>
              <a:rPr lang="en-US" sz="1034" spc="-7">
                <a:solidFill>
                  <a:srgbClr val="000000"/>
                </a:solidFill>
                <a:latin typeface="Montserrat"/>
                <a:ea typeface="Montserrat"/>
                <a:cs typeface="Montserrat"/>
                <a:sym typeface="Montserrat"/>
              </a:rPr>
              <a:t>Civil Work :</a:t>
            </a:r>
          </a:p>
          <a:p>
            <a:pPr algn="l">
              <a:lnSpc>
                <a:spcPts val="1400"/>
              </a:lnSpc>
            </a:pPr>
            <a:r>
              <a:rPr lang="en-US" sz="1134" spc="-7">
                <a:solidFill>
                  <a:srgbClr val="000000"/>
                </a:solidFill>
                <a:latin typeface="Montserrat"/>
                <a:ea typeface="Montserrat"/>
                <a:cs typeface="Montserrat"/>
                <a:sym typeface="Montserrat"/>
              </a:rPr>
              <a:t>Design &amp; Build ‘Master Plan-World Heritage’ in Melaka </a:t>
            </a:r>
          </a:p>
          <a:p>
            <a:pPr algn="l">
              <a:lnSpc>
                <a:spcPts val="2748"/>
              </a:lnSpc>
            </a:pPr>
            <a:r>
              <a:rPr lang="en-US" sz="1134" spc="-7">
                <a:solidFill>
                  <a:srgbClr val="000000"/>
                </a:solidFill>
                <a:latin typeface="Montserrat"/>
                <a:ea typeface="Montserrat"/>
                <a:cs typeface="Montserrat"/>
                <a:sym typeface="Montserrat"/>
              </a:rPr>
              <a:t>Solar RE –Fit Residential </a:t>
            </a:r>
          </a:p>
          <a:p>
            <a:pPr algn="l">
              <a:lnSpc>
                <a:spcPts val="567"/>
              </a:lnSpc>
            </a:pPr>
            <a:r>
              <a:rPr lang="en-US" sz="1134" spc="-7">
                <a:solidFill>
                  <a:srgbClr val="000000"/>
                </a:solidFill>
                <a:latin typeface="Montserrat"/>
                <a:ea typeface="Montserrat"/>
                <a:cs typeface="Montserrat"/>
                <a:sym typeface="Montserrat"/>
              </a:rPr>
              <a:t>30 sites </a:t>
            </a:r>
          </a:p>
          <a:p>
            <a:pPr algn="l">
              <a:lnSpc>
                <a:spcPts val="2835"/>
              </a:lnSpc>
            </a:pPr>
            <a:r>
              <a:rPr lang="en-US" sz="1134" spc="-7">
                <a:solidFill>
                  <a:srgbClr val="000000"/>
                </a:solidFill>
                <a:latin typeface="Montserrat"/>
                <a:ea typeface="Montserrat"/>
                <a:cs typeface="Montserrat"/>
                <a:sym typeface="Montserrat"/>
              </a:rPr>
              <a:t>Solar RE –Fit Community </a:t>
            </a:r>
          </a:p>
          <a:p>
            <a:pPr algn="l">
              <a:lnSpc>
                <a:spcPts val="567"/>
              </a:lnSpc>
            </a:pPr>
            <a:r>
              <a:rPr lang="en-US" sz="1134" spc="-7">
                <a:solidFill>
                  <a:srgbClr val="000000"/>
                </a:solidFill>
                <a:latin typeface="Montserrat"/>
                <a:ea typeface="Montserrat"/>
                <a:cs typeface="Montserrat"/>
                <a:sym typeface="Montserrat"/>
              </a:rPr>
              <a:t>8 sites </a:t>
            </a:r>
          </a:p>
          <a:p>
            <a:pPr algn="l">
              <a:lnSpc>
                <a:spcPts val="1267"/>
              </a:lnSpc>
            </a:pPr>
            <a:r>
              <a:rPr lang="en-US" b="true" sz="1034" spc="7">
                <a:solidFill>
                  <a:srgbClr val="000000"/>
                </a:solidFill>
                <a:latin typeface="Montserrat Bold"/>
                <a:ea typeface="Montserrat Bold"/>
                <a:cs typeface="Montserrat Bold"/>
                <a:sym typeface="Montserrat Bold"/>
              </a:rPr>
              <a:t>Total Completed Project Jan 2011 to Aug 2015 </a:t>
            </a:r>
          </a:p>
        </p:txBody>
      </p:sp>
      <p:sp>
        <p:nvSpPr>
          <p:cNvPr name="TextBox 28" id="28"/>
          <p:cNvSpPr txBox="true"/>
          <p:nvPr/>
        </p:nvSpPr>
        <p:spPr>
          <a:xfrm rot="0">
            <a:off x="1634033" y="3349714"/>
            <a:ext cx="2737475" cy="232715"/>
          </a:xfrm>
          <a:prstGeom prst="rect">
            <a:avLst/>
          </a:prstGeom>
        </p:spPr>
        <p:txBody>
          <a:bodyPr anchor="t" rtlCol="false" tIns="0" lIns="0" bIns="0" rIns="0">
            <a:spAutoFit/>
          </a:bodyPr>
          <a:lstStyle/>
          <a:p>
            <a:pPr algn="l">
              <a:lnSpc>
                <a:spcPts val="1821"/>
              </a:lnSpc>
            </a:pPr>
            <a:r>
              <a:rPr lang="en-US" sz="1301" spc="88">
                <a:solidFill>
                  <a:srgbClr val="FFFFFF"/>
                </a:solidFill>
                <a:latin typeface="Montserrat"/>
                <a:ea typeface="Montserrat"/>
                <a:cs typeface="Montserrat"/>
                <a:sym typeface="Montserrat"/>
              </a:rPr>
              <a:t>IR. ZAINUDIN MOHD SALLEH</a:t>
            </a:r>
          </a:p>
        </p:txBody>
      </p:sp>
      <p:sp>
        <p:nvSpPr>
          <p:cNvPr name="TextBox 29" id="29"/>
          <p:cNvSpPr txBox="true"/>
          <p:nvPr/>
        </p:nvSpPr>
        <p:spPr>
          <a:xfrm rot="0">
            <a:off x="1234488" y="3169034"/>
            <a:ext cx="258613"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NO </a:t>
            </a:r>
          </a:p>
        </p:txBody>
      </p:sp>
      <p:sp>
        <p:nvSpPr>
          <p:cNvPr name="TextBox 30" id="30"/>
          <p:cNvSpPr txBox="true"/>
          <p:nvPr/>
        </p:nvSpPr>
        <p:spPr>
          <a:xfrm rot="0">
            <a:off x="1863261" y="3169034"/>
            <a:ext cx="1112939"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PROJECT TITLE </a:t>
            </a:r>
          </a:p>
        </p:txBody>
      </p:sp>
      <p:sp>
        <p:nvSpPr>
          <p:cNvPr name="TextBox 31" id="31"/>
          <p:cNvSpPr txBox="true"/>
          <p:nvPr/>
        </p:nvSpPr>
        <p:spPr>
          <a:xfrm rot="0">
            <a:off x="3932596" y="3169034"/>
            <a:ext cx="789137"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COST (RM) </a:t>
            </a:r>
          </a:p>
        </p:txBody>
      </p:sp>
      <p:sp>
        <p:nvSpPr>
          <p:cNvPr name="TextBox 32" id="32"/>
          <p:cNvSpPr txBox="true"/>
          <p:nvPr/>
        </p:nvSpPr>
        <p:spPr>
          <a:xfrm rot="0">
            <a:off x="5012255" y="3169034"/>
            <a:ext cx="544830"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CLIENT </a:t>
            </a:r>
          </a:p>
        </p:txBody>
      </p:sp>
      <p:sp>
        <p:nvSpPr>
          <p:cNvPr name="TextBox 33" id="33"/>
          <p:cNvSpPr txBox="true"/>
          <p:nvPr/>
        </p:nvSpPr>
        <p:spPr>
          <a:xfrm rot="0">
            <a:off x="4731915" y="9173461"/>
            <a:ext cx="1347807" cy="192215"/>
          </a:xfrm>
          <a:prstGeom prst="rect">
            <a:avLst/>
          </a:prstGeom>
        </p:spPr>
        <p:txBody>
          <a:bodyPr anchor="t" rtlCol="false" tIns="0" lIns="0" bIns="0" rIns="0">
            <a:spAutoFit/>
          </a:bodyPr>
          <a:lstStyle/>
          <a:p>
            <a:pPr algn="l">
              <a:lnSpc>
                <a:spcPts val="1447"/>
              </a:lnSpc>
            </a:pPr>
            <a:r>
              <a:rPr lang="en-US" b="true" sz="1034" spc="7">
                <a:solidFill>
                  <a:srgbClr val="000000"/>
                </a:solidFill>
                <a:latin typeface="Montserrat Bold"/>
                <a:ea typeface="Montserrat Bold"/>
                <a:cs typeface="Montserrat Bold"/>
                <a:sym typeface="Montserrat Bold"/>
              </a:rPr>
              <a:t>RM 107,297,534.30 </a:t>
            </a:r>
          </a:p>
        </p:txBody>
      </p:sp>
      <p:sp>
        <p:nvSpPr>
          <p:cNvPr name="TextBox 34" id="34"/>
          <p:cNvSpPr txBox="true"/>
          <p:nvPr/>
        </p:nvSpPr>
        <p:spPr>
          <a:xfrm rot="0">
            <a:off x="5924788" y="3080052"/>
            <a:ext cx="864003" cy="370151"/>
          </a:xfrm>
          <a:prstGeom prst="rect">
            <a:avLst/>
          </a:prstGeom>
        </p:spPr>
        <p:txBody>
          <a:bodyPr anchor="t" rtlCol="false" tIns="0" lIns="0" bIns="0" rIns="0">
            <a:spAutoFit/>
          </a:bodyPr>
          <a:lstStyle/>
          <a:p>
            <a:pPr algn="l">
              <a:lnSpc>
                <a:spcPts val="1401"/>
              </a:lnSpc>
            </a:pPr>
            <a:r>
              <a:rPr lang="en-US" b="true" sz="1034" spc="4">
                <a:solidFill>
                  <a:srgbClr val="203864"/>
                </a:solidFill>
                <a:latin typeface="Montserrat Bold"/>
                <a:ea typeface="Montserrat Bold"/>
                <a:cs typeface="Montserrat Bold"/>
                <a:sym typeface="Montserrat Bold"/>
              </a:rPr>
              <a:t>DATE COMPLETED</a:t>
            </a:r>
          </a:p>
        </p:txBody>
      </p:sp>
      <p:sp>
        <p:nvSpPr>
          <p:cNvPr name="TextBox 35" id="35"/>
          <p:cNvSpPr txBox="true"/>
          <p:nvPr/>
        </p:nvSpPr>
        <p:spPr>
          <a:xfrm rot="0">
            <a:off x="1234488" y="3789559"/>
            <a:ext cx="136588" cy="188900"/>
          </a:xfrm>
          <a:prstGeom prst="rect">
            <a:avLst/>
          </a:prstGeom>
        </p:spPr>
        <p:txBody>
          <a:bodyPr anchor="t" rtlCol="false" tIns="0" lIns="0" bIns="0" rIns="0">
            <a:spAutoFit/>
          </a:bodyPr>
          <a:lstStyle/>
          <a:p>
            <a:pPr algn="l">
              <a:lnSpc>
                <a:spcPts val="1447"/>
              </a:lnSpc>
            </a:pPr>
            <a:r>
              <a:rPr lang="en-US" sz="1034" spc="-5">
                <a:solidFill>
                  <a:srgbClr val="000000"/>
                </a:solidFill>
                <a:latin typeface="Montserrat"/>
                <a:ea typeface="Montserrat"/>
                <a:cs typeface="Montserrat"/>
                <a:sym typeface="Montserrat"/>
              </a:rPr>
              <a:t>11 </a:t>
            </a:r>
          </a:p>
        </p:txBody>
      </p:sp>
      <p:sp>
        <p:nvSpPr>
          <p:cNvPr name="TextBox 36" id="36"/>
          <p:cNvSpPr txBox="true"/>
          <p:nvPr/>
        </p:nvSpPr>
        <p:spPr>
          <a:xfrm rot="0">
            <a:off x="1234488" y="8751284"/>
            <a:ext cx="166707"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17 </a:t>
            </a:r>
          </a:p>
        </p:txBody>
      </p:sp>
      <p:sp>
        <p:nvSpPr>
          <p:cNvPr name="TextBox 37" id="37"/>
          <p:cNvSpPr txBox="true"/>
          <p:nvPr/>
        </p:nvSpPr>
        <p:spPr>
          <a:xfrm rot="0">
            <a:off x="1234488" y="4853807"/>
            <a:ext cx="16818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12 </a:t>
            </a:r>
          </a:p>
        </p:txBody>
      </p:sp>
      <p:sp>
        <p:nvSpPr>
          <p:cNvPr name="TextBox 38" id="38"/>
          <p:cNvSpPr txBox="true"/>
          <p:nvPr/>
        </p:nvSpPr>
        <p:spPr>
          <a:xfrm rot="0">
            <a:off x="1234488" y="5918054"/>
            <a:ext cx="16978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13 </a:t>
            </a:r>
          </a:p>
        </p:txBody>
      </p:sp>
      <p:sp>
        <p:nvSpPr>
          <p:cNvPr name="TextBox 39" id="39"/>
          <p:cNvSpPr txBox="true"/>
          <p:nvPr/>
        </p:nvSpPr>
        <p:spPr>
          <a:xfrm rot="0">
            <a:off x="1234488" y="7690599"/>
            <a:ext cx="16978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15 </a:t>
            </a:r>
          </a:p>
        </p:txBody>
      </p:sp>
      <p:sp>
        <p:nvSpPr>
          <p:cNvPr name="TextBox 40" id="40"/>
          <p:cNvSpPr txBox="true"/>
          <p:nvPr/>
        </p:nvSpPr>
        <p:spPr>
          <a:xfrm rot="0">
            <a:off x="1234488" y="8309924"/>
            <a:ext cx="17420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16 </a:t>
            </a:r>
          </a:p>
        </p:txBody>
      </p:sp>
      <p:sp>
        <p:nvSpPr>
          <p:cNvPr name="TextBox 41" id="41"/>
          <p:cNvSpPr txBox="true"/>
          <p:nvPr/>
        </p:nvSpPr>
        <p:spPr>
          <a:xfrm rot="0">
            <a:off x="1234488" y="6804327"/>
            <a:ext cx="17727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14 </a:t>
            </a:r>
          </a:p>
        </p:txBody>
      </p:sp>
      <p:sp>
        <p:nvSpPr>
          <p:cNvPr name="TextBox 42" id="42"/>
          <p:cNvSpPr txBox="true"/>
          <p:nvPr/>
        </p:nvSpPr>
        <p:spPr>
          <a:xfrm rot="0">
            <a:off x="1863261" y="6448387"/>
            <a:ext cx="1700451"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Transmission Line : 11kV relocation for Road Upgrade Route B35 from </a:t>
            </a:r>
          </a:p>
        </p:txBody>
      </p:sp>
      <p:sp>
        <p:nvSpPr>
          <p:cNvPr name="TextBox 43" id="43"/>
          <p:cNvSpPr txBox="true"/>
          <p:nvPr/>
        </p:nvSpPr>
        <p:spPr>
          <a:xfrm rot="0">
            <a:off x="1863261" y="3522612"/>
            <a:ext cx="1960054" cy="2854290"/>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M&amp;E Building Services : Maternity Hospital Sultanah Nur Zahirah,Kuala Terengganu </a:t>
            </a:r>
          </a:p>
          <a:p>
            <a:pPr algn="l">
              <a:lnSpc>
                <a:spcPts val="2585"/>
              </a:lnSpc>
            </a:pPr>
            <a:r>
              <a:rPr lang="en-US" sz="1034" spc="-7">
                <a:solidFill>
                  <a:srgbClr val="000000"/>
                </a:solidFill>
                <a:latin typeface="Montserrat"/>
                <a:ea typeface="Montserrat"/>
                <a:cs typeface="Montserrat"/>
                <a:sym typeface="Montserrat"/>
              </a:rPr>
              <a:t>New Datacenter CX5 at </a:t>
            </a:r>
          </a:p>
          <a:p>
            <a:pPr algn="l">
              <a:lnSpc>
                <a:spcPts val="517"/>
              </a:lnSpc>
            </a:pPr>
            <a:r>
              <a:rPr lang="en-US" sz="1034" spc="-7">
                <a:solidFill>
                  <a:srgbClr val="000000"/>
                </a:solidFill>
                <a:latin typeface="Montserrat"/>
                <a:ea typeface="Montserrat"/>
                <a:cs typeface="Montserrat"/>
                <a:sym typeface="Montserrat"/>
              </a:rPr>
              <a:t>Cyberjaya 4 Units 25 MVA </a:t>
            </a:r>
          </a:p>
          <a:p>
            <a:pPr algn="l">
              <a:lnSpc>
                <a:spcPts val="2285"/>
              </a:lnSpc>
            </a:pPr>
            <a:r>
              <a:rPr lang="en-US" sz="1034" spc="-7">
                <a:solidFill>
                  <a:srgbClr val="000000"/>
                </a:solidFill>
                <a:latin typeface="Montserrat"/>
                <a:ea typeface="Montserrat"/>
                <a:cs typeface="Montserrat"/>
                <a:sym typeface="Montserrat"/>
              </a:rPr>
              <a:t>Tx, 19 Units 2MVA Generator, </a:t>
            </a:r>
          </a:p>
          <a:p>
            <a:pPr algn="l">
              <a:lnSpc>
                <a:spcPts val="517"/>
              </a:lnSpc>
            </a:pPr>
            <a:r>
              <a:rPr lang="en-US" sz="1034" spc="-7">
                <a:solidFill>
                  <a:srgbClr val="000000"/>
                </a:solidFill>
                <a:latin typeface="Montserrat"/>
                <a:ea typeface="Montserrat"/>
                <a:cs typeface="Montserrat"/>
                <a:sym typeface="Montserrat"/>
              </a:rPr>
              <a:t>33/11 kV GIS Substation </a:t>
            </a:r>
          </a:p>
          <a:p>
            <a:pPr algn="l">
              <a:lnSpc>
                <a:spcPts val="2285"/>
              </a:lnSpc>
            </a:pPr>
            <a:r>
              <a:rPr lang="en-US" sz="1034" spc="-7">
                <a:solidFill>
                  <a:srgbClr val="000000"/>
                </a:solidFill>
                <a:latin typeface="Montserrat"/>
                <a:ea typeface="Montserrat"/>
                <a:cs typeface="Montserrat"/>
                <a:sym typeface="Montserrat"/>
              </a:rPr>
              <a:t>28 Units 11/0.4kV Tx, 33kV &amp; </a:t>
            </a:r>
          </a:p>
          <a:p>
            <a:pPr algn="l">
              <a:lnSpc>
                <a:spcPts val="517"/>
              </a:lnSpc>
            </a:pPr>
            <a:r>
              <a:rPr lang="en-US" sz="1034" spc="-7">
                <a:solidFill>
                  <a:srgbClr val="000000"/>
                </a:solidFill>
                <a:latin typeface="Montserrat"/>
                <a:ea typeface="Montserrat"/>
                <a:cs typeface="Montserrat"/>
                <a:sym typeface="Montserrat"/>
              </a:rPr>
              <a:t>11kV Cables.</a:t>
            </a:r>
          </a:p>
          <a:p>
            <a:pPr algn="l">
              <a:lnSpc>
                <a:spcPts val="2285"/>
              </a:lnSpc>
            </a:pPr>
            <a:r>
              <a:rPr lang="en-US" sz="1034" spc="-7">
                <a:solidFill>
                  <a:srgbClr val="000000"/>
                </a:solidFill>
                <a:latin typeface="Montserrat"/>
                <a:ea typeface="Montserrat"/>
                <a:cs typeface="Montserrat"/>
                <a:sym typeface="Montserrat"/>
              </a:rPr>
              <a:t>LV Switchboard &amp; Cables </a:t>
            </a:r>
          </a:p>
          <a:p>
            <a:pPr algn="l">
              <a:lnSpc>
                <a:spcPts val="1865"/>
              </a:lnSpc>
            </a:pPr>
            <a:r>
              <a:rPr lang="en-US" sz="1034" spc="-7">
                <a:solidFill>
                  <a:srgbClr val="000000"/>
                </a:solidFill>
                <a:latin typeface="Montserrat"/>
                <a:ea typeface="Montserrat"/>
                <a:cs typeface="Montserrat"/>
                <a:sym typeface="Montserrat"/>
              </a:rPr>
              <a:t>Transmission Line :</a:t>
            </a:r>
          </a:p>
          <a:p>
            <a:pPr algn="l">
              <a:lnSpc>
                <a:spcPts val="1400"/>
              </a:lnSpc>
            </a:pPr>
            <a:r>
              <a:rPr lang="en-US" sz="1134" spc="-7">
                <a:solidFill>
                  <a:srgbClr val="000000"/>
                </a:solidFill>
                <a:latin typeface="Montserrat"/>
                <a:ea typeface="Montserrat"/>
                <a:cs typeface="Montserrat"/>
                <a:sym typeface="Montserrat"/>
              </a:rPr>
              <a:t>Relocate 33kv OHL (Kerayong –Kemayan) at Triang ,Pahang. </a:t>
            </a:r>
          </a:p>
        </p:txBody>
      </p:sp>
      <p:sp>
        <p:nvSpPr>
          <p:cNvPr name="TextBox 44" id="44"/>
          <p:cNvSpPr txBox="true"/>
          <p:nvPr/>
        </p:nvSpPr>
        <p:spPr>
          <a:xfrm rot="0">
            <a:off x="3932596" y="5918054"/>
            <a:ext cx="77236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588,160.00 </a:t>
            </a:r>
          </a:p>
        </p:txBody>
      </p:sp>
      <p:sp>
        <p:nvSpPr>
          <p:cNvPr name="TextBox 45" id="45"/>
          <p:cNvSpPr txBox="true"/>
          <p:nvPr/>
        </p:nvSpPr>
        <p:spPr>
          <a:xfrm rot="0">
            <a:off x="3932596" y="6804327"/>
            <a:ext cx="778650"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874,567.50 </a:t>
            </a:r>
          </a:p>
        </p:txBody>
      </p:sp>
      <p:sp>
        <p:nvSpPr>
          <p:cNvPr name="TextBox 46" id="46"/>
          <p:cNvSpPr txBox="true"/>
          <p:nvPr/>
        </p:nvSpPr>
        <p:spPr>
          <a:xfrm rot="0">
            <a:off x="3932596" y="8220942"/>
            <a:ext cx="845982" cy="80819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3,000,000.0 0 </a:t>
            </a:r>
          </a:p>
          <a:p>
            <a:pPr algn="l">
              <a:lnSpc>
                <a:spcPts val="2585"/>
              </a:lnSpc>
            </a:pPr>
            <a:r>
              <a:rPr lang="en-US" sz="1034" spc="-7">
                <a:solidFill>
                  <a:srgbClr val="000000"/>
                </a:solidFill>
                <a:latin typeface="Montserrat"/>
                <a:ea typeface="Montserrat"/>
                <a:cs typeface="Montserrat"/>
                <a:sym typeface="Montserrat"/>
              </a:rPr>
              <a:t>2,000,000.0</a:t>
            </a:r>
          </a:p>
          <a:p>
            <a:pPr algn="l">
              <a:lnSpc>
                <a:spcPts val="517"/>
              </a:lnSpc>
            </a:pPr>
            <a:r>
              <a:rPr lang="en-US" sz="1034" spc="-7">
                <a:solidFill>
                  <a:srgbClr val="000000"/>
                </a:solidFill>
                <a:latin typeface="Montserrat"/>
                <a:ea typeface="Montserrat"/>
                <a:cs typeface="Montserrat"/>
                <a:sym typeface="Montserrat"/>
              </a:rPr>
              <a:t>0 </a:t>
            </a:r>
          </a:p>
        </p:txBody>
      </p:sp>
      <p:sp>
        <p:nvSpPr>
          <p:cNvPr name="TextBox 47" id="47"/>
          <p:cNvSpPr txBox="true"/>
          <p:nvPr/>
        </p:nvSpPr>
        <p:spPr>
          <a:xfrm rot="0">
            <a:off x="3932596" y="4764824"/>
            <a:ext cx="878119"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42,674,949.0 0 </a:t>
            </a:r>
          </a:p>
        </p:txBody>
      </p:sp>
      <p:sp>
        <p:nvSpPr>
          <p:cNvPr name="TextBox 48" id="48"/>
          <p:cNvSpPr txBox="true"/>
          <p:nvPr/>
        </p:nvSpPr>
        <p:spPr>
          <a:xfrm rot="0">
            <a:off x="3932596" y="3700577"/>
            <a:ext cx="880682"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10,350,000.0 0 </a:t>
            </a:r>
          </a:p>
        </p:txBody>
      </p:sp>
      <p:sp>
        <p:nvSpPr>
          <p:cNvPr name="TextBox 49" id="49"/>
          <p:cNvSpPr txBox="true"/>
          <p:nvPr/>
        </p:nvSpPr>
        <p:spPr>
          <a:xfrm rot="0">
            <a:off x="3932596" y="7690599"/>
            <a:ext cx="95314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10,314,036.00 </a:t>
            </a:r>
          </a:p>
        </p:txBody>
      </p:sp>
      <p:sp>
        <p:nvSpPr>
          <p:cNvPr name="TextBox 50" id="50"/>
          <p:cNvSpPr txBox="true"/>
          <p:nvPr/>
        </p:nvSpPr>
        <p:spPr>
          <a:xfrm rot="0">
            <a:off x="5012255" y="5740079"/>
            <a:ext cx="602228"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Tenaga Nasional Berhad </a:t>
            </a:r>
          </a:p>
        </p:txBody>
      </p:sp>
      <p:sp>
        <p:nvSpPr>
          <p:cNvPr name="TextBox 51" id="51"/>
          <p:cNvSpPr txBox="true"/>
          <p:nvPr/>
        </p:nvSpPr>
        <p:spPr>
          <a:xfrm rot="0">
            <a:off x="5012255" y="3611594"/>
            <a:ext cx="611143"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Ahmad Zaki Sdn Bhd </a:t>
            </a:r>
          </a:p>
        </p:txBody>
      </p:sp>
      <p:sp>
        <p:nvSpPr>
          <p:cNvPr name="TextBox 52" id="52"/>
          <p:cNvSpPr txBox="true"/>
          <p:nvPr/>
        </p:nvSpPr>
        <p:spPr>
          <a:xfrm rot="0">
            <a:off x="5012255" y="4764824"/>
            <a:ext cx="685124"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Atlas CSF Sdn Bhd </a:t>
            </a:r>
          </a:p>
        </p:txBody>
      </p:sp>
      <p:sp>
        <p:nvSpPr>
          <p:cNvPr name="TextBox 53" id="53"/>
          <p:cNvSpPr txBox="true"/>
          <p:nvPr/>
        </p:nvSpPr>
        <p:spPr>
          <a:xfrm rot="0">
            <a:off x="5012255" y="6537379"/>
            <a:ext cx="686333" cy="722709"/>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Eurowide Constructi on Sdn Bhd </a:t>
            </a:r>
          </a:p>
        </p:txBody>
      </p:sp>
      <p:sp>
        <p:nvSpPr>
          <p:cNvPr name="TextBox 54" id="54"/>
          <p:cNvSpPr txBox="true"/>
          <p:nvPr/>
        </p:nvSpPr>
        <p:spPr>
          <a:xfrm rot="0">
            <a:off x="5012255" y="7318877"/>
            <a:ext cx="745398" cy="1710261"/>
          </a:xfrm>
          <a:prstGeom prst="rect">
            <a:avLst/>
          </a:prstGeom>
        </p:spPr>
        <p:txBody>
          <a:bodyPr anchor="t" rtlCol="false" tIns="0" lIns="0" bIns="0" rIns="0">
            <a:spAutoFit/>
          </a:bodyPr>
          <a:lstStyle/>
          <a:p>
            <a:pPr algn="l">
              <a:lnSpc>
                <a:spcPts val="2585"/>
              </a:lnSpc>
            </a:pPr>
            <a:r>
              <a:rPr lang="en-US" sz="1034" spc="-7">
                <a:solidFill>
                  <a:srgbClr val="000000"/>
                </a:solidFill>
                <a:latin typeface="Montserrat"/>
                <a:ea typeface="Montserrat"/>
                <a:cs typeface="Montserrat"/>
                <a:sym typeface="Montserrat"/>
              </a:rPr>
              <a:t>Majlis </a:t>
            </a:r>
          </a:p>
          <a:p>
            <a:pPr algn="l">
              <a:lnSpc>
                <a:spcPts val="517"/>
              </a:lnSpc>
            </a:pPr>
            <a:r>
              <a:rPr lang="en-US" sz="1034" spc="-7">
                <a:solidFill>
                  <a:srgbClr val="000000"/>
                </a:solidFill>
                <a:latin typeface="Montserrat"/>
                <a:ea typeface="Montserrat"/>
                <a:cs typeface="Montserrat"/>
                <a:sym typeface="Montserrat"/>
              </a:rPr>
              <a:t>Bandaraya </a:t>
            </a:r>
          </a:p>
          <a:p>
            <a:pPr algn="l">
              <a:lnSpc>
                <a:spcPts val="2285"/>
              </a:lnSpc>
            </a:pPr>
            <a:r>
              <a:rPr lang="en-US" sz="1034" spc="-7">
                <a:solidFill>
                  <a:srgbClr val="000000"/>
                </a:solidFill>
                <a:latin typeface="Montserrat"/>
                <a:ea typeface="Montserrat"/>
                <a:cs typeface="Montserrat"/>
                <a:sym typeface="Montserrat"/>
              </a:rPr>
              <a:t>Melaka </a:t>
            </a:r>
          </a:p>
          <a:p>
            <a:pPr algn="l">
              <a:lnSpc>
                <a:spcPts val="517"/>
              </a:lnSpc>
            </a:pPr>
            <a:r>
              <a:rPr lang="en-US" sz="1034" spc="-7">
                <a:solidFill>
                  <a:srgbClr val="000000"/>
                </a:solidFill>
                <a:latin typeface="Montserrat"/>
                <a:ea typeface="Montserrat"/>
                <a:cs typeface="Montserrat"/>
                <a:sym typeface="Montserrat"/>
              </a:rPr>
              <a:t>Bersejarah </a:t>
            </a:r>
          </a:p>
          <a:p>
            <a:pPr algn="l">
              <a:lnSpc>
                <a:spcPts val="2585"/>
              </a:lnSpc>
            </a:pPr>
            <a:r>
              <a:rPr lang="en-US" sz="1034" spc="-7">
                <a:solidFill>
                  <a:srgbClr val="000000"/>
                </a:solidFill>
                <a:latin typeface="Montserrat"/>
                <a:ea typeface="Montserrat"/>
                <a:cs typeface="Montserrat"/>
                <a:sym typeface="Montserrat"/>
              </a:rPr>
              <a:t>House </a:t>
            </a:r>
          </a:p>
          <a:p>
            <a:pPr algn="l">
              <a:lnSpc>
                <a:spcPts val="517"/>
              </a:lnSpc>
            </a:pPr>
            <a:r>
              <a:rPr lang="en-US" sz="1034" spc="-7">
                <a:solidFill>
                  <a:srgbClr val="000000"/>
                </a:solidFill>
                <a:latin typeface="Montserrat"/>
                <a:ea typeface="Montserrat"/>
                <a:cs typeface="Montserrat"/>
                <a:sym typeface="Montserrat"/>
              </a:rPr>
              <a:t>Owner </a:t>
            </a:r>
          </a:p>
          <a:p>
            <a:pPr algn="l">
              <a:lnSpc>
                <a:spcPts val="2585"/>
              </a:lnSpc>
            </a:pPr>
            <a:r>
              <a:rPr lang="en-US" sz="1034" spc="-7">
                <a:solidFill>
                  <a:srgbClr val="000000"/>
                </a:solidFill>
                <a:latin typeface="Montserrat"/>
                <a:ea typeface="Montserrat"/>
                <a:cs typeface="Montserrat"/>
                <a:sym typeface="Montserrat"/>
              </a:rPr>
              <a:t>Communit</a:t>
            </a:r>
          </a:p>
          <a:p>
            <a:pPr algn="l">
              <a:lnSpc>
                <a:spcPts val="517"/>
              </a:lnSpc>
            </a:pPr>
            <a:r>
              <a:rPr lang="en-US" sz="1034" spc="-7">
                <a:solidFill>
                  <a:srgbClr val="000000"/>
                </a:solidFill>
                <a:latin typeface="Montserrat"/>
                <a:ea typeface="Montserrat"/>
                <a:cs typeface="Montserrat"/>
                <a:sym typeface="Montserrat"/>
              </a:rPr>
              <a:t>y </a:t>
            </a:r>
          </a:p>
        </p:txBody>
      </p:sp>
      <p:sp>
        <p:nvSpPr>
          <p:cNvPr name="TextBox 55" id="55"/>
          <p:cNvSpPr txBox="true"/>
          <p:nvPr/>
        </p:nvSpPr>
        <p:spPr>
          <a:xfrm rot="0">
            <a:off x="5924788" y="7690599"/>
            <a:ext cx="65193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July 2015 </a:t>
            </a:r>
          </a:p>
        </p:txBody>
      </p:sp>
      <p:sp>
        <p:nvSpPr>
          <p:cNvPr name="TextBox 56" id="56"/>
          <p:cNvSpPr txBox="true"/>
          <p:nvPr/>
        </p:nvSpPr>
        <p:spPr>
          <a:xfrm rot="0">
            <a:off x="5924788" y="8309924"/>
            <a:ext cx="65193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July 2015 </a:t>
            </a:r>
          </a:p>
        </p:txBody>
      </p:sp>
      <p:sp>
        <p:nvSpPr>
          <p:cNvPr name="TextBox 57" id="57"/>
          <p:cNvSpPr txBox="true"/>
          <p:nvPr/>
        </p:nvSpPr>
        <p:spPr>
          <a:xfrm rot="0">
            <a:off x="5924788" y="6715344"/>
            <a:ext cx="722909"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December 2014 </a:t>
            </a:r>
          </a:p>
        </p:txBody>
      </p:sp>
      <p:sp>
        <p:nvSpPr>
          <p:cNvPr name="TextBox 58" id="58"/>
          <p:cNvSpPr txBox="true"/>
          <p:nvPr/>
        </p:nvSpPr>
        <p:spPr>
          <a:xfrm rot="0">
            <a:off x="5924788" y="3700577"/>
            <a:ext cx="733273"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November 2013 </a:t>
            </a:r>
          </a:p>
        </p:txBody>
      </p:sp>
      <p:sp>
        <p:nvSpPr>
          <p:cNvPr name="TextBox 59" id="59"/>
          <p:cNvSpPr txBox="true"/>
          <p:nvPr/>
        </p:nvSpPr>
        <p:spPr>
          <a:xfrm rot="0">
            <a:off x="5924788" y="4764824"/>
            <a:ext cx="733273"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November 2014 </a:t>
            </a:r>
          </a:p>
        </p:txBody>
      </p:sp>
      <p:sp>
        <p:nvSpPr>
          <p:cNvPr name="TextBox 60" id="60"/>
          <p:cNvSpPr txBox="true"/>
          <p:nvPr/>
        </p:nvSpPr>
        <p:spPr>
          <a:xfrm rot="0">
            <a:off x="5924788" y="5829062"/>
            <a:ext cx="733273"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November 2014 </a:t>
            </a:r>
          </a:p>
        </p:txBody>
      </p:sp>
      <p:sp>
        <p:nvSpPr>
          <p:cNvPr name="TextBox 61" id="61"/>
          <p:cNvSpPr txBox="true"/>
          <p:nvPr/>
        </p:nvSpPr>
        <p:spPr>
          <a:xfrm rot="0">
            <a:off x="5924788" y="8751284"/>
            <a:ext cx="858526"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August 2015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500" y="283588"/>
            <a:ext cx="7175497" cy="10109197"/>
          </a:xfrm>
          <a:custGeom>
            <a:avLst/>
            <a:gdLst/>
            <a:ahLst/>
            <a:cxnLst/>
            <a:rect r="r" b="b" t="t" l="l"/>
            <a:pathLst>
              <a:path h="10109197" w="7175497">
                <a:moveTo>
                  <a:pt x="0" y="0"/>
                </a:moveTo>
                <a:lnTo>
                  <a:pt x="7175497" y="0"/>
                </a:lnTo>
                <a:lnTo>
                  <a:pt x="7175497" y="10109197"/>
                </a:lnTo>
                <a:lnTo>
                  <a:pt x="0" y="101091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75863" y="719195"/>
            <a:ext cx="626640" cy="689991"/>
          </a:xfrm>
          <a:custGeom>
            <a:avLst/>
            <a:gdLst/>
            <a:ahLst/>
            <a:cxnLst/>
            <a:rect r="r" b="b" t="t" l="l"/>
            <a:pathLst>
              <a:path h="689991" w="626640">
                <a:moveTo>
                  <a:pt x="0" y="0"/>
                </a:moveTo>
                <a:lnTo>
                  <a:pt x="626640" y="0"/>
                </a:lnTo>
                <a:lnTo>
                  <a:pt x="626640" y="689991"/>
                </a:lnTo>
                <a:lnTo>
                  <a:pt x="0" y="689991"/>
                </a:lnTo>
                <a:lnTo>
                  <a:pt x="0" y="0"/>
                </a:lnTo>
                <a:close/>
              </a:path>
            </a:pathLst>
          </a:custGeom>
          <a:blipFill>
            <a:blip r:embed="rId4"/>
            <a:stretch>
              <a:fillRect l="0" t="0" r="-101042" b="0"/>
            </a:stretch>
          </a:blipFill>
        </p:spPr>
      </p:sp>
      <p:sp>
        <p:nvSpPr>
          <p:cNvPr name="Freeform 4" id="4"/>
          <p:cNvSpPr/>
          <p:nvPr/>
        </p:nvSpPr>
        <p:spPr>
          <a:xfrm flipH="false" flipV="false" rot="0">
            <a:off x="7076313" y="6826834"/>
            <a:ext cx="226190" cy="2905906"/>
          </a:xfrm>
          <a:custGeom>
            <a:avLst/>
            <a:gdLst/>
            <a:ahLst/>
            <a:cxnLst/>
            <a:rect r="r" b="b" t="t" l="l"/>
            <a:pathLst>
              <a:path h="2905906" w="226190">
                <a:moveTo>
                  <a:pt x="0" y="0"/>
                </a:moveTo>
                <a:lnTo>
                  <a:pt x="226190" y="0"/>
                </a:lnTo>
                <a:lnTo>
                  <a:pt x="226190" y="2905906"/>
                </a:lnTo>
                <a:lnTo>
                  <a:pt x="0" y="29059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54003" y="9277274"/>
            <a:ext cx="705174" cy="689991"/>
          </a:xfrm>
          <a:custGeom>
            <a:avLst/>
            <a:gdLst/>
            <a:ahLst/>
            <a:cxnLst/>
            <a:rect r="r" b="b" t="t" l="l"/>
            <a:pathLst>
              <a:path h="689991" w="705174">
                <a:moveTo>
                  <a:pt x="0" y="0"/>
                </a:moveTo>
                <a:lnTo>
                  <a:pt x="705174" y="0"/>
                </a:lnTo>
                <a:lnTo>
                  <a:pt x="705174" y="689991"/>
                </a:lnTo>
                <a:lnTo>
                  <a:pt x="0" y="689991"/>
                </a:lnTo>
                <a:lnTo>
                  <a:pt x="0" y="0"/>
                </a:lnTo>
                <a:close/>
              </a:path>
            </a:pathLst>
          </a:custGeom>
          <a:blipFill>
            <a:blip r:embed="rId4"/>
            <a:stretch>
              <a:fillRect l="-78651" t="0" r="-1" b="0"/>
            </a:stretch>
          </a:blipFill>
        </p:spPr>
      </p:sp>
      <p:sp>
        <p:nvSpPr>
          <p:cNvPr name="Freeform 6" id="6"/>
          <p:cNvSpPr/>
          <p:nvPr/>
        </p:nvSpPr>
        <p:spPr>
          <a:xfrm flipH="false" flipV="false" rot="0">
            <a:off x="5656583" y="6941896"/>
            <a:ext cx="144247" cy="216932"/>
          </a:xfrm>
          <a:custGeom>
            <a:avLst/>
            <a:gdLst/>
            <a:ahLst/>
            <a:cxnLst/>
            <a:rect r="r" b="b" t="t" l="l"/>
            <a:pathLst>
              <a:path h="216932" w="144247">
                <a:moveTo>
                  <a:pt x="0" y="0"/>
                </a:moveTo>
                <a:lnTo>
                  <a:pt x="144247" y="0"/>
                </a:lnTo>
                <a:lnTo>
                  <a:pt x="144247" y="216932"/>
                </a:lnTo>
                <a:lnTo>
                  <a:pt x="0" y="216932"/>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1084107" y="2996879"/>
            <a:ext cx="5886631" cy="6287605"/>
            <a:chOff x="0" y="0"/>
            <a:chExt cx="5886628" cy="6287605"/>
          </a:xfrm>
        </p:grpSpPr>
        <p:sp>
          <p:nvSpPr>
            <p:cNvPr name="Freeform 8" id="8"/>
            <p:cNvSpPr/>
            <p:nvPr/>
          </p:nvSpPr>
          <p:spPr>
            <a:xfrm flipH="false" flipV="false" rot="0">
              <a:off x="692277" y="63627"/>
              <a:ext cx="3175" cy="6160389"/>
            </a:xfrm>
            <a:custGeom>
              <a:avLst/>
              <a:gdLst/>
              <a:ahLst/>
              <a:cxnLst/>
              <a:rect r="r" b="b" t="t" l="l"/>
              <a:pathLst>
                <a:path h="6160389" w="3175">
                  <a:moveTo>
                    <a:pt x="3175" y="0"/>
                  </a:moveTo>
                  <a:lnTo>
                    <a:pt x="3175" y="6160389"/>
                  </a:lnTo>
                  <a:lnTo>
                    <a:pt x="0" y="6160389"/>
                  </a:lnTo>
                  <a:lnTo>
                    <a:pt x="0" y="0"/>
                  </a:lnTo>
                  <a:close/>
                </a:path>
              </a:pathLst>
            </a:custGeom>
            <a:solidFill>
              <a:srgbClr val="000000"/>
            </a:solidFill>
          </p:spPr>
        </p:sp>
        <p:sp>
          <p:nvSpPr>
            <p:cNvPr name="Freeform 9" id="9"/>
            <p:cNvSpPr/>
            <p:nvPr/>
          </p:nvSpPr>
          <p:spPr>
            <a:xfrm flipH="false" flipV="false" rot="0">
              <a:off x="2761615" y="63627"/>
              <a:ext cx="3175" cy="6160389"/>
            </a:xfrm>
            <a:custGeom>
              <a:avLst/>
              <a:gdLst/>
              <a:ahLst/>
              <a:cxnLst/>
              <a:rect r="r" b="b" t="t" l="l"/>
              <a:pathLst>
                <a:path h="6160389" w="3175">
                  <a:moveTo>
                    <a:pt x="3175" y="0"/>
                  </a:moveTo>
                  <a:lnTo>
                    <a:pt x="3175" y="6160389"/>
                  </a:lnTo>
                  <a:lnTo>
                    <a:pt x="0" y="6160389"/>
                  </a:lnTo>
                  <a:lnTo>
                    <a:pt x="0" y="0"/>
                  </a:lnTo>
                  <a:close/>
                </a:path>
              </a:pathLst>
            </a:custGeom>
            <a:solidFill>
              <a:srgbClr val="000000"/>
            </a:solidFill>
          </p:spPr>
        </p:sp>
        <p:sp>
          <p:nvSpPr>
            <p:cNvPr name="Freeform 10" id="10"/>
            <p:cNvSpPr/>
            <p:nvPr/>
          </p:nvSpPr>
          <p:spPr>
            <a:xfrm flipH="false" flipV="false" rot="0">
              <a:off x="3841242" y="63627"/>
              <a:ext cx="3175" cy="5757545"/>
            </a:xfrm>
            <a:custGeom>
              <a:avLst/>
              <a:gdLst/>
              <a:ahLst/>
              <a:cxnLst/>
              <a:rect r="r" b="b" t="t" l="l"/>
              <a:pathLst>
                <a:path h="5757545" w="3175">
                  <a:moveTo>
                    <a:pt x="3175" y="0"/>
                  </a:moveTo>
                  <a:lnTo>
                    <a:pt x="3175" y="5757545"/>
                  </a:lnTo>
                  <a:lnTo>
                    <a:pt x="0" y="5757545"/>
                  </a:lnTo>
                  <a:lnTo>
                    <a:pt x="0" y="0"/>
                  </a:lnTo>
                  <a:close/>
                </a:path>
              </a:pathLst>
            </a:custGeom>
            <a:solidFill>
              <a:srgbClr val="000000"/>
            </a:solidFill>
          </p:spPr>
        </p:sp>
        <p:sp>
          <p:nvSpPr>
            <p:cNvPr name="Freeform 11" id="11"/>
            <p:cNvSpPr/>
            <p:nvPr/>
          </p:nvSpPr>
          <p:spPr>
            <a:xfrm flipH="false" flipV="false" rot="0">
              <a:off x="4753737" y="63627"/>
              <a:ext cx="3175" cy="5757545"/>
            </a:xfrm>
            <a:custGeom>
              <a:avLst/>
              <a:gdLst/>
              <a:ahLst/>
              <a:cxnLst/>
              <a:rect r="r" b="b" t="t" l="l"/>
              <a:pathLst>
                <a:path h="5757545" w="3175">
                  <a:moveTo>
                    <a:pt x="3175" y="0"/>
                  </a:moveTo>
                  <a:lnTo>
                    <a:pt x="3175" y="5757545"/>
                  </a:lnTo>
                  <a:lnTo>
                    <a:pt x="0" y="5757545"/>
                  </a:lnTo>
                  <a:lnTo>
                    <a:pt x="0" y="0"/>
                  </a:lnTo>
                  <a:close/>
                </a:path>
              </a:pathLst>
            </a:custGeom>
            <a:solidFill>
              <a:srgbClr val="000000"/>
            </a:solidFill>
          </p:spPr>
        </p:sp>
        <p:sp>
          <p:nvSpPr>
            <p:cNvPr name="Freeform 12" id="12"/>
            <p:cNvSpPr/>
            <p:nvPr/>
          </p:nvSpPr>
          <p:spPr>
            <a:xfrm flipH="false" flipV="false" rot="0">
              <a:off x="63627" y="504571"/>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3" id="13"/>
            <p:cNvSpPr/>
            <p:nvPr/>
          </p:nvSpPr>
          <p:spPr>
            <a:xfrm flipH="false" flipV="false" rot="0">
              <a:off x="63627" y="1301242"/>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4" id="14"/>
            <p:cNvSpPr/>
            <p:nvPr/>
          </p:nvSpPr>
          <p:spPr>
            <a:xfrm flipH="false" flipV="false" rot="0">
              <a:off x="63627" y="1919986"/>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5" id="15"/>
            <p:cNvSpPr/>
            <p:nvPr/>
          </p:nvSpPr>
          <p:spPr>
            <a:xfrm flipH="false" flipV="false" rot="0">
              <a:off x="63627" y="2894584"/>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6" id="16"/>
            <p:cNvSpPr/>
            <p:nvPr/>
          </p:nvSpPr>
          <p:spPr>
            <a:xfrm flipH="false" flipV="false" rot="0">
              <a:off x="63627" y="4046855"/>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7" id="17"/>
            <p:cNvSpPr/>
            <p:nvPr/>
          </p:nvSpPr>
          <p:spPr>
            <a:xfrm flipH="false" flipV="false" rot="0">
              <a:off x="63627" y="5021453"/>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8" id="18"/>
            <p:cNvSpPr/>
            <p:nvPr/>
          </p:nvSpPr>
          <p:spPr>
            <a:xfrm flipH="false" flipV="false" rot="0">
              <a:off x="63627" y="5818124"/>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19" id="19"/>
            <p:cNvSpPr/>
            <p:nvPr/>
          </p:nvSpPr>
          <p:spPr>
            <a:xfrm flipH="false" flipV="false" rot="0">
              <a:off x="63500" y="63627"/>
              <a:ext cx="3175" cy="6160389"/>
            </a:xfrm>
            <a:custGeom>
              <a:avLst/>
              <a:gdLst/>
              <a:ahLst/>
              <a:cxnLst/>
              <a:rect r="r" b="b" t="t" l="l"/>
              <a:pathLst>
                <a:path h="6160389" w="3175">
                  <a:moveTo>
                    <a:pt x="3175" y="0"/>
                  </a:moveTo>
                  <a:lnTo>
                    <a:pt x="3175" y="6160389"/>
                  </a:lnTo>
                  <a:lnTo>
                    <a:pt x="0" y="6160389"/>
                  </a:lnTo>
                  <a:lnTo>
                    <a:pt x="0" y="0"/>
                  </a:lnTo>
                  <a:close/>
                </a:path>
              </a:pathLst>
            </a:custGeom>
            <a:solidFill>
              <a:srgbClr val="000000"/>
            </a:solidFill>
          </p:spPr>
        </p:sp>
        <p:sp>
          <p:nvSpPr>
            <p:cNvPr name="Freeform 20" id="20"/>
            <p:cNvSpPr/>
            <p:nvPr/>
          </p:nvSpPr>
          <p:spPr>
            <a:xfrm flipH="false" flipV="false" rot="0">
              <a:off x="5819902" y="63627"/>
              <a:ext cx="3175" cy="6160389"/>
            </a:xfrm>
            <a:custGeom>
              <a:avLst/>
              <a:gdLst/>
              <a:ahLst/>
              <a:cxnLst/>
              <a:rect r="r" b="b" t="t" l="l"/>
              <a:pathLst>
                <a:path h="6160389" w="3175">
                  <a:moveTo>
                    <a:pt x="3175" y="0"/>
                  </a:moveTo>
                  <a:lnTo>
                    <a:pt x="3175" y="6160389"/>
                  </a:lnTo>
                  <a:lnTo>
                    <a:pt x="0" y="6160389"/>
                  </a:lnTo>
                  <a:lnTo>
                    <a:pt x="0" y="0"/>
                  </a:lnTo>
                  <a:close/>
                </a:path>
              </a:pathLst>
            </a:custGeom>
            <a:solidFill>
              <a:srgbClr val="000000"/>
            </a:solidFill>
          </p:spPr>
        </p:sp>
        <p:sp>
          <p:nvSpPr>
            <p:cNvPr name="Freeform 21" id="21"/>
            <p:cNvSpPr/>
            <p:nvPr/>
          </p:nvSpPr>
          <p:spPr>
            <a:xfrm flipH="false" flipV="false" rot="0">
              <a:off x="63627" y="63500"/>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sp>
          <p:nvSpPr>
            <p:cNvPr name="Freeform 22" id="22"/>
            <p:cNvSpPr/>
            <p:nvPr/>
          </p:nvSpPr>
          <p:spPr>
            <a:xfrm flipH="false" flipV="false" rot="0">
              <a:off x="63627" y="6220968"/>
              <a:ext cx="5759450" cy="3175"/>
            </a:xfrm>
            <a:custGeom>
              <a:avLst/>
              <a:gdLst/>
              <a:ahLst/>
              <a:cxnLst/>
              <a:rect r="r" b="b" t="t" l="l"/>
              <a:pathLst>
                <a:path h="3175" w="5759450">
                  <a:moveTo>
                    <a:pt x="0" y="0"/>
                  </a:moveTo>
                  <a:lnTo>
                    <a:pt x="5759450" y="0"/>
                  </a:lnTo>
                  <a:lnTo>
                    <a:pt x="5759450" y="3175"/>
                  </a:lnTo>
                  <a:lnTo>
                    <a:pt x="0" y="3175"/>
                  </a:lnTo>
                  <a:close/>
                </a:path>
              </a:pathLst>
            </a:custGeom>
            <a:solidFill>
              <a:srgbClr val="000000"/>
            </a:solidFill>
          </p:spPr>
        </p:sp>
      </p:grpSp>
      <p:sp>
        <p:nvSpPr>
          <p:cNvPr name="TextBox 23" id="23"/>
          <p:cNvSpPr txBox="true"/>
          <p:nvPr/>
        </p:nvSpPr>
        <p:spPr>
          <a:xfrm rot="0">
            <a:off x="1149201" y="1748952"/>
            <a:ext cx="1837877"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LIST OF</a:t>
            </a:r>
          </a:p>
        </p:txBody>
      </p:sp>
      <p:sp>
        <p:nvSpPr>
          <p:cNvPr name="TextBox 24" id="24"/>
          <p:cNvSpPr txBox="true"/>
          <p:nvPr/>
        </p:nvSpPr>
        <p:spPr>
          <a:xfrm rot="0">
            <a:off x="1149201" y="2261578"/>
            <a:ext cx="5607748" cy="535791"/>
          </a:xfrm>
          <a:prstGeom prst="rect">
            <a:avLst/>
          </a:prstGeom>
        </p:spPr>
        <p:txBody>
          <a:bodyPr anchor="t" rtlCol="false" tIns="0" lIns="0" bIns="0" rIns="0">
            <a:spAutoFit/>
          </a:bodyPr>
          <a:lstStyle/>
          <a:p>
            <a:pPr algn="l">
              <a:lnSpc>
                <a:spcPts val="4038"/>
              </a:lnSpc>
            </a:pPr>
            <a:r>
              <a:rPr lang="en-US" sz="3536" spc="14">
                <a:solidFill>
                  <a:srgbClr val="070707"/>
                </a:solidFill>
                <a:latin typeface="Montserrat"/>
                <a:ea typeface="Montserrat"/>
                <a:cs typeface="Montserrat"/>
                <a:sym typeface="Montserrat"/>
              </a:rPr>
              <a:t>COMPLETED PROJECTS</a:t>
            </a:r>
          </a:p>
        </p:txBody>
      </p:sp>
      <p:sp>
        <p:nvSpPr>
          <p:cNvPr name="TextBox 25" id="25"/>
          <p:cNvSpPr txBox="true"/>
          <p:nvPr/>
        </p:nvSpPr>
        <p:spPr>
          <a:xfrm rot="0">
            <a:off x="5696807" y="1452382"/>
            <a:ext cx="919258" cy="964187"/>
          </a:xfrm>
          <a:prstGeom prst="rect">
            <a:avLst/>
          </a:prstGeom>
        </p:spPr>
        <p:txBody>
          <a:bodyPr anchor="t" rtlCol="false" tIns="0" lIns="0" bIns="0" rIns="0">
            <a:spAutoFit/>
          </a:bodyPr>
          <a:lstStyle/>
          <a:p>
            <a:pPr algn="l">
              <a:lnSpc>
                <a:spcPts val="7519"/>
              </a:lnSpc>
            </a:pPr>
            <a:r>
              <a:rPr lang="en-US" b="true" sz="5370" spc="21">
                <a:solidFill>
                  <a:srgbClr val="26398E"/>
                </a:solidFill>
                <a:latin typeface="Montserrat Bold"/>
                <a:ea typeface="Montserrat Bold"/>
                <a:cs typeface="Montserrat Bold"/>
                <a:sym typeface="Montserrat Bold"/>
              </a:rPr>
              <a:t>07</a:t>
            </a:r>
          </a:p>
        </p:txBody>
      </p:sp>
      <p:sp>
        <p:nvSpPr>
          <p:cNvPr name="TextBox 26" id="26"/>
          <p:cNvSpPr txBox="true"/>
          <p:nvPr/>
        </p:nvSpPr>
        <p:spPr>
          <a:xfrm rot="0">
            <a:off x="1637319" y="6841988"/>
            <a:ext cx="2283533" cy="2342121"/>
          </a:xfrm>
          <a:prstGeom prst="rect">
            <a:avLst/>
          </a:prstGeom>
        </p:spPr>
        <p:txBody>
          <a:bodyPr anchor="t" rtlCol="false" tIns="0" lIns="0" bIns="0" rIns="0">
            <a:spAutoFit/>
          </a:bodyPr>
          <a:lstStyle/>
          <a:p>
            <a:pPr algn="l">
              <a:lnSpc>
                <a:spcPts val="1821"/>
              </a:lnSpc>
            </a:pPr>
            <a:r>
              <a:rPr lang="en-US" sz="1301" spc="80">
                <a:solidFill>
                  <a:srgbClr val="FFFFFF"/>
                </a:solidFill>
                <a:latin typeface="Montserrat"/>
                <a:ea typeface="Montserrat"/>
                <a:cs typeface="Montserrat"/>
                <a:sym typeface="Montserrat"/>
              </a:rPr>
              <a:t>SULZAILY BIN A. HAMID</a:t>
            </a:r>
          </a:p>
          <a:p>
            <a:pPr algn="l">
              <a:lnSpc>
                <a:spcPts val="1400"/>
              </a:lnSpc>
            </a:pPr>
            <a:r>
              <a:rPr lang="en-US" sz="1134" spc="-7">
                <a:solidFill>
                  <a:srgbClr val="000000"/>
                </a:solidFill>
                <a:latin typeface="Montserrat"/>
                <a:ea typeface="Montserrat"/>
                <a:cs typeface="Montserrat"/>
                <a:sym typeface="Montserrat"/>
              </a:rPr>
              <a:t>Solar Roof Top &amp; Battery Storage System for 3 Hospital in Papua New Guinea, Engineering Design Services. </a:t>
            </a:r>
          </a:p>
          <a:p>
            <a:pPr algn="l">
              <a:lnSpc>
                <a:spcPts val="2748"/>
              </a:lnSpc>
            </a:pPr>
            <a:r>
              <a:rPr lang="en-US" sz="1134" spc="-7">
                <a:solidFill>
                  <a:srgbClr val="000000"/>
                </a:solidFill>
                <a:latin typeface="Montserrat"/>
                <a:ea typeface="Montserrat"/>
                <a:cs typeface="Montserrat"/>
                <a:sym typeface="Montserrat"/>
              </a:rPr>
              <a:t>Rehab 11kV Transmission &amp; </a:t>
            </a:r>
          </a:p>
          <a:p>
            <a:pPr algn="l">
              <a:lnSpc>
                <a:spcPts val="567"/>
              </a:lnSpc>
            </a:pPr>
            <a:r>
              <a:rPr lang="en-US" sz="1134" spc="-7">
                <a:solidFill>
                  <a:srgbClr val="000000"/>
                </a:solidFill>
                <a:latin typeface="Montserrat"/>
                <a:ea typeface="Montserrat"/>
                <a:cs typeface="Montserrat"/>
                <a:sym typeface="Montserrat"/>
              </a:rPr>
              <a:t>Solar / Diesel Hybrid with </a:t>
            </a:r>
          </a:p>
          <a:p>
            <a:pPr algn="l">
              <a:lnSpc>
                <a:spcPts val="2235"/>
              </a:lnSpc>
            </a:pPr>
            <a:r>
              <a:rPr lang="en-US" sz="1134" spc="-7">
                <a:solidFill>
                  <a:srgbClr val="000000"/>
                </a:solidFill>
                <a:latin typeface="Montserrat"/>
                <a:ea typeface="Montserrat"/>
                <a:cs typeface="Montserrat"/>
                <a:sym typeface="Montserrat"/>
              </a:rPr>
              <a:t>Battery Storage for Daru </a:t>
            </a:r>
          </a:p>
          <a:p>
            <a:pPr algn="l">
              <a:lnSpc>
                <a:spcPts val="567"/>
              </a:lnSpc>
            </a:pPr>
            <a:r>
              <a:rPr lang="en-US" sz="1134" spc="-7">
                <a:solidFill>
                  <a:srgbClr val="000000"/>
                </a:solidFill>
                <a:latin typeface="Montserrat"/>
                <a:ea typeface="Montserrat"/>
                <a:cs typeface="Montserrat"/>
                <a:sym typeface="Montserrat"/>
              </a:rPr>
              <a:t>Island PNG </a:t>
            </a:r>
          </a:p>
          <a:p>
            <a:pPr algn="l">
              <a:lnSpc>
                <a:spcPts val="1267"/>
              </a:lnSpc>
            </a:pPr>
            <a:r>
              <a:rPr lang="en-US" b="true" sz="1034" spc="7">
                <a:solidFill>
                  <a:srgbClr val="000000"/>
                </a:solidFill>
                <a:latin typeface="Montserrat Bold"/>
                <a:ea typeface="Montserrat Bold"/>
                <a:cs typeface="Montserrat Bold"/>
                <a:sym typeface="Montserrat Bold"/>
              </a:rPr>
              <a:t>Total Project Jan 2016 to Current </a:t>
            </a:r>
          </a:p>
        </p:txBody>
      </p:sp>
      <p:sp>
        <p:nvSpPr>
          <p:cNvPr name="TextBox 27" id="27"/>
          <p:cNvSpPr txBox="true"/>
          <p:nvPr/>
        </p:nvSpPr>
        <p:spPr>
          <a:xfrm rot="0">
            <a:off x="1634033" y="3349714"/>
            <a:ext cx="2737475" cy="232715"/>
          </a:xfrm>
          <a:prstGeom prst="rect">
            <a:avLst/>
          </a:prstGeom>
        </p:spPr>
        <p:txBody>
          <a:bodyPr anchor="t" rtlCol="false" tIns="0" lIns="0" bIns="0" rIns="0">
            <a:spAutoFit/>
          </a:bodyPr>
          <a:lstStyle/>
          <a:p>
            <a:pPr algn="l">
              <a:lnSpc>
                <a:spcPts val="1821"/>
              </a:lnSpc>
            </a:pPr>
            <a:r>
              <a:rPr lang="en-US" sz="1301" spc="88">
                <a:solidFill>
                  <a:srgbClr val="FFFFFF"/>
                </a:solidFill>
                <a:latin typeface="Montserrat"/>
                <a:ea typeface="Montserrat"/>
                <a:cs typeface="Montserrat"/>
                <a:sym typeface="Montserrat"/>
              </a:rPr>
              <a:t>IR. ZAINUDIN MOHD SALLEH</a:t>
            </a:r>
          </a:p>
        </p:txBody>
      </p:sp>
      <p:sp>
        <p:nvSpPr>
          <p:cNvPr name="TextBox 28" id="28"/>
          <p:cNvSpPr txBox="true"/>
          <p:nvPr/>
        </p:nvSpPr>
        <p:spPr>
          <a:xfrm rot="0">
            <a:off x="1234488" y="3169034"/>
            <a:ext cx="258613"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NO </a:t>
            </a:r>
          </a:p>
        </p:txBody>
      </p:sp>
      <p:sp>
        <p:nvSpPr>
          <p:cNvPr name="TextBox 29" id="29"/>
          <p:cNvSpPr txBox="true"/>
          <p:nvPr/>
        </p:nvSpPr>
        <p:spPr>
          <a:xfrm rot="0">
            <a:off x="1863261" y="3169034"/>
            <a:ext cx="1112939"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PROJECT TITLE </a:t>
            </a:r>
          </a:p>
        </p:txBody>
      </p:sp>
      <p:sp>
        <p:nvSpPr>
          <p:cNvPr name="TextBox 30" id="30"/>
          <p:cNvSpPr txBox="true"/>
          <p:nvPr/>
        </p:nvSpPr>
        <p:spPr>
          <a:xfrm rot="0">
            <a:off x="3932596" y="3169034"/>
            <a:ext cx="789137" cy="192215"/>
          </a:xfrm>
          <a:prstGeom prst="rect">
            <a:avLst/>
          </a:prstGeom>
        </p:spPr>
        <p:txBody>
          <a:bodyPr anchor="t" rtlCol="false" tIns="0" lIns="0" bIns="0" rIns="0">
            <a:spAutoFit/>
          </a:bodyPr>
          <a:lstStyle/>
          <a:p>
            <a:pPr algn="l">
              <a:lnSpc>
                <a:spcPts val="1447"/>
              </a:lnSpc>
            </a:pPr>
            <a:r>
              <a:rPr lang="en-US" b="true" sz="1034" spc="4">
                <a:solidFill>
                  <a:srgbClr val="00007F"/>
                </a:solidFill>
                <a:latin typeface="Montserrat Bold"/>
                <a:ea typeface="Montserrat Bold"/>
                <a:cs typeface="Montserrat Bold"/>
                <a:sym typeface="Montserrat Bold"/>
              </a:rPr>
              <a:t>COST (RM) </a:t>
            </a:r>
          </a:p>
        </p:txBody>
      </p:sp>
      <p:sp>
        <p:nvSpPr>
          <p:cNvPr name="TextBox 31" id="31"/>
          <p:cNvSpPr txBox="true"/>
          <p:nvPr/>
        </p:nvSpPr>
        <p:spPr>
          <a:xfrm rot="0">
            <a:off x="5012255" y="3169034"/>
            <a:ext cx="745531" cy="1690668"/>
          </a:xfrm>
          <a:prstGeom prst="rect">
            <a:avLst/>
          </a:prstGeom>
        </p:spPr>
        <p:txBody>
          <a:bodyPr anchor="t" rtlCol="false" tIns="0" lIns="0" bIns="0" rIns="0">
            <a:spAutoFit/>
          </a:bodyPr>
          <a:lstStyle/>
          <a:p>
            <a:pPr algn="just">
              <a:lnSpc>
                <a:spcPts val="1447"/>
              </a:lnSpc>
            </a:pPr>
            <a:r>
              <a:rPr lang="en-US" b="true" sz="1034" spc="-7">
                <a:solidFill>
                  <a:srgbClr val="00007F"/>
                </a:solidFill>
                <a:latin typeface="Montserrat Bold"/>
                <a:ea typeface="Montserrat Bold"/>
                <a:cs typeface="Montserrat Bold"/>
                <a:sym typeface="Montserrat Bold"/>
              </a:rPr>
              <a:t>CLIENT </a:t>
            </a:r>
            <a:r>
              <a:rPr lang="en-US" sz="1034" spc="-7">
                <a:solidFill>
                  <a:srgbClr val="000000"/>
                </a:solidFill>
                <a:latin typeface="Montserrat"/>
                <a:ea typeface="Montserrat"/>
                <a:cs typeface="Montserrat"/>
                <a:sym typeface="Montserrat"/>
              </a:rPr>
              <a:t>Kimmark Manufactur ing Sdn Bhd </a:t>
            </a:r>
          </a:p>
          <a:p>
            <a:pPr algn="just">
              <a:lnSpc>
                <a:spcPts val="2585"/>
              </a:lnSpc>
            </a:pPr>
            <a:r>
              <a:rPr lang="en-US" sz="1034" spc="-7">
                <a:solidFill>
                  <a:srgbClr val="000000"/>
                </a:solidFill>
                <a:latin typeface="Montserrat"/>
                <a:ea typeface="Montserrat"/>
                <a:cs typeface="Montserrat"/>
                <a:sym typeface="Montserrat"/>
              </a:rPr>
              <a:t>Shah Alam </a:t>
            </a:r>
          </a:p>
          <a:p>
            <a:pPr algn="just">
              <a:lnSpc>
                <a:spcPts val="517"/>
              </a:lnSpc>
            </a:pPr>
            <a:r>
              <a:rPr lang="en-US" sz="1034" spc="-7">
                <a:solidFill>
                  <a:srgbClr val="000000"/>
                </a:solidFill>
                <a:latin typeface="Montserrat"/>
                <a:ea typeface="Montserrat"/>
                <a:cs typeface="Montserrat"/>
                <a:sym typeface="Montserrat"/>
              </a:rPr>
              <a:t>Auto Parts </a:t>
            </a:r>
          </a:p>
          <a:p>
            <a:pPr algn="just">
              <a:lnSpc>
                <a:spcPts val="2285"/>
              </a:lnSpc>
            </a:pPr>
            <a:r>
              <a:rPr lang="en-US" sz="1034" spc="-7">
                <a:solidFill>
                  <a:srgbClr val="000000"/>
                </a:solidFill>
                <a:latin typeface="Montserrat"/>
                <a:ea typeface="Montserrat"/>
                <a:cs typeface="Montserrat"/>
                <a:sym typeface="Montserrat"/>
              </a:rPr>
              <a:t>Sdn Bhd </a:t>
            </a:r>
          </a:p>
        </p:txBody>
      </p:sp>
      <p:sp>
        <p:nvSpPr>
          <p:cNvPr name="TextBox 32" id="32"/>
          <p:cNvSpPr txBox="true"/>
          <p:nvPr/>
        </p:nvSpPr>
        <p:spPr>
          <a:xfrm rot="0">
            <a:off x="4776968" y="8910066"/>
            <a:ext cx="1255919" cy="192215"/>
          </a:xfrm>
          <a:prstGeom prst="rect">
            <a:avLst/>
          </a:prstGeom>
        </p:spPr>
        <p:txBody>
          <a:bodyPr anchor="t" rtlCol="false" tIns="0" lIns="0" bIns="0" rIns="0">
            <a:spAutoFit/>
          </a:bodyPr>
          <a:lstStyle/>
          <a:p>
            <a:pPr algn="l">
              <a:lnSpc>
                <a:spcPts val="1447"/>
              </a:lnSpc>
            </a:pPr>
            <a:r>
              <a:rPr lang="en-US" b="true" sz="1034" spc="7">
                <a:solidFill>
                  <a:srgbClr val="000000"/>
                </a:solidFill>
                <a:latin typeface="Montserrat Bold"/>
                <a:ea typeface="Montserrat Bold"/>
                <a:cs typeface="Montserrat Bold"/>
                <a:sym typeface="Montserrat Bold"/>
              </a:rPr>
              <a:t>RM17,363,000.00 </a:t>
            </a:r>
          </a:p>
        </p:txBody>
      </p:sp>
      <p:sp>
        <p:nvSpPr>
          <p:cNvPr name="TextBox 33" id="33"/>
          <p:cNvSpPr txBox="true"/>
          <p:nvPr/>
        </p:nvSpPr>
        <p:spPr>
          <a:xfrm rot="0">
            <a:off x="5924788" y="3080052"/>
            <a:ext cx="864003" cy="370151"/>
          </a:xfrm>
          <a:prstGeom prst="rect">
            <a:avLst/>
          </a:prstGeom>
        </p:spPr>
        <p:txBody>
          <a:bodyPr anchor="t" rtlCol="false" tIns="0" lIns="0" bIns="0" rIns="0">
            <a:spAutoFit/>
          </a:bodyPr>
          <a:lstStyle/>
          <a:p>
            <a:pPr algn="l">
              <a:lnSpc>
                <a:spcPts val="1401"/>
              </a:lnSpc>
            </a:pPr>
            <a:r>
              <a:rPr lang="en-US" b="true" sz="1034" spc="4">
                <a:solidFill>
                  <a:srgbClr val="203864"/>
                </a:solidFill>
                <a:latin typeface="Montserrat Bold"/>
                <a:ea typeface="Montserrat Bold"/>
                <a:cs typeface="Montserrat Bold"/>
                <a:sym typeface="Montserrat Bold"/>
              </a:rPr>
              <a:t>DATE COMPLETED</a:t>
            </a:r>
          </a:p>
        </p:txBody>
      </p:sp>
      <p:sp>
        <p:nvSpPr>
          <p:cNvPr name="TextBox 34" id="34"/>
          <p:cNvSpPr txBox="true"/>
          <p:nvPr/>
        </p:nvSpPr>
        <p:spPr>
          <a:xfrm rot="0">
            <a:off x="1234488" y="6359404"/>
            <a:ext cx="16828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21 </a:t>
            </a:r>
          </a:p>
        </p:txBody>
      </p:sp>
      <p:sp>
        <p:nvSpPr>
          <p:cNvPr name="TextBox 35" id="35"/>
          <p:cNvSpPr txBox="true"/>
          <p:nvPr/>
        </p:nvSpPr>
        <p:spPr>
          <a:xfrm rot="0">
            <a:off x="1234488" y="3789559"/>
            <a:ext cx="171260"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18 </a:t>
            </a:r>
          </a:p>
        </p:txBody>
      </p:sp>
      <p:sp>
        <p:nvSpPr>
          <p:cNvPr name="TextBox 36" id="36"/>
          <p:cNvSpPr txBox="true"/>
          <p:nvPr/>
        </p:nvSpPr>
        <p:spPr>
          <a:xfrm rot="0">
            <a:off x="1234488" y="4497876"/>
            <a:ext cx="17420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19 </a:t>
            </a:r>
          </a:p>
        </p:txBody>
      </p:sp>
      <p:sp>
        <p:nvSpPr>
          <p:cNvPr name="TextBox 37" id="37"/>
          <p:cNvSpPr txBox="true"/>
          <p:nvPr/>
        </p:nvSpPr>
        <p:spPr>
          <a:xfrm rot="0">
            <a:off x="1234488" y="7423652"/>
            <a:ext cx="199873"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22 </a:t>
            </a:r>
          </a:p>
        </p:txBody>
      </p:sp>
      <p:sp>
        <p:nvSpPr>
          <p:cNvPr name="TextBox 38" id="38"/>
          <p:cNvSpPr txBox="true"/>
          <p:nvPr/>
        </p:nvSpPr>
        <p:spPr>
          <a:xfrm rot="0">
            <a:off x="1234488" y="8309924"/>
            <a:ext cx="201349"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23 </a:t>
            </a:r>
          </a:p>
        </p:txBody>
      </p:sp>
      <p:sp>
        <p:nvSpPr>
          <p:cNvPr name="TextBox 39" id="39"/>
          <p:cNvSpPr txBox="true"/>
          <p:nvPr/>
        </p:nvSpPr>
        <p:spPr>
          <a:xfrm rot="0">
            <a:off x="1234488" y="5295167"/>
            <a:ext cx="21499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20 </a:t>
            </a:r>
          </a:p>
        </p:txBody>
      </p:sp>
      <p:sp>
        <p:nvSpPr>
          <p:cNvPr name="TextBox 40" id="40"/>
          <p:cNvSpPr txBox="true"/>
          <p:nvPr/>
        </p:nvSpPr>
        <p:spPr>
          <a:xfrm rot="0">
            <a:off x="1863261" y="5914492"/>
            <a:ext cx="1887026" cy="1078582"/>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Solar Large Scale Solar 2. 23 MWp Solar plant in Teluk Kalong Engineering Design Services including interconnection to TNB 33 KV network </a:t>
            </a:r>
          </a:p>
        </p:txBody>
      </p:sp>
      <p:sp>
        <p:nvSpPr>
          <p:cNvPr name="TextBox 41" id="41"/>
          <p:cNvSpPr txBox="true"/>
          <p:nvPr/>
        </p:nvSpPr>
        <p:spPr>
          <a:xfrm rot="0">
            <a:off x="3932596" y="6359404"/>
            <a:ext cx="807034"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1,8000.000 </a:t>
            </a:r>
          </a:p>
        </p:txBody>
      </p:sp>
      <p:sp>
        <p:nvSpPr>
          <p:cNvPr name="TextBox 42" id="42"/>
          <p:cNvSpPr txBox="true"/>
          <p:nvPr/>
        </p:nvSpPr>
        <p:spPr>
          <a:xfrm rot="0">
            <a:off x="3932596" y="5206184"/>
            <a:ext cx="848820"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12,225,000.0 0 </a:t>
            </a:r>
          </a:p>
        </p:txBody>
      </p:sp>
      <p:sp>
        <p:nvSpPr>
          <p:cNvPr name="TextBox 43" id="43"/>
          <p:cNvSpPr txBox="true"/>
          <p:nvPr/>
        </p:nvSpPr>
        <p:spPr>
          <a:xfrm rot="0">
            <a:off x="3932596" y="4497876"/>
            <a:ext cx="935050"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1,800,000.00 </a:t>
            </a:r>
          </a:p>
        </p:txBody>
      </p:sp>
      <p:sp>
        <p:nvSpPr>
          <p:cNvPr name="TextBox 44" id="44"/>
          <p:cNvSpPr txBox="true"/>
          <p:nvPr/>
        </p:nvSpPr>
        <p:spPr>
          <a:xfrm rot="0">
            <a:off x="3932596" y="3789559"/>
            <a:ext cx="950557"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2,250,000.00 </a:t>
            </a:r>
          </a:p>
        </p:txBody>
      </p:sp>
      <p:sp>
        <p:nvSpPr>
          <p:cNvPr name="TextBox 45" id="45"/>
          <p:cNvSpPr txBox="true"/>
          <p:nvPr/>
        </p:nvSpPr>
        <p:spPr>
          <a:xfrm rot="0">
            <a:off x="5012255" y="6181439"/>
            <a:ext cx="650148"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MIE Industrial Sdn Bhd </a:t>
            </a:r>
          </a:p>
        </p:txBody>
      </p:sp>
      <p:sp>
        <p:nvSpPr>
          <p:cNvPr name="TextBox 46" id="46"/>
          <p:cNvSpPr txBox="true"/>
          <p:nvPr/>
        </p:nvSpPr>
        <p:spPr>
          <a:xfrm rot="0">
            <a:off x="5012255" y="7334669"/>
            <a:ext cx="749608"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UNOPS/ Minconsult </a:t>
            </a:r>
          </a:p>
        </p:txBody>
      </p:sp>
      <p:sp>
        <p:nvSpPr>
          <p:cNvPr name="TextBox 47" id="47"/>
          <p:cNvSpPr txBox="true"/>
          <p:nvPr/>
        </p:nvSpPr>
        <p:spPr>
          <a:xfrm rot="0">
            <a:off x="5012255" y="5117201"/>
            <a:ext cx="772497" cy="544773"/>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Cekal Tulin Developme nt Sdn Bhd </a:t>
            </a:r>
          </a:p>
        </p:txBody>
      </p:sp>
      <p:sp>
        <p:nvSpPr>
          <p:cNvPr name="TextBox 48" id="48"/>
          <p:cNvSpPr txBox="true"/>
          <p:nvPr/>
        </p:nvSpPr>
        <p:spPr>
          <a:xfrm rot="0">
            <a:off x="5012255" y="8220942"/>
            <a:ext cx="773697"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UNOPS/ Minconsule </a:t>
            </a:r>
          </a:p>
        </p:txBody>
      </p:sp>
      <p:sp>
        <p:nvSpPr>
          <p:cNvPr name="TextBox 49" id="49"/>
          <p:cNvSpPr txBox="true"/>
          <p:nvPr/>
        </p:nvSpPr>
        <p:spPr>
          <a:xfrm rot="0">
            <a:off x="5924788" y="8309924"/>
            <a:ext cx="611476"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Ongoing </a:t>
            </a:r>
          </a:p>
        </p:txBody>
      </p:sp>
      <p:sp>
        <p:nvSpPr>
          <p:cNvPr name="TextBox 50" id="50"/>
          <p:cNvSpPr txBox="true"/>
          <p:nvPr/>
        </p:nvSpPr>
        <p:spPr>
          <a:xfrm rot="0">
            <a:off x="5924788" y="7423652"/>
            <a:ext cx="650386"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Jun 2022 </a:t>
            </a:r>
          </a:p>
        </p:txBody>
      </p:sp>
      <p:sp>
        <p:nvSpPr>
          <p:cNvPr name="TextBox 51" id="51"/>
          <p:cNvSpPr txBox="true"/>
          <p:nvPr/>
        </p:nvSpPr>
        <p:spPr>
          <a:xfrm rot="0">
            <a:off x="5924788" y="4408884"/>
            <a:ext cx="722909"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December 2016 </a:t>
            </a:r>
          </a:p>
        </p:txBody>
      </p:sp>
      <p:sp>
        <p:nvSpPr>
          <p:cNvPr name="TextBox 52" id="52"/>
          <p:cNvSpPr txBox="true"/>
          <p:nvPr/>
        </p:nvSpPr>
        <p:spPr>
          <a:xfrm rot="0">
            <a:off x="5924788" y="5206184"/>
            <a:ext cx="722909"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December 2016 </a:t>
            </a:r>
          </a:p>
        </p:txBody>
      </p:sp>
      <p:sp>
        <p:nvSpPr>
          <p:cNvPr name="TextBox 53" id="53"/>
          <p:cNvSpPr txBox="true"/>
          <p:nvPr/>
        </p:nvSpPr>
        <p:spPr>
          <a:xfrm rot="0">
            <a:off x="5924788" y="6270422"/>
            <a:ext cx="722909" cy="366836"/>
          </a:xfrm>
          <a:prstGeom prst="rect">
            <a:avLst/>
          </a:prstGeom>
        </p:spPr>
        <p:txBody>
          <a:bodyPr anchor="t" rtlCol="false" tIns="0" lIns="0" bIns="0" rIns="0">
            <a:spAutoFit/>
          </a:bodyPr>
          <a:lstStyle/>
          <a:p>
            <a:pPr algn="l">
              <a:lnSpc>
                <a:spcPts val="1401"/>
              </a:lnSpc>
            </a:pPr>
            <a:r>
              <a:rPr lang="en-US" sz="1034" spc="-7">
                <a:solidFill>
                  <a:srgbClr val="000000"/>
                </a:solidFill>
                <a:latin typeface="Montserrat"/>
                <a:ea typeface="Montserrat"/>
                <a:cs typeface="Montserrat"/>
                <a:sym typeface="Montserrat"/>
              </a:rPr>
              <a:t>December 2017 </a:t>
            </a:r>
          </a:p>
        </p:txBody>
      </p:sp>
      <p:sp>
        <p:nvSpPr>
          <p:cNvPr name="TextBox 54" id="54"/>
          <p:cNvSpPr txBox="true"/>
          <p:nvPr/>
        </p:nvSpPr>
        <p:spPr>
          <a:xfrm rot="0">
            <a:off x="5924788" y="3789559"/>
            <a:ext cx="936688" cy="188900"/>
          </a:xfrm>
          <a:prstGeom prst="rect">
            <a:avLst/>
          </a:prstGeom>
        </p:spPr>
        <p:txBody>
          <a:bodyPr anchor="t" rtlCol="false" tIns="0" lIns="0" bIns="0" rIns="0">
            <a:spAutoFit/>
          </a:bodyPr>
          <a:lstStyle/>
          <a:p>
            <a:pPr algn="l">
              <a:lnSpc>
                <a:spcPts val="1447"/>
              </a:lnSpc>
            </a:pPr>
            <a:r>
              <a:rPr lang="en-US" sz="1034" spc="-7">
                <a:solidFill>
                  <a:srgbClr val="000000"/>
                </a:solidFill>
                <a:latin typeface="Montserrat"/>
                <a:ea typeface="Montserrat"/>
                <a:cs typeface="Montserrat"/>
                <a:sym typeface="Montserrat"/>
              </a:rPr>
              <a:t>October 2016 </a:t>
            </a:r>
          </a:p>
        </p:txBody>
      </p:sp>
      <p:sp>
        <p:nvSpPr>
          <p:cNvPr name="TextBox 55" id="55"/>
          <p:cNvSpPr txBox="true"/>
          <p:nvPr/>
        </p:nvSpPr>
        <p:spPr>
          <a:xfrm rot="0">
            <a:off x="1863261" y="3608299"/>
            <a:ext cx="1922355" cy="2234279"/>
          </a:xfrm>
          <a:prstGeom prst="rect">
            <a:avLst/>
          </a:prstGeom>
        </p:spPr>
        <p:txBody>
          <a:bodyPr anchor="t" rtlCol="false" tIns="0" lIns="0" bIns="0" rIns="0">
            <a:spAutoFit/>
          </a:bodyPr>
          <a:lstStyle/>
          <a:p>
            <a:pPr algn="l">
              <a:lnSpc>
                <a:spcPts val="1400"/>
              </a:lnSpc>
            </a:pPr>
            <a:r>
              <a:rPr lang="en-US" sz="1134" spc="-7">
                <a:solidFill>
                  <a:srgbClr val="000000"/>
                </a:solidFill>
                <a:latin typeface="Montserrat"/>
                <a:ea typeface="Montserrat"/>
                <a:cs typeface="Montserrat"/>
                <a:sym typeface="Montserrat"/>
              </a:rPr>
              <a:t>Solar RE-Fit 424 kWp Roof Top Installation, Balakong. KL </a:t>
            </a:r>
          </a:p>
          <a:p>
            <a:pPr algn="l">
              <a:lnSpc>
                <a:spcPts val="2835"/>
              </a:lnSpc>
            </a:pPr>
            <a:r>
              <a:rPr lang="en-US" sz="1134" spc="-7">
                <a:solidFill>
                  <a:srgbClr val="000000"/>
                </a:solidFill>
                <a:latin typeface="Montserrat"/>
                <a:ea typeface="Montserrat"/>
                <a:cs typeface="Montserrat"/>
                <a:sym typeface="Montserrat"/>
              </a:rPr>
              <a:t>Solar RE-Fit</a:t>
            </a:r>
          </a:p>
          <a:p>
            <a:pPr algn="l">
              <a:lnSpc>
                <a:spcPts val="567"/>
              </a:lnSpc>
            </a:pPr>
            <a:r>
              <a:rPr lang="en-US" sz="1134" spc="-7">
                <a:solidFill>
                  <a:srgbClr val="000000"/>
                </a:solidFill>
                <a:latin typeface="Montserrat"/>
                <a:ea typeface="Montserrat"/>
                <a:cs typeface="Montserrat"/>
                <a:sym typeface="Montserrat"/>
              </a:rPr>
              <a:t>180 kWp BIPV Installation, </a:t>
            </a:r>
          </a:p>
          <a:p>
            <a:pPr algn="l">
              <a:lnSpc>
                <a:spcPts val="2235"/>
              </a:lnSpc>
            </a:pPr>
            <a:r>
              <a:rPr lang="en-US" sz="1134" spc="-7">
                <a:solidFill>
                  <a:srgbClr val="000000"/>
                </a:solidFill>
                <a:latin typeface="Montserrat"/>
                <a:ea typeface="Montserrat"/>
                <a:cs typeface="Montserrat"/>
                <a:sym typeface="Montserrat"/>
              </a:rPr>
              <a:t>Melaka </a:t>
            </a:r>
          </a:p>
          <a:p>
            <a:pPr algn="l">
              <a:lnSpc>
                <a:spcPts val="1913"/>
              </a:lnSpc>
            </a:pPr>
            <a:r>
              <a:rPr lang="en-US" sz="1134" spc="-7">
                <a:solidFill>
                  <a:srgbClr val="000000"/>
                </a:solidFill>
                <a:latin typeface="Montserrat"/>
                <a:ea typeface="Montserrat"/>
                <a:cs typeface="Montserrat"/>
                <a:sym typeface="Montserrat"/>
              </a:rPr>
              <a:t>33kV &amp; 11kV Cable </a:t>
            </a:r>
          </a:p>
          <a:p>
            <a:pPr algn="l">
              <a:lnSpc>
                <a:spcPts val="888"/>
              </a:lnSpc>
            </a:pPr>
            <a:r>
              <a:rPr lang="en-US" sz="1134" spc="-7">
                <a:solidFill>
                  <a:srgbClr val="000000"/>
                </a:solidFill>
                <a:latin typeface="Montserrat"/>
                <a:ea typeface="Montserrat"/>
                <a:cs typeface="Montserrat"/>
                <a:sym typeface="Montserrat"/>
              </a:rPr>
              <a:t>Relocation for Road </a:t>
            </a:r>
          </a:p>
          <a:p>
            <a:pPr algn="l">
              <a:lnSpc>
                <a:spcPts val="1913"/>
              </a:lnSpc>
            </a:pPr>
            <a:r>
              <a:rPr lang="en-US" sz="1134" spc="-7">
                <a:solidFill>
                  <a:srgbClr val="000000"/>
                </a:solidFill>
                <a:latin typeface="Montserrat"/>
                <a:ea typeface="Montserrat"/>
                <a:cs typeface="Montserrat"/>
                <a:sym typeface="Montserrat"/>
              </a:rPr>
              <a:t>upgrade from Meru to </a:t>
            </a:r>
          </a:p>
          <a:p>
            <a:pPr algn="l">
              <a:lnSpc>
                <a:spcPts val="888"/>
              </a:lnSpc>
            </a:pPr>
            <a:r>
              <a:rPr lang="en-US" sz="1134" spc="-7">
                <a:solidFill>
                  <a:srgbClr val="000000"/>
                </a:solidFill>
                <a:latin typeface="Montserrat"/>
                <a:ea typeface="Montserrat"/>
                <a:cs typeface="Montserrat"/>
                <a:sym typeface="Montserrat"/>
              </a:rPr>
              <a:t>Puncak Alam, Klang, </a:t>
            </a:r>
          </a:p>
          <a:p>
            <a:pPr algn="l">
              <a:lnSpc>
                <a:spcPts val="1913"/>
              </a:lnSpc>
            </a:pPr>
            <a:r>
              <a:rPr lang="en-US" sz="1134" spc="-7">
                <a:solidFill>
                  <a:srgbClr val="000000"/>
                </a:solidFill>
                <a:latin typeface="Montserrat"/>
                <a:ea typeface="Montserrat"/>
                <a:cs typeface="Montserrat"/>
                <a:sym typeface="Montserrat"/>
              </a:rPr>
              <a:t>Selangor.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54003" y="347091"/>
            <a:ext cx="7048500" cy="9982200"/>
            <a:chOff x="0" y="0"/>
            <a:chExt cx="7048500" cy="9982200"/>
          </a:xfrm>
        </p:grpSpPr>
        <p:sp>
          <p:nvSpPr>
            <p:cNvPr name="Freeform 3" id="3"/>
            <p:cNvSpPr/>
            <p:nvPr/>
          </p:nvSpPr>
          <p:spPr>
            <a:xfrm flipH="false" flipV="false" rot="0">
              <a:off x="0" y="0"/>
              <a:ext cx="7048500" cy="9982200"/>
            </a:xfrm>
            <a:custGeom>
              <a:avLst/>
              <a:gdLst/>
              <a:ahLst/>
              <a:cxnLst/>
              <a:rect r="r" b="b" t="t" l="l"/>
              <a:pathLst>
                <a:path h="9982200" w="7048500">
                  <a:moveTo>
                    <a:pt x="0" y="0"/>
                  </a:moveTo>
                  <a:lnTo>
                    <a:pt x="0" y="9982200"/>
                  </a:lnTo>
                  <a:lnTo>
                    <a:pt x="7048500" y="9982200"/>
                  </a:lnTo>
                  <a:lnTo>
                    <a:pt x="7048500" y="0"/>
                  </a:lnTo>
                  <a:close/>
                </a:path>
              </a:pathLst>
            </a:custGeom>
            <a:solidFill>
              <a:srgbClr val="FFFFFF"/>
            </a:solidFill>
          </p:spPr>
        </p:sp>
      </p:grpSp>
      <p:sp>
        <p:nvSpPr>
          <p:cNvPr name="Freeform 4" id="4"/>
          <p:cNvSpPr/>
          <p:nvPr/>
        </p:nvSpPr>
        <p:spPr>
          <a:xfrm flipH="false" flipV="false" rot="0">
            <a:off x="254003" y="347091"/>
            <a:ext cx="7048500" cy="9982200"/>
          </a:xfrm>
          <a:custGeom>
            <a:avLst/>
            <a:gdLst/>
            <a:ahLst/>
            <a:cxnLst/>
            <a:rect r="r" b="b" t="t" l="l"/>
            <a:pathLst>
              <a:path h="9982200" w="7048500">
                <a:moveTo>
                  <a:pt x="0" y="0"/>
                </a:moveTo>
                <a:lnTo>
                  <a:pt x="7048500" y="0"/>
                </a:lnTo>
                <a:lnTo>
                  <a:pt x="7048500" y="9982200"/>
                </a:lnTo>
                <a:lnTo>
                  <a:pt x="0" y="9982200"/>
                </a:lnTo>
                <a:lnTo>
                  <a:pt x="0" y="0"/>
                </a:lnTo>
                <a:close/>
              </a:path>
            </a:pathLst>
          </a:custGeom>
          <a:blipFill>
            <a:blip r:embed="rId2"/>
            <a:stretch>
              <a:fillRect l="-45290" t="-1068" r="-71483" b="-1055"/>
            </a:stretch>
          </a:blipFill>
        </p:spPr>
      </p:sp>
      <p:sp>
        <p:nvSpPr>
          <p:cNvPr name="Freeform 5" id="5"/>
          <p:cNvSpPr/>
          <p:nvPr/>
        </p:nvSpPr>
        <p:spPr>
          <a:xfrm flipH="false" flipV="false" rot="0">
            <a:off x="1126607" y="2525230"/>
            <a:ext cx="5306549" cy="5524881"/>
          </a:xfrm>
          <a:custGeom>
            <a:avLst/>
            <a:gdLst/>
            <a:ahLst/>
            <a:cxnLst/>
            <a:rect r="r" b="b" t="t" l="l"/>
            <a:pathLst>
              <a:path h="5524881" w="5306549">
                <a:moveTo>
                  <a:pt x="0" y="0"/>
                </a:moveTo>
                <a:lnTo>
                  <a:pt x="5306549" y="0"/>
                </a:lnTo>
                <a:lnTo>
                  <a:pt x="5306549" y="5524881"/>
                </a:lnTo>
                <a:lnTo>
                  <a:pt x="0" y="55248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6600587" y="707812"/>
            <a:ext cx="701907" cy="689991"/>
          </a:xfrm>
          <a:custGeom>
            <a:avLst/>
            <a:gdLst/>
            <a:ahLst/>
            <a:cxnLst/>
            <a:rect r="r" b="b" t="t" l="l"/>
            <a:pathLst>
              <a:path h="689991" w="701907">
                <a:moveTo>
                  <a:pt x="0" y="0"/>
                </a:moveTo>
                <a:lnTo>
                  <a:pt x="701907" y="0"/>
                </a:lnTo>
                <a:lnTo>
                  <a:pt x="701907" y="689991"/>
                </a:lnTo>
                <a:lnTo>
                  <a:pt x="0" y="689991"/>
                </a:lnTo>
                <a:lnTo>
                  <a:pt x="0" y="0"/>
                </a:lnTo>
                <a:close/>
              </a:path>
            </a:pathLst>
          </a:custGeom>
          <a:blipFill>
            <a:blip r:embed="rId5"/>
            <a:stretch>
              <a:fillRect l="0" t="0" r="-79484" b="0"/>
            </a:stretch>
          </a:blipFill>
        </p:spPr>
      </p:sp>
      <p:sp>
        <p:nvSpPr>
          <p:cNvPr name="Freeform 7" id="7"/>
          <p:cNvSpPr/>
          <p:nvPr/>
        </p:nvSpPr>
        <p:spPr>
          <a:xfrm flipH="false" flipV="false" rot="0">
            <a:off x="254003" y="8744950"/>
            <a:ext cx="475869" cy="1584341"/>
          </a:xfrm>
          <a:custGeom>
            <a:avLst/>
            <a:gdLst/>
            <a:ahLst/>
            <a:cxnLst/>
            <a:rect r="r" b="b" t="t" l="l"/>
            <a:pathLst>
              <a:path h="1584341" w="475869">
                <a:moveTo>
                  <a:pt x="0" y="0"/>
                </a:moveTo>
                <a:lnTo>
                  <a:pt x="475869" y="0"/>
                </a:lnTo>
                <a:lnTo>
                  <a:pt x="475869" y="1584341"/>
                </a:lnTo>
                <a:lnTo>
                  <a:pt x="0" y="15843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54003" y="4168016"/>
            <a:ext cx="4859550" cy="44463"/>
          </a:xfrm>
          <a:custGeom>
            <a:avLst/>
            <a:gdLst/>
            <a:ahLst/>
            <a:cxnLst/>
            <a:rect r="r" b="b" t="t" l="l"/>
            <a:pathLst>
              <a:path h="44463" w="4859550">
                <a:moveTo>
                  <a:pt x="0" y="0"/>
                </a:moveTo>
                <a:lnTo>
                  <a:pt x="4859550" y="0"/>
                </a:lnTo>
                <a:lnTo>
                  <a:pt x="4859550" y="44463"/>
                </a:lnTo>
                <a:lnTo>
                  <a:pt x="0" y="44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78972" y="4537758"/>
            <a:ext cx="4792142" cy="734454"/>
          </a:xfrm>
          <a:custGeom>
            <a:avLst/>
            <a:gdLst/>
            <a:ahLst/>
            <a:cxnLst/>
            <a:rect r="r" b="b" t="t" l="l"/>
            <a:pathLst>
              <a:path h="734454" w="4792142">
                <a:moveTo>
                  <a:pt x="0" y="0"/>
                </a:moveTo>
                <a:lnTo>
                  <a:pt x="4792142" y="0"/>
                </a:lnTo>
                <a:lnTo>
                  <a:pt x="4792142" y="734453"/>
                </a:lnTo>
                <a:lnTo>
                  <a:pt x="0" y="7344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6923475" y="2076850"/>
            <a:ext cx="379019" cy="2323271"/>
          </a:xfrm>
          <a:custGeom>
            <a:avLst/>
            <a:gdLst/>
            <a:ahLst/>
            <a:cxnLst/>
            <a:rect r="r" b="b" t="t" l="l"/>
            <a:pathLst>
              <a:path h="2323271" w="379019">
                <a:moveTo>
                  <a:pt x="0" y="0"/>
                </a:moveTo>
                <a:lnTo>
                  <a:pt x="379019" y="0"/>
                </a:lnTo>
                <a:lnTo>
                  <a:pt x="379019" y="2323271"/>
                </a:lnTo>
                <a:lnTo>
                  <a:pt x="0" y="232327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378972" y="5574421"/>
            <a:ext cx="4792142" cy="756142"/>
          </a:xfrm>
          <a:custGeom>
            <a:avLst/>
            <a:gdLst/>
            <a:ahLst/>
            <a:cxnLst/>
            <a:rect r="r" b="b" t="t" l="l"/>
            <a:pathLst>
              <a:path h="756142" w="4792142">
                <a:moveTo>
                  <a:pt x="0" y="0"/>
                </a:moveTo>
                <a:lnTo>
                  <a:pt x="4792142" y="0"/>
                </a:lnTo>
                <a:lnTo>
                  <a:pt x="4792142" y="756142"/>
                </a:lnTo>
                <a:lnTo>
                  <a:pt x="0" y="756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413348" y="6653565"/>
            <a:ext cx="4792142" cy="734454"/>
          </a:xfrm>
          <a:custGeom>
            <a:avLst/>
            <a:gdLst/>
            <a:ahLst/>
            <a:cxnLst/>
            <a:rect r="r" b="b" t="t" l="l"/>
            <a:pathLst>
              <a:path h="734454" w="4792142">
                <a:moveTo>
                  <a:pt x="0" y="0"/>
                </a:moveTo>
                <a:lnTo>
                  <a:pt x="4792142" y="0"/>
                </a:lnTo>
                <a:lnTo>
                  <a:pt x="4792142" y="734454"/>
                </a:lnTo>
                <a:lnTo>
                  <a:pt x="0" y="73445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1863461" y="4744498"/>
            <a:ext cx="320735" cy="320983"/>
          </a:xfrm>
          <a:custGeom>
            <a:avLst/>
            <a:gdLst/>
            <a:ahLst/>
            <a:cxnLst/>
            <a:rect r="r" b="b" t="t" l="l"/>
            <a:pathLst>
              <a:path h="320983" w="320735">
                <a:moveTo>
                  <a:pt x="0" y="0"/>
                </a:moveTo>
                <a:lnTo>
                  <a:pt x="320736" y="0"/>
                </a:lnTo>
                <a:lnTo>
                  <a:pt x="320736" y="320983"/>
                </a:lnTo>
                <a:lnTo>
                  <a:pt x="0" y="320983"/>
                </a:lnTo>
                <a:lnTo>
                  <a:pt x="0" y="0"/>
                </a:lnTo>
                <a:close/>
              </a:path>
            </a:pathLst>
          </a:custGeom>
          <a:blipFill>
            <a:blip r:embed="rId18"/>
            <a:stretch>
              <a:fillRect l="0" t="0" r="0" b="0"/>
            </a:stretch>
          </a:blipFill>
        </p:spPr>
      </p:sp>
      <p:sp>
        <p:nvSpPr>
          <p:cNvPr name="Freeform 14" id="14"/>
          <p:cNvSpPr/>
          <p:nvPr/>
        </p:nvSpPr>
        <p:spPr>
          <a:xfrm flipH="false" flipV="false" rot="0">
            <a:off x="1860899" y="5838473"/>
            <a:ext cx="323298" cy="248841"/>
          </a:xfrm>
          <a:custGeom>
            <a:avLst/>
            <a:gdLst/>
            <a:ahLst/>
            <a:cxnLst/>
            <a:rect r="r" b="b" t="t" l="l"/>
            <a:pathLst>
              <a:path h="248841" w="323298">
                <a:moveTo>
                  <a:pt x="0" y="0"/>
                </a:moveTo>
                <a:lnTo>
                  <a:pt x="323298" y="0"/>
                </a:lnTo>
                <a:lnTo>
                  <a:pt x="323298" y="248840"/>
                </a:lnTo>
                <a:lnTo>
                  <a:pt x="0" y="248840"/>
                </a:lnTo>
                <a:lnTo>
                  <a:pt x="0" y="0"/>
                </a:lnTo>
                <a:close/>
              </a:path>
            </a:pathLst>
          </a:custGeom>
          <a:blipFill>
            <a:blip r:embed="rId19"/>
            <a:stretch>
              <a:fillRect l="0" t="0" r="0" b="0"/>
            </a:stretch>
          </a:blipFill>
        </p:spPr>
      </p:sp>
      <p:sp>
        <p:nvSpPr>
          <p:cNvPr name="Freeform 15" id="15"/>
          <p:cNvSpPr/>
          <p:nvPr/>
        </p:nvSpPr>
        <p:spPr>
          <a:xfrm flipH="false" flipV="false" rot="0">
            <a:off x="254003" y="6878193"/>
            <a:ext cx="475869" cy="689991"/>
          </a:xfrm>
          <a:custGeom>
            <a:avLst/>
            <a:gdLst/>
            <a:ahLst/>
            <a:cxnLst/>
            <a:rect r="r" b="b" t="t" l="l"/>
            <a:pathLst>
              <a:path h="689991" w="475869">
                <a:moveTo>
                  <a:pt x="0" y="0"/>
                </a:moveTo>
                <a:lnTo>
                  <a:pt x="475869" y="0"/>
                </a:lnTo>
                <a:lnTo>
                  <a:pt x="475869" y="689991"/>
                </a:lnTo>
                <a:lnTo>
                  <a:pt x="0" y="689991"/>
                </a:lnTo>
                <a:lnTo>
                  <a:pt x="0" y="0"/>
                </a:lnTo>
                <a:close/>
              </a:path>
            </a:pathLst>
          </a:custGeom>
          <a:blipFill>
            <a:blip r:embed="rId5"/>
            <a:stretch>
              <a:fillRect l="-164739" t="0" r="0" b="0"/>
            </a:stretch>
          </a:blipFill>
        </p:spPr>
      </p:sp>
      <p:sp>
        <p:nvSpPr>
          <p:cNvPr name="Freeform 16" id="16"/>
          <p:cNvSpPr/>
          <p:nvPr/>
        </p:nvSpPr>
        <p:spPr>
          <a:xfrm flipH="false" flipV="false" rot="0">
            <a:off x="1789509" y="6776809"/>
            <a:ext cx="462572" cy="454209"/>
          </a:xfrm>
          <a:custGeom>
            <a:avLst/>
            <a:gdLst/>
            <a:ahLst/>
            <a:cxnLst/>
            <a:rect r="r" b="b" t="t" l="l"/>
            <a:pathLst>
              <a:path h="454209" w="462572">
                <a:moveTo>
                  <a:pt x="0" y="0"/>
                </a:moveTo>
                <a:lnTo>
                  <a:pt x="462572" y="0"/>
                </a:lnTo>
                <a:lnTo>
                  <a:pt x="462572" y="454209"/>
                </a:lnTo>
                <a:lnTo>
                  <a:pt x="0" y="454209"/>
                </a:lnTo>
                <a:lnTo>
                  <a:pt x="0" y="0"/>
                </a:lnTo>
                <a:close/>
              </a:path>
            </a:pathLst>
          </a:custGeom>
          <a:blipFill>
            <a:blip r:embed="rId20"/>
            <a:stretch>
              <a:fillRect l="0" t="0" r="0" b="0"/>
            </a:stretch>
          </a:blipFill>
        </p:spPr>
      </p:sp>
      <p:grpSp>
        <p:nvGrpSpPr>
          <p:cNvPr name="Group 17" id="17"/>
          <p:cNvGrpSpPr>
            <a:grpSpLocks noChangeAspect="true"/>
          </p:cNvGrpSpPr>
          <p:nvPr/>
        </p:nvGrpSpPr>
        <p:grpSpPr>
          <a:xfrm rot="0">
            <a:off x="1125426" y="1053722"/>
            <a:ext cx="2001107" cy="1361799"/>
            <a:chOff x="0" y="0"/>
            <a:chExt cx="2668143" cy="1815732"/>
          </a:xfrm>
        </p:grpSpPr>
        <p:sp>
          <p:nvSpPr>
            <p:cNvPr name="Freeform 18" id="18"/>
            <p:cNvSpPr/>
            <p:nvPr/>
          </p:nvSpPr>
          <p:spPr>
            <a:xfrm flipH="false" flipV="false" rot="0">
              <a:off x="0" y="0"/>
              <a:ext cx="2668143" cy="1815719"/>
            </a:xfrm>
            <a:custGeom>
              <a:avLst/>
              <a:gdLst/>
              <a:ahLst/>
              <a:cxnLst/>
              <a:rect r="r" b="b" t="t" l="l"/>
              <a:pathLst>
                <a:path h="1815719" w="2668143">
                  <a:moveTo>
                    <a:pt x="302387" y="0"/>
                  </a:moveTo>
                  <a:cubicBezTo>
                    <a:pt x="135382" y="0"/>
                    <a:pt x="0" y="135509"/>
                    <a:pt x="0" y="302641"/>
                  </a:cubicBezTo>
                  <a:lnTo>
                    <a:pt x="0" y="1513078"/>
                  </a:lnTo>
                  <a:cubicBezTo>
                    <a:pt x="0" y="1680210"/>
                    <a:pt x="135382" y="1815719"/>
                    <a:pt x="302387" y="1815719"/>
                  </a:cubicBezTo>
                  <a:lnTo>
                    <a:pt x="2365756" y="1815719"/>
                  </a:lnTo>
                  <a:cubicBezTo>
                    <a:pt x="2532507" y="1815719"/>
                    <a:pt x="2667762" y="1680591"/>
                    <a:pt x="2668143" y="1513713"/>
                  </a:cubicBezTo>
                  <a:lnTo>
                    <a:pt x="2668143" y="1513713"/>
                  </a:lnTo>
                  <a:lnTo>
                    <a:pt x="2668143" y="302006"/>
                  </a:lnTo>
                  <a:lnTo>
                    <a:pt x="2668143" y="302006"/>
                  </a:lnTo>
                  <a:cubicBezTo>
                    <a:pt x="2667762" y="135128"/>
                    <a:pt x="2532507" y="0"/>
                    <a:pt x="2365756" y="0"/>
                  </a:cubicBezTo>
                  <a:close/>
                </a:path>
              </a:pathLst>
            </a:custGeom>
            <a:blipFill>
              <a:blip r:embed="rId21"/>
              <a:stretch>
                <a:fillRect l="0" t="0" r="0" b="0"/>
              </a:stretch>
            </a:blipFill>
          </p:spPr>
        </p:sp>
      </p:grpSp>
      <p:sp>
        <p:nvSpPr>
          <p:cNvPr name="TextBox 19" id="19"/>
          <p:cNvSpPr txBox="true"/>
          <p:nvPr/>
        </p:nvSpPr>
        <p:spPr>
          <a:xfrm rot="0">
            <a:off x="1476851" y="3074441"/>
            <a:ext cx="3895525" cy="1065667"/>
          </a:xfrm>
          <a:prstGeom prst="rect">
            <a:avLst/>
          </a:prstGeom>
        </p:spPr>
        <p:txBody>
          <a:bodyPr anchor="t" rtlCol="false" tIns="0" lIns="0" bIns="0" rIns="0">
            <a:spAutoFit/>
          </a:bodyPr>
          <a:lstStyle/>
          <a:p>
            <a:pPr algn="l">
              <a:lnSpc>
                <a:spcPts val="4003"/>
              </a:lnSpc>
            </a:pPr>
            <a:r>
              <a:rPr lang="en-US" b="true" sz="4003" spc="16">
                <a:solidFill>
                  <a:srgbClr val="FFFFFF"/>
                </a:solidFill>
                <a:latin typeface="Montserrat Bold"/>
                <a:ea typeface="Montserrat Bold"/>
                <a:cs typeface="Montserrat Bold"/>
                <a:sym typeface="Montserrat Bold"/>
              </a:rPr>
              <a:t>CONTACT INFORMATION</a:t>
            </a:r>
          </a:p>
        </p:txBody>
      </p:sp>
      <p:sp>
        <p:nvSpPr>
          <p:cNvPr name="TextBox 20" id="20"/>
          <p:cNvSpPr txBox="true"/>
          <p:nvPr/>
        </p:nvSpPr>
        <p:spPr>
          <a:xfrm rot="0">
            <a:off x="2636777" y="4796599"/>
            <a:ext cx="3123809" cy="208055"/>
          </a:xfrm>
          <a:prstGeom prst="rect">
            <a:avLst/>
          </a:prstGeom>
        </p:spPr>
        <p:txBody>
          <a:bodyPr anchor="t" rtlCol="false" tIns="0" lIns="0" bIns="0" rIns="0">
            <a:spAutoFit/>
          </a:bodyPr>
          <a:lstStyle/>
          <a:p>
            <a:pPr algn="l">
              <a:lnSpc>
                <a:spcPts val="1587"/>
              </a:lnSpc>
            </a:pPr>
            <a:r>
              <a:rPr lang="en-US" b="true" sz="1134" spc="4">
                <a:solidFill>
                  <a:srgbClr val="FFFFFF"/>
                </a:solidFill>
                <a:latin typeface="Montserrat Bold"/>
                <a:ea typeface="Montserrat Bold"/>
                <a:cs typeface="Montserrat Bold"/>
                <a:sym typeface="Montserrat Bold"/>
              </a:rPr>
              <a:t>+603-5518 4870 / +603-5518 4871 (FAX) </a:t>
            </a:r>
          </a:p>
        </p:txBody>
      </p:sp>
      <p:sp>
        <p:nvSpPr>
          <p:cNvPr name="TextBox 21" id="21"/>
          <p:cNvSpPr txBox="true"/>
          <p:nvPr/>
        </p:nvSpPr>
        <p:spPr>
          <a:xfrm rot="0">
            <a:off x="2636777" y="6806832"/>
            <a:ext cx="3310442" cy="376466"/>
          </a:xfrm>
          <a:prstGeom prst="rect">
            <a:avLst/>
          </a:prstGeom>
        </p:spPr>
        <p:txBody>
          <a:bodyPr anchor="t" rtlCol="false" tIns="0" lIns="0" bIns="0" rIns="0">
            <a:spAutoFit/>
          </a:bodyPr>
          <a:lstStyle/>
          <a:p>
            <a:pPr algn="l">
              <a:lnSpc>
                <a:spcPts val="1400"/>
              </a:lnSpc>
            </a:pPr>
            <a:r>
              <a:rPr lang="en-US" b="true" sz="1134" spc="4">
                <a:solidFill>
                  <a:srgbClr val="FFFFFF"/>
                </a:solidFill>
                <a:latin typeface="Montserrat Bold"/>
                <a:ea typeface="Montserrat Bold"/>
                <a:cs typeface="Montserrat Bold"/>
                <a:sym typeface="Montserrat Bold"/>
              </a:rPr>
              <a:t>NO. 42A, JALAN BADMINTON 13/29 SECTION 13, 40100 SHAH ALAM, SELANGOR</a:t>
            </a:r>
          </a:p>
        </p:txBody>
      </p:sp>
      <p:sp>
        <p:nvSpPr>
          <p:cNvPr name="TextBox 22" id="22"/>
          <p:cNvSpPr txBox="true"/>
          <p:nvPr/>
        </p:nvSpPr>
        <p:spPr>
          <a:xfrm rot="0">
            <a:off x="2655494" y="5815289"/>
            <a:ext cx="1653959" cy="234448"/>
          </a:xfrm>
          <a:prstGeom prst="rect">
            <a:avLst/>
          </a:prstGeom>
        </p:spPr>
        <p:txBody>
          <a:bodyPr anchor="t" rtlCol="false" tIns="0" lIns="0" bIns="0" rIns="0">
            <a:spAutoFit/>
          </a:bodyPr>
          <a:lstStyle/>
          <a:p>
            <a:pPr algn="l">
              <a:lnSpc>
                <a:spcPts val="1821"/>
              </a:lnSpc>
            </a:pPr>
            <a:r>
              <a:rPr lang="en-US" b="true" sz="1301" spc="5">
                <a:solidFill>
                  <a:srgbClr val="FFFFFF"/>
                </a:solidFill>
                <a:latin typeface="Montserrat Bold"/>
                <a:ea typeface="Montserrat Bold"/>
                <a:cs typeface="Montserrat Bold"/>
                <a:sym typeface="Montserrat Bold"/>
              </a:rPr>
              <a:t>utgsb@utg.com.my</a:t>
            </a:r>
          </a:p>
        </p:txBody>
      </p:sp>
      <p:sp>
        <p:nvSpPr>
          <p:cNvPr name="TextBox 23" id="23"/>
          <p:cNvSpPr txBox="true"/>
          <p:nvPr/>
        </p:nvSpPr>
        <p:spPr>
          <a:xfrm rot="0">
            <a:off x="5696807" y="1452382"/>
            <a:ext cx="944289" cy="964187"/>
          </a:xfrm>
          <a:prstGeom prst="rect">
            <a:avLst/>
          </a:prstGeom>
        </p:spPr>
        <p:txBody>
          <a:bodyPr anchor="t" rtlCol="false" tIns="0" lIns="0" bIns="0" rIns="0">
            <a:spAutoFit/>
          </a:bodyPr>
          <a:lstStyle/>
          <a:p>
            <a:pPr algn="l">
              <a:lnSpc>
                <a:spcPts val="7519"/>
              </a:lnSpc>
            </a:pPr>
            <a:r>
              <a:rPr lang="en-US" b="true" sz="5370" spc="21">
                <a:solidFill>
                  <a:srgbClr val="FFFFFF"/>
                </a:solidFill>
                <a:latin typeface="Montserrat Bold"/>
                <a:ea typeface="Montserrat Bold"/>
                <a:cs typeface="Montserrat Bold"/>
                <a:sym typeface="Montserrat Bold"/>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DAGkfm5EpQE</dc:identifier>
  <dcterms:modified xsi:type="dcterms:W3CDTF">2011-08-01T06:04:30Z</dcterms:modified>
  <cp:revision>1</cp:revision>
  <dc:title>UTG COMPANY PROFILE 2023.pdf</dc:title>
</cp:coreProperties>
</file>